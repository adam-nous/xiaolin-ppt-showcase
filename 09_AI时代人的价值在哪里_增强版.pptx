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1610975" cy="6534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c30bcb6898dcc9d.pn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696042a54eee959.jp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04906f72db99047.jpg"/>
  <Relationship Id="rId3" Type="http://schemas.openxmlformats.org/officeDocument/2006/relationships/image" Target="../media/image_a7aa8d97eeb71ff9.pn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e309befcb491e6c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6db11ef9a67b93e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bbb3ad1f8fea24e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95a5cd4c5013633.jpg"/>
  <Relationship Id="rId3" Type="http://schemas.openxmlformats.org/officeDocument/2006/relationships/image" Target="../media/image_693b42ed715c4f39.pn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cdec0ac19cc7348.jpg"/>
  <Relationship Id="rId3" Type="http://schemas.openxmlformats.org/officeDocument/2006/relationships/image" Target="../media/image_548029aebded91aa.jp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612880" cy="6532245"/>
          </a:xfrm>
          <a:prstGeom prst="rect">
            <a:avLst/>
          </a:prstGeom>
          <a:gradFill>
            <a:gsLst>
              <a:gs pos="0">
                <a:srgbClr val="1A1A2E"/>
              </a:gs>
              <a:gs pos="100000">
                <a:srgbClr val="16213E"/>
              </a:gs>
            </a:gsLst>
            <a:lin ang="2700000" scaled="1"/>
          </a:gra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0" y="0"/>
            <a:ext cx="11612880" cy="6532245"/>
            <a:chOff x="0" y="0"/>
            <a:chExt cx="11612880" cy="6532245"/>
          </a:xfrm>
        </p:grpSpPr>
        <p:sp>
          <p:nvSpPr>
            <p:cNvPr id="3" name="Line 3"/>
            <p:cNvSpPr/>
            <p:nvPr/>
          </p:nvSpPr>
          <p:spPr>
            <a:xfrm>
              <a:off x="9525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9050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8575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8100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7625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6675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6200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5725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5250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4775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0" y="952500"/>
              <a:ext cx="11612880" cy="9525"/>
            </a:xfrm>
            <a:custGeom>
              <a:avLst/>
              <a:gdLst/>
              <a:ahLst/>
              <a:cxnLst/>
              <a:rect l="l" t="t" r="r" b="b"/>
              <a:pathLst>
                <a:path w="11612880" h="9525">
                  <a:moveTo>
                    <a:pt x="0" y="0"/>
                  </a:moveTo>
                  <a:lnTo>
                    <a:pt x="11612880" y="0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1905000"/>
              <a:ext cx="11612880" cy="9525"/>
            </a:xfrm>
            <a:custGeom>
              <a:avLst/>
              <a:gdLst/>
              <a:ahLst/>
              <a:cxnLst/>
              <a:rect l="l" t="t" r="r" b="b"/>
              <a:pathLst>
                <a:path w="11612880" h="9525">
                  <a:moveTo>
                    <a:pt x="0" y="0"/>
                  </a:moveTo>
                  <a:lnTo>
                    <a:pt x="11612880" y="0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2857500"/>
              <a:ext cx="11612880" cy="9525"/>
            </a:xfrm>
            <a:custGeom>
              <a:avLst/>
              <a:gdLst/>
              <a:ahLst/>
              <a:cxnLst/>
              <a:rect l="l" t="t" r="r" b="b"/>
              <a:pathLst>
                <a:path w="11612880" h="9525">
                  <a:moveTo>
                    <a:pt x="0" y="0"/>
                  </a:moveTo>
                  <a:lnTo>
                    <a:pt x="11612880" y="0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3810000"/>
              <a:ext cx="11612880" cy="9525"/>
            </a:xfrm>
            <a:custGeom>
              <a:avLst/>
              <a:gdLst/>
              <a:ahLst/>
              <a:cxnLst/>
              <a:rect l="l" t="t" r="r" b="b"/>
              <a:pathLst>
                <a:path w="11612880" h="9525">
                  <a:moveTo>
                    <a:pt x="0" y="0"/>
                  </a:moveTo>
                  <a:lnTo>
                    <a:pt x="11612880" y="0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4762500"/>
              <a:ext cx="11612880" cy="9525"/>
            </a:xfrm>
            <a:custGeom>
              <a:avLst/>
              <a:gdLst/>
              <a:ahLst/>
              <a:cxnLst/>
              <a:rect l="l" t="t" r="r" b="b"/>
              <a:pathLst>
                <a:path w="11612880" h="9525">
                  <a:moveTo>
                    <a:pt x="0" y="0"/>
                  </a:moveTo>
                  <a:lnTo>
                    <a:pt x="11612880" y="0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5715000"/>
              <a:ext cx="11612880" cy="9525"/>
            </a:xfrm>
            <a:custGeom>
              <a:avLst/>
              <a:gdLst/>
              <a:ahLst/>
              <a:cxnLst/>
              <a:rect l="l" t="t" r="r" b="b"/>
              <a:pathLst>
                <a:path w="11612880" h="9525">
                  <a:moveTo>
                    <a:pt x="0" y="0"/>
                  </a:moveTo>
                  <a:lnTo>
                    <a:pt x="11612880" y="0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952500" y="599122"/>
            <a:ext cx="5715000" cy="5334000"/>
            <a:chOff x="952500" y="599122"/>
            <a:chExt cx="5715000" cy="5334000"/>
          </a:xfrm>
        </p:grpSpPr>
        <p:sp>
          <p:nvSpPr>
            <p:cNvPr id="21" name="Ellipse 21"/>
            <p:cNvSpPr/>
            <p:nvPr/>
          </p:nvSpPr>
          <p:spPr>
            <a:xfrm>
              <a:off x="1428750" y="884872"/>
              <a:ext cx="4762500" cy="4762500"/>
            </a:xfrm>
            <a:prstGeom prst="ellipse">
              <a:avLst/>
            </a:prstGeom>
            <a:noFill/>
            <a:ln>
              <a:noFill/>
            </a:ln>
            <a:effectLst>
              <a:glow rad="238125">
                <a:srgbClr val="000000">
                  <a:alpha val="30000"/>
                </a:srgbClr>
              </a:glow>
            </a:effectLst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2500" y="1654969"/>
              <a:ext cx="5715000" cy="3214688"/>
            </a:xfrm>
            <a:prstGeom prst="rect">
              <a:avLst/>
            </a:prstGeom>
          </p:spPr>
        </p:pic>
        <p:sp>
          <p:nvSpPr>
            <p:cNvPr id="23" name="Ellipse 23"/>
            <p:cNvSpPr/>
            <p:nvPr/>
          </p:nvSpPr>
          <p:spPr>
            <a:xfrm>
              <a:off x="1714500" y="1170622"/>
              <a:ext cx="4191000" cy="4191000"/>
            </a:xfrm>
            <a:prstGeom prst="ellipse">
              <a:avLst/>
            </a:prstGeom>
            <a:noFill/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143000" y="599122"/>
              <a:ext cx="5334000" cy="5334000"/>
            </a:xfrm>
            <a:prstGeom prst="ellipse">
              <a:avLst/>
            </a:prstGeom>
            <a:noFill/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8050530" y="1516380"/>
            <a:ext cx="2635091" cy="3536632"/>
            <a:chOff x="8050530" y="1516380"/>
            <a:chExt cx="2635091" cy="3536632"/>
          </a:xfrm>
        </p:grpSpPr>
        <p:sp>
          <p:nvSpPr>
            <p:cNvPr id="26" name="TextBox 26"/>
            <p:cNvSpPr txBox="1"/>
            <p:nvPr/>
          </p:nvSpPr>
          <p:spPr>
            <a:xfrm>
              <a:off x="8050530" y="1516380"/>
              <a:ext cx="203208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AI时代，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50530" y="2183130"/>
              <a:ext cx="210769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59E0B"/>
                  </a:solidFill>
                  <a:latin typeface="Times New Roman"/>
                  <a:ea typeface="SimSun"/>
                  <a:cs typeface="Times New Roman"/>
                </a:rPr>
                <a:t>人的价值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50530" y="2849880"/>
              <a:ext cx="210769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在哪里？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096250" y="3476625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59E0B"/>
                </a:gs>
                <a:gs pos="100000">
                  <a:srgbClr val="D9770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77200" y="38385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1D5DB"/>
                  </a:solidFill>
                  <a:latin typeface="Segoe UI"/>
                  <a:ea typeface="Microsoft YaHei"/>
                  <a:cs typeface="Segoe UI"/>
                </a:rPr>
                <a:t>在变革的时代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77200" y="4124325"/>
              <a:ext cx="26084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1D5DB"/>
                  </a:solidFill>
                  <a:latin typeface="Segoe UI"/>
                  <a:ea typeface="Microsoft YaHei"/>
                  <a:cs typeface="Segoe UI"/>
                </a:rPr>
                <a:t>如何与AI共舞并重塑人的价值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82915" y="4839652"/>
              <a:ext cx="1657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演讲者：[你的名字/职位]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191250"/>
            <a:ext cx="11612880" cy="340995"/>
            <a:chOff x="0" y="6191250"/>
            <a:chExt cx="11612880" cy="340995"/>
          </a:xfrm>
        </p:grpSpPr>
        <p:sp>
          <p:nvSpPr>
            <p:cNvPr id="34" name="Rectangle 34"/>
            <p:cNvSpPr/>
            <p:nvPr/>
          </p:nvSpPr>
          <p:spPr>
            <a:xfrm>
              <a:off x="0" y="6191250"/>
              <a:ext cx="11612880" cy="34099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30902" y="6332220"/>
              <a:ext cx="17510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AI ERA · HUMAN VALUE · FUTURE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7786" r="0" b="7786"/>
          <a:stretch>
            <a:fillRect/>
          </a:stretch>
        </p:blipFill>
        <p:spPr>
          <a:xfrm>
            <a:off x="0" y="0"/>
            <a:ext cx="11612880" cy="6532245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5238750" y="0"/>
            <a:ext cx="6374130" cy="6532245"/>
          </a:xfrm>
          <a:prstGeom prst="rect">
            <a:avLst/>
          </a:prstGeom>
          <a:solidFill>
            <a:srgbClr val="1A1A2E">
              <a:alpha val="9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286250" y="0"/>
            <a:ext cx="1905000" cy="6532245"/>
          </a:xfrm>
          <a:prstGeom prst="rect">
            <a:avLst/>
          </a:prstGeom>
          <a:gradFill>
            <a:gsLst>
              <a:gs pos="0">
                <a:srgbClr val="1A1A2E">
                  <a:alpha val="59500"/>
                </a:srgbClr>
              </a:gs>
              <a:gs pos="100000">
                <a:srgbClr val="16213E">
                  <a:alpha val="595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76250" y="884872"/>
            <a:ext cx="4762500" cy="4762500"/>
          </a:xfrm>
          <a:prstGeom prst="ellipse">
            <a:avLst/>
          </a:prstGeom>
          <a:noFill/>
          <a:ln>
            <a:noFill/>
          </a:ln>
          <a:effectLst>
            <a:glow rad="238125">
              <a:srgbClr val="000000">
                <a:alpha val="30000"/>
              </a:srgbClr>
            </a:glow>
          </a:effectLst>
        </p:spPr>
      </p:sp>
      <p:grpSp>
        <p:nvGrpSpPr>
          <p:cNvPr id="10" name="Group 10"/>
          <p:cNvGrpSpPr/>
          <p:nvPr/>
        </p:nvGrpSpPr>
        <p:grpSpPr>
          <a:xfrm>
            <a:off x="666750" y="1047750"/>
            <a:ext cx="4333875" cy="4476750"/>
            <a:chOff x="666750" y="1047750"/>
            <a:chExt cx="4333875" cy="4476750"/>
          </a:xfrm>
        </p:grpSpPr>
        <p:sp>
          <p:nvSpPr>
            <p:cNvPr id="6" name="Ellipse 6"/>
            <p:cNvSpPr/>
            <p:nvPr/>
          </p:nvSpPr>
          <p:spPr>
            <a:xfrm>
              <a:off x="1047750" y="1047750"/>
              <a:ext cx="762000" cy="762000"/>
            </a:xfrm>
            <a:prstGeom prst="ellipse">
              <a:avLst/>
            </a:prstGeom>
            <a:noFill/>
            <a:ln w="4762">
              <a:solidFill>
                <a:srgbClr val="F59E0B">
                  <a:alpha val="40000"/>
                </a:srgbClr>
              </a:solidFill>
              <a:prstDash val="dash"/>
            </a:ln>
          </p:spPr>
        </p:sp>
        <p:sp>
          <p:nvSpPr>
            <p:cNvPr id="7" name="Ellipse 7"/>
            <p:cNvSpPr/>
            <p:nvPr/>
          </p:nvSpPr>
          <p:spPr>
            <a:xfrm>
              <a:off x="3714750" y="4191000"/>
              <a:ext cx="1143000" cy="1143000"/>
            </a:xfrm>
            <a:prstGeom prst="ellipse">
              <a:avLst/>
            </a:prstGeom>
            <a:noFill/>
            <a:ln w="4762">
              <a:solidFill>
                <a:srgbClr val="F59E0B">
                  <a:alpha val="40000"/>
                </a:srgbClr>
              </a:solidFill>
              <a:custDash>
                <a:ds d="1200000" sp="1200000"/>
              </a:custDash>
            </a:ln>
          </p:spPr>
        </p:sp>
        <p:sp>
          <p:nvSpPr>
            <p:cNvPr id="8" name="Ellipse 8"/>
            <p:cNvSpPr/>
            <p:nvPr/>
          </p:nvSpPr>
          <p:spPr>
            <a:xfrm>
              <a:off x="666750" y="4953000"/>
              <a:ext cx="571500" cy="571500"/>
            </a:xfrm>
            <a:prstGeom prst="ellipse">
              <a:avLst/>
            </a:prstGeom>
            <a:noFill/>
            <a:ln w="2858">
              <a:solidFill>
                <a:srgbClr val="F59E0B">
                  <a:alpha val="40000"/>
                </a:srgbClr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4524375" y="1666875"/>
              <a:ext cx="476250" cy="476250"/>
            </a:xfrm>
            <a:prstGeom prst="ellipse">
              <a:avLst/>
            </a:prstGeom>
            <a:noFill/>
            <a:ln w="2858">
              <a:solidFill>
                <a:srgbClr val="F59E0B">
                  <a:alpha val="40000"/>
                </a:srgbClr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952500" y="952500"/>
            <a:ext cx="3810000" cy="4762500"/>
            <a:chOff x="952500" y="952500"/>
            <a:chExt cx="3810000" cy="4762500"/>
          </a:xfrm>
        </p:grpSpPr>
        <p:sp>
          <p:nvSpPr>
            <p:cNvPr id="11" name="Line 11"/>
            <p:cNvSpPr/>
            <p:nvPr/>
          </p:nvSpPr>
          <p:spPr>
            <a:xfrm>
              <a:off x="952500" y="952500"/>
              <a:ext cx="1905000" cy="952500"/>
            </a:xfrm>
            <a:custGeom>
              <a:avLst/>
              <a:gdLst/>
              <a:ahLst/>
              <a:cxnLst/>
              <a:rect l="l" t="t" r="r" b="b"/>
              <a:pathLst>
                <a:path w="1905000" h="952500">
                  <a:moveTo>
                    <a:pt x="0" y="0"/>
                  </a:moveTo>
                  <a:lnTo>
                    <a:pt x="1905000" y="952500"/>
                  </a:lnTo>
                </a:path>
              </a:pathLst>
            </a:custGeom>
            <a:noFill/>
            <a:ln w="4762">
              <a:solidFill>
                <a:srgbClr val="F59E0B">
                  <a:alpha val="30000"/>
                </a:srgbClr>
              </a:solidFill>
              <a:custDash>
                <a:ds d="1600000" sp="160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1905000" y="3333750"/>
              <a:ext cx="2381250" cy="476250"/>
            </a:xfrm>
            <a:custGeom>
              <a:avLst/>
              <a:gdLst/>
              <a:ahLst/>
              <a:cxnLst/>
              <a:rect l="l" t="t" r="r" b="b"/>
              <a:pathLst>
                <a:path w="2381250" h="476250">
                  <a:moveTo>
                    <a:pt x="0" y="476250"/>
                  </a:moveTo>
                  <a:lnTo>
                    <a:pt x="2381250" y="0"/>
                  </a:lnTo>
                </a:path>
              </a:pathLst>
            </a:custGeom>
            <a:noFill/>
            <a:ln w="4762">
              <a:solidFill>
                <a:srgbClr val="F59E0B">
                  <a:alpha val="30000"/>
                </a:srgbClr>
              </a:solidFill>
              <a:custDash>
                <a:ds d="1600000" sp="1600000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3333750" y="4762500"/>
              <a:ext cx="1428750" cy="952500"/>
            </a:xfrm>
            <a:custGeom>
              <a:avLst/>
              <a:gdLst/>
              <a:ahLst/>
              <a:cxnLst/>
              <a:rect l="l" t="t" r="r" b="b"/>
              <a:pathLst>
                <a:path w="1428750" h="952500">
                  <a:moveTo>
                    <a:pt x="0" y="952500"/>
                  </a:moveTo>
                  <a:lnTo>
                    <a:pt x="1428750" y="0"/>
                  </a:lnTo>
                </a:path>
              </a:pathLst>
            </a:custGeom>
            <a:noFill/>
            <a:ln w="4762">
              <a:solidFill>
                <a:srgbClr val="F59E0B">
                  <a:alpha val="30000"/>
                </a:srgbClr>
              </a:solidFill>
              <a:custDash>
                <a:ds d="1600000" sp="1600000"/>
              </a:custDash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62000" y="1428750"/>
            <a:ext cx="3429000" cy="3810000"/>
            <a:chOff x="762000" y="1428750"/>
            <a:chExt cx="3429000" cy="3810000"/>
          </a:xfrm>
        </p:grpSpPr>
        <p:sp>
          <p:nvSpPr>
            <p:cNvPr id="15" name="Rectangle 15"/>
            <p:cNvSpPr/>
            <p:nvPr/>
          </p:nvSpPr>
          <p:spPr>
            <a:xfrm rot="900000">
              <a:off x="762000" y="2857500"/>
              <a:ext cx="571500" cy="571500"/>
            </a:xfrm>
            <a:prstGeom prst="roundRect">
              <a:avLst>
                <a:gd name="adj" fmla="val 13333"/>
              </a:avLst>
            </a:prstGeom>
            <a:noFill/>
            <a:ln w="4762">
              <a:solidFill>
                <a:srgbClr val="F59E0B">
                  <a:alpha val="20000"/>
                </a:srgbClr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 rot="-600000">
              <a:off x="3810000" y="1428750"/>
              <a:ext cx="381000" cy="381000"/>
            </a:xfrm>
            <a:prstGeom prst="roundRect">
              <a:avLst>
                <a:gd name="adj" fmla="val 15000"/>
              </a:avLst>
            </a:prstGeom>
            <a:noFill/>
            <a:ln w="4762">
              <a:solidFill>
                <a:srgbClr val="F59E0B">
                  <a:alpha val="20000"/>
                </a:srgbClr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 rot="1200000">
              <a:off x="2381250" y="4762500"/>
              <a:ext cx="476250" cy="476250"/>
            </a:xfrm>
            <a:prstGeom prst="roundRect">
              <a:avLst>
                <a:gd name="adj" fmla="val 14000"/>
              </a:avLst>
            </a:prstGeom>
            <a:noFill/>
            <a:ln w="4762">
              <a:solidFill>
                <a:srgbClr val="F59E0B">
                  <a:alpha val="20000"/>
                </a:srgbClr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71500" y="1714500"/>
            <a:ext cx="4000500" cy="1905000"/>
            <a:chOff x="571500" y="1714500"/>
            <a:chExt cx="4000500" cy="1905000"/>
          </a:xfrm>
        </p:grpSpPr>
        <p:sp>
          <p:nvSpPr>
            <p:cNvPr id="19" name="Rectangle 19"/>
            <p:cNvSpPr/>
            <p:nvPr/>
          </p:nvSpPr>
          <p:spPr>
            <a:xfrm>
              <a:off x="571500" y="1714500"/>
              <a:ext cx="4000500" cy="1905000"/>
            </a:xfrm>
            <a:prstGeom prst="roundRect">
              <a:avLst>
                <a:gd name="adj" fmla="val 6000"/>
              </a:avLst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2950" y="2028825"/>
              <a:ext cx="20438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9E0B"/>
                  </a:solidFill>
                  <a:latin typeface="Times New Roman"/>
                  <a:ea typeface="SimSun"/>
                  <a:cs typeface="Times New Roman"/>
                </a:rPr>
                <a:t>"爸爸，你别生气了，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2950" y="2409825"/>
              <a:ext cx="14767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9E0B"/>
                  </a:solidFill>
                  <a:latin typeface="Times New Roman"/>
                  <a:ea typeface="SimSun"/>
                  <a:cs typeface="Times New Roman"/>
                </a:rPr>
                <a:t>我让AI帮我做，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9140" y="2758440"/>
              <a:ext cx="22005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三秒钟就能全对。"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8665" y="3220402"/>
              <a:ext cx="16228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—— 一个孩子对父亲说的话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524500" y="839152"/>
            <a:ext cx="3810000" cy="5085398"/>
            <a:chOff x="5524500" y="839152"/>
            <a:chExt cx="3810000" cy="5085398"/>
          </a:xfrm>
        </p:grpSpPr>
        <p:sp>
          <p:nvSpPr>
            <p:cNvPr id="25" name="TextBox 25"/>
            <p:cNvSpPr txBox="1"/>
            <p:nvPr/>
          </p:nvSpPr>
          <p:spPr>
            <a:xfrm>
              <a:off x="5701665" y="8391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开场故事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74995" y="1374458"/>
              <a:ext cx="316739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一个父亲的困惑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0" y="2000250"/>
              <a:ext cx="952500" cy="285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97855" y="24260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1D5DB"/>
                  </a:solidFill>
                  <a:latin typeface="Segoe UI"/>
                  <a:ea typeface="Microsoft YaHei"/>
                  <a:cs typeface="Segoe UI"/>
                </a:rPr>
                <a:t>一位父亲辅导孩子做数学题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97855" y="2759392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1D5DB"/>
                  </a:solidFill>
                  <a:latin typeface="Segoe UI"/>
                  <a:ea typeface="Microsoft YaHei"/>
                  <a:cs typeface="Segoe UI"/>
                </a:rPr>
                <a:t>气得拍桌子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97855" y="30927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1D5DB"/>
                  </a:solidFill>
                  <a:latin typeface="Segoe UI"/>
                  <a:ea typeface="Microsoft YaHei"/>
                  <a:cs typeface="Segoe UI"/>
                </a:rPr>
                <a:t>孩子委屈地说出了这句话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524500" y="3810000"/>
              <a:ext cx="3810000" cy="1143000"/>
            </a:xfrm>
            <a:prstGeom prst="roundRect">
              <a:avLst>
                <a:gd name="adj" fmla="val 8333"/>
              </a:avLst>
            </a:prstGeom>
            <a:noFill/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99760" y="40614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9E0B"/>
                  </a:solidFill>
                  <a:latin typeface="Segoe UI"/>
                  <a:ea typeface="Microsoft YaHei"/>
                  <a:cs typeface="Segoe UI"/>
                </a:rPr>
                <a:t>那一刻，我突然意识到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97855" y="4378642"/>
              <a:ext cx="32476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AI带来的冲击，远不止是工厂里的机械臂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97855" y="4712018"/>
              <a:ext cx="3310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而是正在重新定义"能力"与"智慧"的边界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699760" y="53949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这跟我到底有什么关系？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99760" y="56807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它会取代我的工作吗？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0" y="6191250"/>
            <a:ext cx="11612880" cy="340995"/>
            <a:chOff x="0" y="6191250"/>
            <a:chExt cx="11612880" cy="340995"/>
          </a:xfrm>
        </p:grpSpPr>
        <p:sp>
          <p:nvSpPr>
            <p:cNvPr id="38" name="Rectangle 38"/>
            <p:cNvSpPr/>
            <p:nvPr/>
          </p:nvSpPr>
          <p:spPr>
            <a:xfrm>
              <a:off x="0" y="6191250"/>
              <a:ext cx="11612880" cy="34099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930902" y="6332220"/>
              <a:ext cx="17510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AI ERA · HUMAN VALUE · FUTURE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8" grpId="0"/>
      <p:bldP spid="24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111" t="0" r="111" b="0"/>
          <a:stretch>
            <a:fillRect/>
          </a:stretch>
        </p:blipFill>
        <p:spPr>
          <a:xfrm>
            <a:off x="0" y="0"/>
            <a:ext cx="11612880" cy="6532245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1612880" cy="6532245"/>
          </a:xfrm>
          <a:prstGeom prst="rect">
            <a:avLst/>
          </a:prstGeom>
          <a:gradFill>
            <a:gsLst>
              <a:gs pos="0">
                <a:srgbClr val="1A1A2E">
                  <a:alpha val="90000"/>
                </a:srgbClr>
              </a:gs>
              <a:gs pos="100000">
                <a:srgbClr val="16213E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472690" y="-67628"/>
            <a:ext cx="6667500" cy="6667500"/>
          </a:xfrm>
          <a:prstGeom prst="ellipse">
            <a:avLst/>
          </a:prstGeom>
          <a:noFill/>
          <a:ln>
            <a:noFill/>
          </a:ln>
          <a:effectLst>
            <a:glow rad="238125">
              <a:srgbClr val="000000">
                <a:alpha val="30000"/>
              </a:srgbClr>
            </a:glow>
          </a:effectLst>
        </p:spPr>
      </p:sp>
      <p:grpSp>
        <p:nvGrpSpPr>
          <p:cNvPr id="12" name="Group 12"/>
          <p:cNvGrpSpPr/>
          <p:nvPr/>
        </p:nvGrpSpPr>
        <p:grpSpPr>
          <a:xfrm>
            <a:off x="0" y="0"/>
            <a:ext cx="11612880" cy="6532245"/>
            <a:chOff x="0" y="0"/>
            <a:chExt cx="11612880" cy="6532245"/>
          </a:xfrm>
        </p:grpSpPr>
        <p:sp>
          <p:nvSpPr>
            <p:cNvPr id="5" name="Line 5"/>
            <p:cNvSpPr/>
            <p:nvPr/>
          </p:nvSpPr>
          <p:spPr>
            <a:xfrm>
              <a:off x="9525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3B82F6">
                  <a:alpha val="15000"/>
                </a:srgbClr>
              </a:solidFill>
              <a:custDash>
                <a:ds d="800000" sp="1600000"/>
              </a:custDash>
            </a:ln>
          </p:spPr>
        </p:sp>
        <p:sp>
          <p:nvSpPr>
            <p:cNvPr id="6" name="Line 6"/>
            <p:cNvSpPr/>
            <p:nvPr/>
          </p:nvSpPr>
          <p:spPr>
            <a:xfrm>
              <a:off x="238125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3B82F6">
                  <a:alpha val="15000"/>
                </a:srgbClr>
              </a:solidFill>
              <a:custDash>
                <a:ds d="800000" sp="1600000"/>
              </a:custDash>
            </a:ln>
          </p:spPr>
        </p:sp>
        <p:sp>
          <p:nvSpPr>
            <p:cNvPr id="7" name="Line 7"/>
            <p:cNvSpPr/>
            <p:nvPr/>
          </p:nvSpPr>
          <p:spPr>
            <a:xfrm>
              <a:off x="38100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3B82F6">
                  <a:alpha val="15000"/>
                </a:srgbClr>
              </a:solidFill>
              <a:custDash>
                <a:ds d="800000" sp="1600000"/>
              </a:custDash>
            </a:ln>
          </p:spPr>
        </p:sp>
        <p:sp>
          <p:nvSpPr>
            <p:cNvPr id="8" name="Line 8"/>
            <p:cNvSpPr/>
            <p:nvPr/>
          </p:nvSpPr>
          <p:spPr>
            <a:xfrm>
              <a:off x="0" y="1428750"/>
              <a:ext cx="11612880" cy="9525"/>
            </a:xfrm>
            <a:custGeom>
              <a:avLst/>
              <a:gdLst/>
              <a:ahLst/>
              <a:cxnLst/>
              <a:rect l="l" t="t" r="r" b="b"/>
              <a:pathLst>
                <a:path w="11612880" h="9525">
                  <a:moveTo>
                    <a:pt x="0" y="0"/>
                  </a:moveTo>
                  <a:lnTo>
                    <a:pt x="11612880" y="0"/>
                  </a:lnTo>
                </a:path>
              </a:pathLst>
            </a:custGeom>
            <a:noFill/>
            <a:ln w="2858">
              <a:solidFill>
                <a:srgbClr val="3B82F6">
                  <a:alpha val="15000"/>
                </a:srgbClr>
              </a:solidFill>
              <a:custDash>
                <a:ds d="666666" sp="2000000"/>
              </a:custDash>
            </a:ln>
          </p:spPr>
        </p:sp>
        <p:sp>
          <p:nvSpPr>
            <p:cNvPr id="9" name="Line 9"/>
            <p:cNvSpPr/>
            <p:nvPr/>
          </p:nvSpPr>
          <p:spPr>
            <a:xfrm>
              <a:off x="0" y="2857500"/>
              <a:ext cx="11612880" cy="9525"/>
            </a:xfrm>
            <a:custGeom>
              <a:avLst/>
              <a:gdLst/>
              <a:ahLst/>
              <a:cxnLst/>
              <a:rect l="l" t="t" r="r" b="b"/>
              <a:pathLst>
                <a:path w="11612880" h="9525">
                  <a:moveTo>
                    <a:pt x="0" y="0"/>
                  </a:moveTo>
                  <a:lnTo>
                    <a:pt x="11612880" y="0"/>
                  </a:lnTo>
                </a:path>
              </a:pathLst>
            </a:custGeom>
            <a:noFill/>
            <a:ln w="2858">
              <a:solidFill>
                <a:srgbClr val="3B82F6">
                  <a:alpha val="15000"/>
                </a:srgbClr>
              </a:solidFill>
              <a:custDash>
                <a:ds d="666666" sp="2000000"/>
              </a:custDash>
            </a:ln>
          </p:spPr>
        </p:sp>
        <p:sp>
          <p:nvSpPr>
            <p:cNvPr id="10" name="Line 10"/>
            <p:cNvSpPr/>
            <p:nvPr/>
          </p:nvSpPr>
          <p:spPr>
            <a:xfrm>
              <a:off x="0" y="4286250"/>
              <a:ext cx="11612880" cy="9525"/>
            </a:xfrm>
            <a:custGeom>
              <a:avLst/>
              <a:gdLst/>
              <a:ahLst/>
              <a:cxnLst/>
              <a:rect l="l" t="t" r="r" b="b"/>
              <a:pathLst>
                <a:path w="11612880" h="9525">
                  <a:moveTo>
                    <a:pt x="0" y="0"/>
                  </a:moveTo>
                  <a:lnTo>
                    <a:pt x="11612880" y="0"/>
                  </a:lnTo>
                </a:path>
              </a:pathLst>
            </a:custGeom>
            <a:noFill/>
            <a:ln w="2858">
              <a:solidFill>
                <a:srgbClr val="3B82F6">
                  <a:alpha val="15000"/>
                </a:srgbClr>
              </a:solidFill>
              <a:custDash>
                <a:ds d="666666" sp="2000000"/>
              </a:custDash>
            </a:ln>
          </p:spPr>
        </p:sp>
        <p:sp>
          <p:nvSpPr>
            <p:cNvPr id="11" name="Line 11"/>
            <p:cNvSpPr/>
            <p:nvPr/>
          </p:nvSpPr>
          <p:spPr>
            <a:xfrm>
              <a:off x="0" y="5715000"/>
              <a:ext cx="11612880" cy="9525"/>
            </a:xfrm>
            <a:custGeom>
              <a:avLst/>
              <a:gdLst/>
              <a:ahLst/>
              <a:cxnLst/>
              <a:rect l="l" t="t" r="r" b="b"/>
              <a:pathLst>
                <a:path w="11612880" h="9525">
                  <a:moveTo>
                    <a:pt x="0" y="0"/>
                  </a:moveTo>
                  <a:lnTo>
                    <a:pt x="11612880" y="0"/>
                  </a:lnTo>
                </a:path>
              </a:pathLst>
            </a:custGeom>
            <a:noFill/>
            <a:ln w="2858">
              <a:solidFill>
                <a:srgbClr val="3B82F6">
                  <a:alpha val="15000"/>
                </a:srgbClr>
              </a:solidFill>
              <a:custDash>
                <a:ds d="666666" sp="2000000"/>
              </a:custDash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66725" y="395288"/>
            <a:ext cx="9495472" cy="5772150"/>
            <a:chOff x="466725" y="395288"/>
            <a:chExt cx="9495472" cy="5772150"/>
          </a:xfrm>
        </p:grpSpPr>
        <p:sp>
          <p:nvSpPr>
            <p:cNvPr id="13" name="TextBox 13"/>
            <p:cNvSpPr txBox="1"/>
            <p:nvPr/>
          </p:nvSpPr>
          <p:spPr>
            <a:xfrm>
              <a:off x="466725" y="395288"/>
              <a:ext cx="13992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B82F6">
                      <a:alphaMod val="8000"/>
                    </a:srgbClr>
                  </a:solidFill>
                  <a:latin typeface="Consolas"/>
                  <a:ea typeface="Consolas"/>
                  <a:cs typeface="Consolas"/>
                </a:rPr>
                <a:t>01001000 01100101 01101100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6725" y="585788"/>
              <a:ext cx="13992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B82F6">
                      <a:alphaMod val="8000"/>
                    </a:srgbClr>
                  </a:solidFill>
                  <a:latin typeface="Consolas"/>
                  <a:ea typeface="Consolas"/>
                  <a:cs typeface="Consolas"/>
                </a:rPr>
                <a:t>01101100 01101111 00100000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6725" y="776288"/>
              <a:ext cx="13992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B82F6">
                      <a:alphaMod val="8000"/>
                    </a:srgbClr>
                  </a:solidFill>
                  <a:latin typeface="Consolas"/>
                  <a:ea typeface="Consolas"/>
                  <a:cs typeface="Consolas"/>
                </a:rPr>
                <a:t>01010111 01101111 01110010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4975" y="395288"/>
              <a:ext cx="13992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B82F6">
                      <a:alphaMod val="8000"/>
                    </a:srgbClr>
                  </a:solidFill>
                  <a:latin typeface="Consolas"/>
                  <a:ea typeface="Consolas"/>
                  <a:cs typeface="Consolas"/>
                </a:rPr>
                <a:t>01101100 01100100 00100001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4975" y="585788"/>
              <a:ext cx="13992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B82F6">
                      <a:alphaMod val="8000"/>
                    </a:srgbClr>
                  </a:solidFill>
                  <a:latin typeface="Consolas"/>
                  <a:ea typeface="Consolas"/>
                  <a:cs typeface="Consolas"/>
                </a:rPr>
                <a:t>01000001 01001001 00100000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4975" y="776288"/>
              <a:ext cx="13992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B82F6">
                      <a:alphaMod val="8000"/>
                    </a:srgbClr>
                  </a:solidFill>
                  <a:latin typeface="Consolas"/>
                  <a:ea typeface="Consolas"/>
                  <a:cs typeface="Consolas"/>
                </a:rPr>
                <a:t>01101001 01110011 00100000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62975" y="5634038"/>
              <a:ext cx="13992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B82F6">
                      <a:alphaMod val="8000"/>
                    </a:srgbClr>
                  </a:solidFill>
                  <a:latin typeface="Consolas"/>
                  <a:ea typeface="Consolas"/>
                  <a:cs typeface="Consolas"/>
                </a:rPr>
                <a:t>01000001 01001001 00100000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62975" y="5824538"/>
              <a:ext cx="13992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B82F6">
                      <a:alphaMod val="8000"/>
                    </a:srgbClr>
                  </a:solidFill>
                  <a:latin typeface="Consolas"/>
                  <a:ea typeface="Consolas"/>
                  <a:cs typeface="Consolas"/>
                </a:rPr>
                <a:t>01100011 01100001 01101110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62975" y="6015038"/>
              <a:ext cx="139922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B82F6">
                      <a:alphaMod val="8000"/>
                    </a:srgbClr>
                  </a:solidFill>
                  <a:latin typeface="Consolas"/>
                  <a:ea typeface="Consolas"/>
                  <a:cs typeface="Consolas"/>
                </a:rPr>
                <a:t>00100000 01100100 01101111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2000" y="4762500"/>
            <a:ext cx="1143000" cy="762000"/>
            <a:chOff x="762000" y="4762500"/>
            <a:chExt cx="1143000" cy="762000"/>
          </a:xfrm>
        </p:grpSpPr>
        <p:sp>
          <p:nvSpPr>
            <p:cNvPr id="23" name="Rectangle 23"/>
            <p:cNvSpPr/>
            <p:nvPr/>
          </p:nvSpPr>
          <p:spPr>
            <a:xfrm>
              <a:off x="762000" y="4762500"/>
              <a:ext cx="1143000" cy="762000"/>
            </a:xfrm>
            <a:prstGeom prst="roundRect">
              <a:avLst>
                <a:gd name="adj" fmla="val 5000"/>
              </a:avLst>
            </a:prstGeom>
            <a:noFill/>
            <a:ln w="4762">
              <a:solidFill>
                <a:srgbClr val="3B82F6">
                  <a:alpha val="10000"/>
                </a:srgbClr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914400" y="4914900"/>
              <a:ext cx="76200" cy="76200"/>
            </a:xfrm>
            <a:prstGeom prst="ellipse">
              <a:avLst/>
            </a:prstGeom>
            <a:solidFill>
              <a:srgbClr val="3B82F6">
                <a:alpha val="10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04900" y="4914900"/>
              <a:ext cx="76200" cy="76200"/>
            </a:xfrm>
            <a:prstGeom prst="ellipse">
              <a:avLst/>
            </a:prstGeom>
            <a:solidFill>
              <a:srgbClr val="3B82F6">
                <a:alpha val="10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295400" y="4914900"/>
              <a:ext cx="76200" cy="76200"/>
            </a:xfrm>
            <a:prstGeom prst="ellipse">
              <a:avLst/>
            </a:prstGeom>
            <a:solidFill>
              <a:srgbClr val="3B82F6">
                <a:alpha val="10000"/>
              </a:srgb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485900" y="4914900"/>
              <a:ext cx="76200" cy="76200"/>
            </a:xfrm>
            <a:prstGeom prst="ellipse">
              <a:avLst/>
            </a:prstGeom>
            <a:solidFill>
              <a:srgbClr val="3B82F6">
                <a:alpha val="10000"/>
              </a:srgb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676400" y="4914900"/>
              <a:ext cx="76200" cy="76200"/>
            </a:xfrm>
            <a:prstGeom prst="ellipse">
              <a:avLst/>
            </a:prstGeom>
            <a:solidFill>
              <a:srgbClr val="3B82F6">
                <a:alpha val="10000"/>
              </a:srgbClr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952500" y="4953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4762">
              <a:solidFill>
                <a:srgbClr val="3B82F6">
                  <a:alpha val="1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333500" y="4953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4762">
              <a:solidFill>
                <a:srgbClr val="3B82F6">
                  <a:alpha val="1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714500" y="4953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4762">
              <a:solidFill>
                <a:srgbClr val="3B82F6">
                  <a:alpha val="1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762000" y="5143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4762">
              <a:solidFill>
                <a:srgbClr val="3B82F6">
                  <a:alpha val="10000"/>
                </a:srgbClr>
              </a:solidFill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571500" y="839152"/>
            <a:ext cx="4762500" cy="5418773"/>
            <a:chOff x="571500" y="839152"/>
            <a:chExt cx="4762500" cy="5418773"/>
          </a:xfrm>
        </p:grpSpPr>
        <p:sp>
          <p:nvSpPr>
            <p:cNvPr id="34" name="TextBox 34"/>
            <p:cNvSpPr txBox="1"/>
            <p:nvPr/>
          </p:nvSpPr>
          <p:spPr>
            <a:xfrm>
              <a:off x="748665" y="8391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第一部分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1995" y="1374458"/>
              <a:ext cx="228528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效率的巅峰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1995" y="1945958"/>
              <a:ext cx="316739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59E0B"/>
                  </a:solidFill>
                  <a:latin typeface="Times New Roman"/>
                  <a:ea typeface="SimSun"/>
                  <a:cs typeface="Times New Roman"/>
                </a:rPr>
                <a:t>也是觉醒的起点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2000" y="2571750"/>
              <a:ext cx="952500" cy="285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14375" y="2949892"/>
              <a:ext cx="2292477" cy="545783"/>
              <a:chOff x="714375" y="2949892"/>
              <a:chExt cx="2292477" cy="545783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714375" y="2952750"/>
                <a:ext cx="285750" cy="285750"/>
              </a:xfrm>
              <a:prstGeom prst="roundRect">
                <a:avLst>
                  <a:gd name="adj" fmla="val 20000"/>
                </a:avLst>
              </a:prstGeom>
              <a:noFill/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42010" y="2994660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B82F6"/>
                    </a:solidFill>
                    <a:latin typeface="Segoe UI"/>
                    <a:ea typeface="Segoe UI"/>
                    <a:cs typeface="Segoe UI"/>
                  </a:rPr>
                  <a:t>📊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078230" y="2949892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数据处理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80135" y="3251835"/>
                <a:ext cx="192671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1D5DB"/>
                    </a:solidFill>
                    <a:latin typeface="Segoe UI"/>
                    <a:ea typeface="Microsoft YaHei"/>
                    <a:cs typeface="Segoe UI"/>
                  </a:rPr>
                  <a:t>AI已经把人类远远甩在身后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714375" y="3616642"/>
              <a:ext cx="2972562" cy="545783"/>
              <a:chOff x="714375" y="3616642"/>
              <a:chExt cx="2972562" cy="545783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714375" y="3619500"/>
                <a:ext cx="285750" cy="285750"/>
              </a:xfrm>
              <a:prstGeom prst="roundRect">
                <a:avLst>
                  <a:gd name="adj" fmla="val 20000"/>
                </a:avLst>
              </a:prstGeom>
              <a:noFill/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42010" y="3661410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B82F6"/>
                    </a:solidFill>
                    <a:latin typeface="Segoe UI"/>
                    <a:ea typeface="Segoe UI"/>
                    <a:cs typeface="Segoe UI"/>
                  </a:rPr>
                  <a:t>🧠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78230" y="3616642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逻辑推演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080135" y="3918585"/>
                <a:ext cx="26068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1D5DB"/>
                    </a:solidFill>
                    <a:latin typeface="Segoe UI"/>
                    <a:ea typeface="Microsoft YaHei"/>
                    <a:cs typeface="Segoe UI"/>
                  </a:rPr>
                  <a:t>无限体力和过目不忘的"超级实习生"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714375" y="4283392"/>
              <a:ext cx="2156460" cy="545783"/>
              <a:chOff x="714375" y="4283392"/>
              <a:chExt cx="2156460" cy="545783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714375" y="4286250"/>
                <a:ext cx="285750" cy="285750"/>
              </a:xfrm>
              <a:prstGeom prst="roundRect">
                <a:avLst>
                  <a:gd name="adj" fmla="val 20000"/>
                </a:avLst>
              </a:prstGeom>
              <a:noFill/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42010" y="4328160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B82F6"/>
                    </a:solidFill>
                    <a:latin typeface="Segoe UI"/>
                    <a:ea typeface="Segoe UI"/>
                    <a:cs typeface="Segoe UI"/>
                  </a:rPr>
                  <a:t>⚡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78230" y="4283392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重复劳动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080135" y="4585335"/>
                <a:ext cx="17907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1D5DB"/>
                    </a:solidFill>
                    <a:latin typeface="Segoe UI"/>
                    <a:ea typeface="Microsoft YaHei"/>
                    <a:cs typeface="Segoe UI"/>
                  </a:rPr>
                  <a:t>自动化正在重塑工作方式</a:t>
                </a:r>
              </a:p>
            </p:txBody>
          </p:sp>
        </p:grpSp>
        <p:sp>
          <p:nvSpPr>
            <p:cNvPr id="53" name="Rectangle 53"/>
            <p:cNvSpPr/>
            <p:nvPr/>
          </p:nvSpPr>
          <p:spPr>
            <a:xfrm>
              <a:off x="571500" y="5238750"/>
              <a:ext cx="4762500" cy="857250"/>
            </a:xfrm>
            <a:prstGeom prst="roundRect">
              <a:avLst>
                <a:gd name="adj" fmla="val 11111"/>
              </a:avLst>
            </a:prstGeom>
            <a:noFill/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4855" y="5426392"/>
              <a:ext cx="24915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Times New Roman"/>
                  <a:ea typeface="SimSun"/>
                  <a:cs typeface="Times New Roman"/>
                </a:rPr>
                <a:t>但我想请大家思考一个问题：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6760" y="5775960"/>
              <a:ext cx="28868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如果AI能写出论文、画出画作、编出代码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6760" y="6014085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那我们人类还剩下什么？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905500" y="1170622"/>
            <a:ext cx="5334000" cy="4191000"/>
            <a:chOff x="5905500" y="1170622"/>
            <a:chExt cx="5334000" cy="4191000"/>
          </a:xfrm>
        </p:grpSpPr>
        <p:sp>
          <p:nvSpPr>
            <p:cNvPr id="58" name="Ellipse 58"/>
            <p:cNvSpPr/>
            <p:nvPr/>
          </p:nvSpPr>
          <p:spPr>
            <a:xfrm>
              <a:off x="6477000" y="1170622"/>
              <a:ext cx="4191000" cy="4191000"/>
            </a:xfrm>
            <a:prstGeom prst="ellipse">
              <a:avLst/>
            </a:prstGeom>
            <a:noFill/>
            <a:ln>
              <a:noFill/>
            </a:ln>
            <a:effectLst>
              <a:glow rad="238125">
                <a:srgbClr val="000000">
                  <a:alpha val="30000"/>
                </a:srgbClr>
              </a:glow>
            </a:effectLst>
          </p:spPr>
        </p:sp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0" y="1485424"/>
              <a:ext cx="5334000" cy="3553777"/>
            </a:xfrm>
            <a:prstGeom prst="rect">
              <a:avLst/>
            </a:prstGeom>
          </p:spPr>
        </p:pic>
        <p:grpSp>
          <p:nvGrpSpPr>
            <p:cNvPr id="64" name="Group 64"/>
            <p:cNvGrpSpPr/>
            <p:nvPr/>
          </p:nvGrpSpPr>
          <p:grpSpPr>
            <a:xfrm>
              <a:off x="7334250" y="1428750"/>
              <a:ext cx="2428875" cy="3667125"/>
              <a:chOff x="7334250" y="1428750"/>
              <a:chExt cx="2428875" cy="3667125"/>
            </a:xfrm>
          </p:grpSpPr>
          <p:sp>
            <p:nvSpPr>
              <p:cNvPr id="60" name="Ellipse 60"/>
              <p:cNvSpPr/>
              <p:nvPr/>
            </p:nvSpPr>
            <p:spPr>
              <a:xfrm>
                <a:off x="7334250" y="1619250"/>
                <a:ext cx="571500" cy="571500"/>
              </a:xfrm>
              <a:prstGeom prst="ellipse">
                <a:avLst/>
              </a:prstGeom>
              <a:noFill/>
              <a:ln w="4762">
                <a:solidFill>
                  <a:srgbClr val="3B82F6">
                    <a:alpha val="20000"/>
                  </a:srgbClr>
                </a:solidFill>
                <a:prstDash val="dash"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9286875" y="3571875"/>
                <a:ext cx="476250" cy="476250"/>
              </a:xfrm>
              <a:prstGeom prst="ellipse">
                <a:avLst/>
              </a:prstGeom>
              <a:noFill/>
              <a:ln w="4762">
                <a:solidFill>
                  <a:srgbClr val="3B82F6">
                    <a:alpha val="20000"/>
                  </a:srgbClr>
                </a:solidFill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7762875" y="4429125"/>
                <a:ext cx="666750" cy="666750"/>
              </a:xfrm>
              <a:prstGeom prst="ellipse">
                <a:avLst/>
              </a:prstGeom>
              <a:noFill/>
              <a:ln w="4762">
                <a:solidFill>
                  <a:srgbClr val="3B82F6">
                    <a:alpha val="20000"/>
                  </a:srgbClr>
                </a:solidFill>
                <a:custDash>
                  <a:ds d="1200000" sp="1200000"/>
                </a:custDash>
              </a:ln>
            </p:spPr>
          </p:sp>
          <p:sp>
            <p:nvSpPr>
              <p:cNvPr id="63" name="Rectangle 63"/>
              <p:cNvSpPr/>
              <p:nvPr/>
            </p:nvSpPr>
            <p:spPr>
              <a:xfrm rot="900000">
                <a:off x="9048750" y="1428750"/>
                <a:ext cx="381000" cy="381000"/>
              </a:xfrm>
              <a:prstGeom prst="roundRect">
                <a:avLst>
                  <a:gd name="adj" fmla="val 15000"/>
                </a:avLst>
              </a:prstGeom>
              <a:noFill/>
              <a:ln w="4762">
                <a:solidFill>
                  <a:srgbClr val="3B82F6">
                    <a:alpha val="20000"/>
                  </a:srgbClr>
                </a:solidFill>
              </a:ln>
            </p:spPr>
          </p:sp>
        </p:grpSp>
        <p:grpSp>
          <p:nvGrpSpPr>
            <p:cNvPr id="71" name="Group 71"/>
            <p:cNvGrpSpPr/>
            <p:nvPr/>
          </p:nvGrpSpPr>
          <p:grpSpPr>
            <a:xfrm>
              <a:off x="7115175" y="1695450"/>
              <a:ext cx="2909888" cy="3086100"/>
              <a:chOff x="7115175" y="1695450"/>
              <a:chExt cx="2909888" cy="3086100"/>
            </a:xfrm>
            <a:effectLst>
              <a:glow rad="28575">
                <a:srgbClr val="000000">
                  <a:alpha val="30000"/>
                </a:srgbClr>
              </a:glow>
            </a:effectLst>
          </p:grpSpPr>
          <p:sp>
            <p:nvSpPr>
              <p:cNvPr id="65" name="Ellipse 65"/>
              <p:cNvSpPr/>
              <p:nvPr/>
            </p:nvSpPr>
            <p:spPr>
              <a:xfrm>
                <a:off x="7115175" y="2352675"/>
                <a:ext cx="57150" cy="57150"/>
              </a:xfrm>
              <a:prstGeom prst="ellipse">
                <a:avLst/>
              </a:prstGeom>
              <a:solidFill>
                <a:srgbClr val="3B82F6">
                  <a:alpha val="60000"/>
                </a:srgbClr>
              </a:solidFill>
              <a:ln>
                <a:noFill/>
              </a:ln>
              <a:effectLst>
                <a:glow rad="28575">
                  <a:srgbClr val="000000">
                    <a:alpha val="30000"/>
                  </a:srgbClr>
                </a:glow>
              </a:effectLst>
            </p:spPr>
          </p:sp>
          <p:sp>
            <p:nvSpPr>
              <p:cNvPr id="66" name="Ellipse 66"/>
              <p:cNvSpPr/>
              <p:nvPr/>
            </p:nvSpPr>
            <p:spPr>
              <a:xfrm>
                <a:off x="8077200" y="1695450"/>
                <a:ext cx="38100" cy="38100"/>
              </a:xfrm>
              <a:prstGeom prst="ellipse">
                <a:avLst/>
              </a:prstGeom>
              <a:solidFill>
                <a:srgbClr val="3B82F6">
                  <a:alpha val="40000"/>
                </a:srgbClr>
              </a:solidFill>
              <a:ln>
                <a:noFill/>
              </a:ln>
              <a:effectLst>
                <a:glow rad="28575">
                  <a:srgbClr val="000000">
                    <a:alpha val="30000"/>
                  </a:srgbClr>
                </a:glow>
              </a:effectLst>
            </p:spPr>
          </p:sp>
          <p:sp>
            <p:nvSpPr>
              <p:cNvPr id="67" name="Ellipse 67"/>
              <p:cNvSpPr/>
              <p:nvPr/>
            </p:nvSpPr>
            <p:spPr>
              <a:xfrm>
                <a:off x="9010650" y="2819400"/>
                <a:ext cx="76200" cy="76200"/>
              </a:xfrm>
              <a:prstGeom prst="ellipse">
                <a:avLst/>
              </a:prstGeom>
              <a:solidFill>
                <a:srgbClr val="3B82F6">
                  <a:alpha val="50000"/>
                </a:srgbClr>
              </a:solidFill>
              <a:ln>
                <a:noFill/>
              </a:ln>
              <a:effectLst>
                <a:glow rad="28575">
                  <a:srgbClr val="000000">
                    <a:alpha val="30000"/>
                  </a:srgbClr>
                </a:glow>
              </a:effectLst>
            </p:spPr>
          </p:sp>
          <p:sp>
            <p:nvSpPr>
              <p:cNvPr id="68" name="Ellipse 68"/>
              <p:cNvSpPr/>
              <p:nvPr/>
            </p:nvSpPr>
            <p:spPr>
              <a:xfrm>
                <a:off x="9977438" y="2071688"/>
                <a:ext cx="47625" cy="47625"/>
              </a:xfrm>
              <a:prstGeom prst="ellipse">
                <a:avLst/>
              </a:prstGeom>
              <a:solidFill>
                <a:srgbClr val="3B82F6">
                  <a:alpha val="30000"/>
                </a:srgbClr>
              </a:solidFill>
              <a:ln>
                <a:noFill/>
              </a:ln>
              <a:effectLst>
                <a:glow rad="28575">
                  <a:srgbClr val="000000">
                    <a:alpha val="30000"/>
                  </a:srgbClr>
                </a:glow>
              </a:effectLst>
            </p:spPr>
          </p:sp>
          <p:sp>
            <p:nvSpPr>
              <p:cNvPr id="69" name="Ellipse 69"/>
              <p:cNvSpPr/>
              <p:nvPr/>
            </p:nvSpPr>
            <p:spPr>
              <a:xfrm>
                <a:off x="7591425" y="4257675"/>
                <a:ext cx="57150" cy="57150"/>
              </a:xfrm>
              <a:prstGeom prst="ellipse">
                <a:avLst/>
              </a:prstGeom>
              <a:solidFill>
                <a:srgbClr val="3B82F6">
                  <a:alpha val="40000"/>
                </a:srgbClr>
              </a:solidFill>
              <a:ln>
                <a:noFill/>
              </a:ln>
              <a:effectLst>
                <a:glow rad="28575">
                  <a:srgbClr val="000000">
                    <a:alpha val="30000"/>
                  </a:srgbClr>
                </a:glow>
              </a:effectLst>
            </p:spPr>
          </p:sp>
          <p:sp>
            <p:nvSpPr>
              <p:cNvPr id="70" name="Ellipse 70"/>
              <p:cNvSpPr/>
              <p:nvPr/>
            </p:nvSpPr>
            <p:spPr>
              <a:xfrm>
                <a:off x="8553450" y="4743450"/>
                <a:ext cx="38100" cy="38100"/>
              </a:xfrm>
              <a:prstGeom prst="ellipse">
                <a:avLst/>
              </a:prstGeom>
              <a:solidFill>
                <a:srgbClr val="3B82F6">
                  <a:alpha val="30000"/>
                </a:srgbClr>
              </a:solidFill>
              <a:ln>
                <a:noFill/>
              </a:ln>
              <a:effectLst>
                <a:glow rad="28575">
                  <a:srgbClr val="000000">
                    <a:alpha val="30000"/>
                  </a:srgbClr>
                </a:glow>
              </a:effectLst>
            </p:spPr>
          </p:sp>
        </p:grpSp>
      </p:grpSp>
      <p:grpSp>
        <p:nvGrpSpPr>
          <p:cNvPr id="75" name="Group 75"/>
          <p:cNvGrpSpPr/>
          <p:nvPr/>
        </p:nvGrpSpPr>
        <p:grpSpPr>
          <a:xfrm>
            <a:off x="0" y="6191250"/>
            <a:ext cx="11612880" cy="340995"/>
            <a:chOff x="0" y="6191250"/>
            <a:chExt cx="11612880" cy="340995"/>
          </a:xfrm>
        </p:grpSpPr>
        <p:sp>
          <p:nvSpPr>
            <p:cNvPr id="73" name="Rectangle 73"/>
            <p:cNvSpPr/>
            <p:nvPr/>
          </p:nvSpPr>
          <p:spPr>
            <a:xfrm>
              <a:off x="0" y="6191250"/>
              <a:ext cx="11612880" cy="34099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930902" y="6332220"/>
              <a:ext cx="17510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AI ERA · HUMAN VALUE · FUTURE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2" grpId="0"/>
      <p:bldP spid="33" grpId="0"/>
      <p:bldP spid="57" grpId="0"/>
      <p:bldP spid="7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612880" cy="6532245"/>
          </a:xfrm>
          <a:prstGeom prst="rect">
            <a:avLst/>
          </a:prstGeom>
          <a:gradFill>
            <a:gsLst>
              <a:gs pos="0">
                <a:srgbClr val="1A1A2E"/>
              </a:gs>
              <a:gs pos="100000">
                <a:srgbClr val="16213E"/>
              </a:gs>
            </a:gsLst>
            <a:lin ang="2700000" scaled="1"/>
          </a:gra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0" y="0"/>
            <a:ext cx="11612880" cy="6532245"/>
            <a:chOff x="0" y="0"/>
            <a:chExt cx="11612880" cy="6532245"/>
          </a:xfrm>
        </p:grpSpPr>
        <p:sp>
          <p:nvSpPr>
            <p:cNvPr id="3" name="Line 3"/>
            <p:cNvSpPr/>
            <p:nvPr/>
          </p:nvSpPr>
          <p:spPr>
            <a:xfrm>
              <a:off x="0" y="952500"/>
              <a:ext cx="11612880" cy="9525"/>
            </a:xfrm>
            <a:custGeom>
              <a:avLst/>
              <a:gdLst/>
              <a:ahLst/>
              <a:cxnLst/>
              <a:rect l="l" t="t" r="r" b="b"/>
              <a:pathLst>
                <a:path w="11612880" h="9525">
                  <a:moveTo>
                    <a:pt x="0" y="0"/>
                  </a:moveTo>
                  <a:lnTo>
                    <a:pt x="11612880" y="0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1905000"/>
              <a:ext cx="11612880" cy="9525"/>
            </a:xfrm>
            <a:custGeom>
              <a:avLst/>
              <a:gdLst/>
              <a:ahLst/>
              <a:cxnLst/>
              <a:rect l="l" t="t" r="r" b="b"/>
              <a:pathLst>
                <a:path w="11612880" h="9525">
                  <a:moveTo>
                    <a:pt x="0" y="0"/>
                  </a:moveTo>
                  <a:lnTo>
                    <a:pt x="11612880" y="0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2857500"/>
              <a:ext cx="11612880" cy="9525"/>
            </a:xfrm>
            <a:custGeom>
              <a:avLst/>
              <a:gdLst/>
              <a:ahLst/>
              <a:cxnLst/>
              <a:rect l="l" t="t" r="r" b="b"/>
              <a:pathLst>
                <a:path w="11612880" h="9525">
                  <a:moveTo>
                    <a:pt x="0" y="0"/>
                  </a:moveTo>
                  <a:lnTo>
                    <a:pt x="11612880" y="0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3810000"/>
              <a:ext cx="11612880" cy="9525"/>
            </a:xfrm>
            <a:custGeom>
              <a:avLst/>
              <a:gdLst/>
              <a:ahLst/>
              <a:cxnLst/>
              <a:rect l="l" t="t" r="r" b="b"/>
              <a:pathLst>
                <a:path w="11612880" h="9525">
                  <a:moveTo>
                    <a:pt x="0" y="0"/>
                  </a:moveTo>
                  <a:lnTo>
                    <a:pt x="11612880" y="0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4762500"/>
              <a:ext cx="11612880" cy="9525"/>
            </a:xfrm>
            <a:custGeom>
              <a:avLst/>
              <a:gdLst/>
              <a:ahLst/>
              <a:cxnLst/>
              <a:rect l="l" t="t" r="r" b="b"/>
              <a:pathLst>
                <a:path w="11612880" h="9525">
                  <a:moveTo>
                    <a:pt x="0" y="0"/>
                  </a:moveTo>
                  <a:lnTo>
                    <a:pt x="11612880" y="0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5715000"/>
              <a:ext cx="11612880" cy="9525"/>
            </a:xfrm>
            <a:custGeom>
              <a:avLst/>
              <a:gdLst/>
              <a:ahLst/>
              <a:cxnLst/>
              <a:rect l="l" t="t" r="r" b="b"/>
              <a:pathLst>
                <a:path w="11612880" h="9525">
                  <a:moveTo>
                    <a:pt x="0" y="0"/>
                  </a:moveTo>
                  <a:lnTo>
                    <a:pt x="11612880" y="0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9050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7150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525000" y="0"/>
              <a:ext cx="9525" cy="6532245"/>
            </a:xfrm>
            <a:custGeom>
              <a:avLst/>
              <a:gdLst/>
              <a:ahLst/>
              <a:cxnLst/>
              <a:rect l="l" t="t" r="r" b="b"/>
              <a:pathLst>
                <a:path w="9525" h="6532245">
                  <a:moveTo>
                    <a:pt x="0" y="0"/>
                  </a:moveTo>
                  <a:lnTo>
                    <a:pt x="0" y="6532245"/>
                  </a:lnTo>
                </a:path>
              </a:pathLst>
            </a:custGeom>
            <a:noFill/>
            <a:ln w="4762">
              <a:solidFill>
                <a:srgbClr val="F59E0B">
                  <a:alpha val="3000"/>
                </a:srgbClr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143000" y="285750"/>
            <a:ext cx="9334500" cy="4762500"/>
            <a:chOff x="1143000" y="285750"/>
            <a:chExt cx="9334500" cy="4762500"/>
          </a:xfrm>
        </p:grpSpPr>
        <p:sp>
          <p:nvSpPr>
            <p:cNvPr id="15" name="Ellipse 15"/>
            <p:cNvSpPr/>
            <p:nvPr/>
          </p:nvSpPr>
          <p:spPr>
            <a:xfrm>
              <a:off x="2095500" y="952500"/>
              <a:ext cx="3429000" cy="3429000"/>
            </a:xfrm>
            <a:prstGeom prst="ellipse">
              <a:avLst/>
            </a:prstGeom>
            <a:noFill/>
            <a:ln>
              <a:noFill/>
            </a:ln>
            <a:effectLst>
              <a:glow rad="190500">
                <a:srgbClr val="000000">
                  <a:alpha val="30000"/>
                </a:srgbClr>
              </a:glow>
            </a:effectLst>
          </p:spPr>
        </p:sp>
        <p:sp>
          <p:nvSpPr>
            <p:cNvPr id="16" name="Ellipse 16"/>
            <p:cNvSpPr/>
            <p:nvPr/>
          </p:nvSpPr>
          <p:spPr>
            <a:xfrm>
              <a:off x="6096000" y="952500"/>
              <a:ext cx="3429000" cy="3429000"/>
            </a:xfrm>
            <a:prstGeom prst="ellipse">
              <a:avLst/>
            </a:prstGeom>
            <a:noFill/>
            <a:ln>
              <a:noFill/>
            </a:ln>
            <a:effectLst>
              <a:glow rad="238125">
                <a:srgbClr val="000000">
                  <a:alpha val="30000"/>
                </a:srgbClr>
              </a:glow>
            </a:effectLst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22750" y="285750"/>
              <a:ext cx="3175000" cy="4762500"/>
            </a:xfrm>
            <a:prstGeom prst="rect">
              <a:avLst/>
            </a:prstGeom>
          </p:spPr>
        </p:pic>
        <p:grpSp>
          <p:nvGrpSpPr>
            <p:cNvPr id="24" name="Group 24"/>
            <p:cNvGrpSpPr/>
            <p:nvPr/>
          </p:nvGrpSpPr>
          <p:grpSpPr>
            <a:xfrm>
              <a:off x="1143000" y="1143000"/>
              <a:ext cx="9334500" cy="762000"/>
              <a:chOff x="1143000" y="1143000"/>
              <a:chExt cx="9334500" cy="762000"/>
            </a:xfrm>
          </p:grpSpPr>
          <p:sp>
            <p:nvSpPr>
              <p:cNvPr id="18" name="Line 18"/>
              <p:cNvSpPr/>
              <p:nvPr/>
            </p:nvSpPr>
            <p:spPr>
              <a:xfrm>
                <a:off x="2381250" y="1428750"/>
                <a:ext cx="9525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476250">
                    <a:moveTo>
                      <a:pt x="952500" y="47625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3B82F6"/>
                </a:solidFill>
                <a:prstDash val="dash"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143000" y="1143000"/>
                <a:ext cx="1333500" cy="476250"/>
              </a:xfrm>
              <a:prstGeom prst="roundRect">
                <a:avLst>
                  <a:gd name="adj" fmla="val 16000"/>
                </a:avLst>
              </a:prstGeom>
              <a:noFill/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580674" y="12668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3B82F6"/>
                    </a:solidFill>
                    <a:latin typeface="Segoe UI"/>
                    <a:ea typeface="Microsoft YaHei"/>
                    <a:cs typeface="Segoe UI"/>
                  </a:rPr>
                  <a:t>效率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8286750" y="1428750"/>
                <a:ext cx="9525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476250">
                    <a:moveTo>
                      <a:pt x="0" y="476250"/>
                    </a:moveTo>
                    <a:lnTo>
                      <a:pt x="952500" y="0"/>
                    </a:lnTo>
                  </a:path>
                </a:pathLst>
              </a:custGeom>
              <a:noFill/>
              <a:ln w="9525">
                <a:solidFill>
                  <a:srgbClr val="F59E0B"/>
                </a:solidFill>
                <a:prstDash val="dash"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9144000" y="1143000"/>
                <a:ext cx="1333500" cy="476250"/>
              </a:xfrm>
              <a:prstGeom prst="roundRect">
                <a:avLst>
                  <a:gd name="adj" fmla="val 16000"/>
                </a:avLst>
              </a:prstGeom>
              <a:noFill/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581674" y="12668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59E0B"/>
                    </a:solidFill>
                    <a:latin typeface="Segoe UI"/>
                    <a:ea typeface="Microsoft YaHei"/>
                    <a:cs typeface="Segoe UI"/>
                  </a:rPr>
                  <a:t>智慧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2381250" y="3524250"/>
              <a:ext cx="6858000" cy="1143000"/>
              <a:chOff x="2381250" y="3524250"/>
              <a:chExt cx="6858000" cy="114300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2571750" y="3524250"/>
                <a:ext cx="571500" cy="571500"/>
              </a:xfrm>
              <a:prstGeom prst="ellipse">
                <a:avLst/>
              </a:prstGeom>
              <a:noFill/>
              <a:ln w="4762">
                <a:solidFill>
                  <a:srgbClr val="3B82F6">
                    <a:alpha val="30000"/>
                  </a:srgbClr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8477250" y="3524250"/>
                <a:ext cx="571500" cy="571500"/>
              </a:xfrm>
              <a:prstGeom prst="ellipse">
                <a:avLst/>
              </a:prstGeom>
              <a:noFill/>
              <a:ln w="4762">
                <a:solidFill>
                  <a:srgbClr val="F59E0B">
                    <a:alpha val="30000"/>
                  </a:srgbClr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 rot="900000">
                <a:off x="2381250" y="4286250"/>
                <a:ext cx="381000" cy="381000"/>
              </a:xfrm>
              <a:prstGeom prst="roundRect">
                <a:avLst>
                  <a:gd name="adj" fmla="val 15000"/>
                </a:avLst>
              </a:prstGeom>
              <a:noFill/>
              <a:ln w="4762">
                <a:solidFill>
                  <a:srgbClr val="3B82F6">
                    <a:alpha val="30000"/>
                  </a:srgbClr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 rot="-900000">
                <a:off x="8858250" y="4286250"/>
                <a:ext cx="381000" cy="381000"/>
              </a:xfrm>
              <a:prstGeom prst="roundRect">
                <a:avLst>
                  <a:gd name="adj" fmla="val 15000"/>
                </a:avLst>
              </a:prstGeom>
              <a:noFill/>
              <a:ln w="4762">
                <a:solidFill>
                  <a:srgbClr val="F59E0B">
                    <a:alpha val="30000"/>
                  </a:srgbClr>
                </a:solidFill>
              </a:ln>
            </p:spPr>
          </p:sp>
        </p:grpSp>
      </p:grpSp>
      <p:grpSp>
        <p:nvGrpSpPr>
          <p:cNvPr id="38" name="Group 38"/>
          <p:cNvGrpSpPr/>
          <p:nvPr/>
        </p:nvGrpSpPr>
        <p:grpSpPr>
          <a:xfrm>
            <a:off x="3333750" y="3696652"/>
            <a:ext cx="4953000" cy="2494598"/>
            <a:chOff x="3333750" y="3696652"/>
            <a:chExt cx="4953000" cy="2494598"/>
          </a:xfrm>
        </p:grpSpPr>
        <p:sp>
          <p:nvSpPr>
            <p:cNvPr id="31" name="TextBox 31"/>
            <p:cNvSpPr txBox="1"/>
            <p:nvPr/>
          </p:nvSpPr>
          <p:spPr>
            <a:xfrm>
              <a:off x="5443061" y="36966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觉醒的起点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03866" y="4090035"/>
              <a:ext cx="460514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定义问题比解决问题更珍贵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0190" y="4619625"/>
              <a:ext cx="952500" cy="285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349990" y="4902518"/>
              <a:ext cx="49129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1D5DB"/>
                  </a:solidFill>
                  <a:latin typeface="Segoe UI"/>
                  <a:ea typeface="Microsoft YaHei"/>
                  <a:cs typeface="Segoe UI"/>
                </a:rPr>
                <a:t>在过去几千年里，我们人类最引以为傲的是"解决问题的能力"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444502" y="5235892"/>
              <a:ext cx="47238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1D5DB"/>
                  </a:solidFill>
                  <a:latin typeface="Segoe UI"/>
                  <a:ea typeface="Microsoft YaHei"/>
                  <a:cs typeface="Segoe UI"/>
                </a:rPr>
                <a:t>但在AI时代，"解决"变得廉价，而"定义问题"变得无比珍贵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333750" y="5715000"/>
              <a:ext cx="4953000" cy="476250"/>
            </a:xfrm>
            <a:prstGeom prst="roundRect">
              <a:avLst>
                <a:gd name="adj" fmla="val 20000"/>
              </a:avLst>
            </a:prstGeom>
            <a:noFill/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474910" y="5890260"/>
              <a:ext cx="46630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i="1" dirty="0">
                  <a:solidFill>
                    <a:srgbClr val="F59E0B"/>
                  </a:solidFill>
                  <a:latin typeface="Segoe UI"/>
                  <a:ea typeface="Microsoft YaHei"/>
                  <a:cs typeface="Segoe UI"/>
                </a:rPr>
                <a:t>"AI可以算出最优解，但它无法告诉你，什么才是值得解决的问题"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0" y="6191250"/>
            <a:ext cx="11612880" cy="340995"/>
            <a:chOff x="0" y="6191250"/>
            <a:chExt cx="11612880" cy="340995"/>
          </a:xfrm>
        </p:grpSpPr>
        <p:sp>
          <p:nvSpPr>
            <p:cNvPr id="39" name="Rectangle 39"/>
            <p:cNvSpPr/>
            <p:nvPr/>
          </p:nvSpPr>
          <p:spPr>
            <a:xfrm>
              <a:off x="0" y="6191250"/>
              <a:ext cx="11612880" cy="34099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930902" y="6332220"/>
              <a:ext cx="17510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AI ERA · HUMAN VALUE · FUTURE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7786" r="0" b="7786"/>
          <a:stretch>
            <a:fillRect/>
          </a:stretch>
        </p:blipFill>
        <p:spPr>
          <a:xfrm>
            <a:off x="0" y="0"/>
            <a:ext cx="11612880" cy="6532245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4762500" y="0"/>
            <a:ext cx="6850380" cy="6532245"/>
          </a:xfrm>
          <a:prstGeom prst="rect">
            <a:avLst/>
          </a:prstGeom>
          <a:solidFill>
            <a:srgbClr val="1A1A2E">
              <a:alpha val="9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0" y="0"/>
            <a:ext cx="2381250" cy="6532245"/>
          </a:xfrm>
          <a:prstGeom prst="rect">
            <a:avLst/>
          </a:prstGeom>
          <a:gradFill>
            <a:gsLst>
              <a:gs pos="0">
                <a:srgbClr val="1A1A2E">
                  <a:alpha val="51000"/>
                </a:srgbClr>
              </a:gs>
              <a:gs pos="100000">
                <a:srgbClr val="16213E">
                  <a:alpha val="51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90500" y="599122"/>
            <a:ext cx="5334000" cy="5334000"/>
          </a:xfrm>
          <a:prstGeom prst="ellipse">
            <a:avLst/>
          </a:prstGeom>
          <a:noFill/>
          <a:ln>
            <a:noFill/>
          </a:ln>
          <a:effectLst>
            <a:glow rad="285750">
              <a:srgbClr val="000000">
                <a:alpha val="30000"/>
              </a:srgbClr>
            </a:glow>
          </a:effectLst>
        </p:spPr>
      </p:sp>
      <p:grpSp>
        <p:nvGrpSpPr>
          <p:cNvPr id="7" name="Group 7"/>
          <p:cNvGrpSpPr/>
          <p:nvPr/>
        </p:nvGrpSpPr>
        <p:grpSpPr>
          <a:xfrm>
            <a:off x="476250" y="2857500"/>
            <a:ext cx="2857500" cy="952500"/>
            <a:chOff x="476250" y="2857500"/>
            <a:chExt cx="2857500" cy="952500"/>
          </a:xfrm>
        </p:grpSpPr>
        <p:sp>
          <p:nvSpPr>
            <p:cNvPr id="6" name="Freeform 6"/>
            <p:cNvSpPr/>
            <p:nvPr/>
          </p:nvSpPr>
          <p:spPr>
            <a:xfrm>
              <a:off x="476250" y="2857500"/>
              <a:ext cx="2857500" cy="952500"/>
            </a:xfrm>
            <a:custGeom>
              <a:avLst/>
              <a:gdLst/>
              <a:ahLst/>
              <a:cxnLst/>
              <a:rect l="l" t="t" r="r" b="b"/>
              <a:pathLst>
                <a:path w="2857500" h="952500">
                  <a:moveTo>
                    <a:pt x="0" y="476250"/>
                  </a:moveTo>
                  <a:lnTo>
                    <a:pt x="952500" y="476250"/>
                  </a:lnTo>
                  <a:lnTo>
                    <a:pt x="1143000" y="190500"/>
                  </a:lnTo>
                  <a:lnTo>
                    <a:pt x="1333500" y="762000"/>
                  </a:lnTo>
                  <a:lnTo>
                    <a:pt x="1524000" y="0"/>
                  </a:lnTo>
                  <a:lnTo>
                    <a:pt x="1714500" y="952500"/>
                  </a:lnTo>
                  <a:lnTo>
                    <a:pt x="1905000" y="476250"/>
                  </a:lnTo>
                  <a:lnTo>
                    <a:pt x="2857500" y="476250"/>
                  </a:lnTo>
                </a:path>
              </a:pathLst>
            </a:custGeom>
            <a:noFill/>
            <a:ln w="19050" cap="rnd">
              <a:solidFill>
                <a:srgbClr val="F59E0B">
                  <a:alpha val="20000"/>
                </a:srgbClr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428750" y="3968750"/>
            <a:ext cx="1905000" cy="762000"/>
            <a:chOff x="1428750" y="3968750"/>
            <a:chExt cx="1905000" cy="762000"/>
          </a:xfrm>
        </p:grpSpPr>
        <p:sp>
          <p:nvSpPr>
            <p:cNvPr id="8" name="Freeform 8"/>
            <p:cNvSpPr/>
            <p:nvPr/>
          </p:nvSpPr>
          <p:spPr>
            <a:xfrm>
              <a:off x="1428750" y="3968750"/>
              <a:ext cx="1905000" cy="635000"/>
            </a:xfrm>
            <a:custGeom>
              <a:avLst/>
              <a:gdLst/>
              <a:ahLst/>
              <a:cxnLst/>
              <a:rect l="l" t="t" r="r" b="b"/>
              <a:pathLst>
                <a:path w="1905000" h="635000">
                  <a:moveTo>
                    <a:pt x="0" y="317500"/>
                  </a:moveTo>
                  <a:cubicBezTo>
                    <a:pt x="317500" y="0"/>
                    <a:pt x="635000" y="0"/>
                    <a:pt x="952500" y="317500"/>
                  </a:cubicBezTo>
                  <a:cubicBezTo>
                    <a:pt x="1270000" y="635000"/>
                    <a:pt x="1587500" y="635000"/>
                    <a:pt x="1905000" y="317500"/>
                  </a:cubicBezTo>
                </a:path>
              </a:pathLst>
            </a:custGeom>
            <a:noFill/>
            <a:ln w="14288">
              <a:solidFill>
                <a:srgbClr val="F59E0B">
                  <a:alpha val="15000"/>
                </a:srgb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714500" y="4222750"/>
              <a:ext cx="1524000" cy="508000"/>
            </a:xfrm>
            <a:custGeom>
              <a:avLst/>
              <a:gdLst/>
              <a:ahLst/>
              <a:cxnLst/>
              <a:rect l="l" t="t" r="r" b="b"/>
              <a:pathLst>
                <a:path w="1524000" h="508000">
                  <a:moveTo>
                    <a:pt x="0" y="254000"/>
                  </a:moveTo>
                  <a:cubicBezTo>
                    <a:pt x="254000" y="0"/>
                    <a:pt x="508000" y="0"/>
                    <a:pt x="762000" y="254000"/>
                  </a:cubicBezTo>
                  <a:cubicBezTo>
                    <a:pt x="1016000" y="508000"/>
                    <a:pt x="1270000" y="508000"/>
                    <a:pt x="1524000" y="254000"/>
                  </a:cubicBezTo>
                </a:path>
              </a:pathLst>
            </a:custGeom>
            <a:noFill/>
            <a:ln w="9525">
              <a:solidFill>
                <a:srgbClr val="F59E0B">
                  <a:alpha val="15000"/>
                </a:srgbClr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809625" y="1333500"/>
            <a:ext cx="3076575" cy="1162050"/>
            <a:chOff x="809625" y="1333500"/>
            <a:chExt cx="3076575" cy="1162050"/>
          </a:xfrm>
        </p:grpSpPr>
        <p:sp>
          <p:nvSpPr>
            <p:cNvPr id="11" name="Ellipse 11"/>
            <p:cNvSpPr/>
            <p:nvPr/>
          </p:nvSpPr>
          <p:spPr>
            <a:xfrm>
              <a:off x="809625" y="1762125"/>
              <a:ext cx="285750" cy="285750"/>
            </a:xfrm>
            <a:prstGeom prst="ellipse">
              <a:avLst/>
            </a:prstGeom>
            <a:noFill/>
            <a:ln w="4762">
              <a:solidFill>
                <a:srgbClr val="F59E0B">
                  <a:alpha val="20000"/>
                </a:srgbClr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809750" y="1333500"/>
              <a:ext cx="190500" cy="190500"/>
            </a:xfrm>
            <a:prstGeom prst="ellipse">
              <a:avLst/>
            </a:prstGeom>
            <a:noFill/>
            <a:ln w="4762">
              <a:solidFill>
                <a:srgbClr val="F59E0B">
                  <a:alpha val="20000"/>
                </a:srgbClr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743200" y="2266950"/>
              <a:ext cx="228600" cy="228600"/>
            </a:xfrm>
            <a:prstGeom prst="ellipse">
              <a:avLst/>
            </a:prstGeom>
            <a:noFill/>
            <a:ln w="4762">
              <a:solidFill>
                <a:srgbClr val="F59E0B">
                  <a:alpha val="20000"/>
                </a:srgb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733800" y="1638300"/>
              <a:ext cx="152400" cy="152400"/>
            </a:xfrm>
            <a:prstGeom prst="ellipse">
              <a:avLst/>
            </a:prstGeom>
            <a:noFill/>
            <a:ln w="4762">
              <a:solidFill>
                <a:srgbClr val="F59E0B">
                  <a:alpha val="2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52500" y="142875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476250"/>
                  </a:moveTo>
                  <a:lnTo>
                    <a:pt x="952500" y="0"/>
                  </a:lnTo>
                </a:path>
              </a:pathLst>
            </a:custGeom>
            <a:noFill/>
            <a:ln w="2858">
              <a:solidFill>
                <a:srgbClr val="F59E0B">
                  <a:alpha val="2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905000" y="142875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952500"/>
                  </a:lnTo>
                </a:path>
              </a:pathLst>
            </a:custGeom>
            <a:noFill/>
            <a:ln w="2858">
              <a:solidFill>
                <a:srgbClr val="F59E0B">
                  <a:alpha val="2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2857500" y="1714500"/>
              <a:ext cx="952500" cy="666750"/>
            </a:xfrm>
            <a:custGeom>
              <a:avLst/>
              <a:gdLst/>
              <a:ahLst/>
              <a:cxnLst/>
              <a:rect l="l" t="t" r="r" b="b"/>
              <a:pathLst>
                <a:path w="952500" h="666750">
                  <a:moveTo>
                    <a:pt x="0" y="666750"/>
                  </a:moveTo>
                  <a:lnTo>
                    <a:pt x="952500" y="0"/>
                  </a:lnTo>
                </a:path>
              </a:pathLst>
            </a:custGeom>
            <a:noFill/>
            <a:ln w="2858">
              <a:solidFill>
                <a:srgbClr val="F59E0B">
                  <a:alpha val="20000"/>
                </a:srgbClr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76250" y="952500"/>
            <a:ext cx="4286250" cy="1714500"/>
            <a:chOff x="476250" y="952500"/>
            <a:chExt cx="4286250" cy="1714500"/>
          </a:xfrm>
        </p:grpSpPr>
        <p:sp>
          <p:nvSpPr>
            <p:cNvPr id="19" name="Rectangle 19"/>
            <p:cNvSpPr/>
            <p:nvPr/>
          </p:nvSpPr>
          <p:spPr>
            <a:xfrm>
              <a:off x="476250" y="952500"/>
              <a:ext cx="4286250" cy="1714500"/>
            </a:xfrm>
            <a:prstGeom prst="roundRect">
              <a:avLst>
                <a:gd name="adj" fmla="val 6667"/>
              </a:avLst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9605" y="1235392"/>
              <a:ext cx="13934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i="1" dirty="0">
                  <a:solidFill>
                    <a:srgbClr val="F59E0B"/>
                  </a:solidFill>
                  <a:latin typeface="Times New Roman"/>
                  <a:ea typeface="SimSun"/>
                  <a:cs typeface="Times New Roman"/>
                </a:rPr>
                <a:t>"我摸了患者的手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9605" y="15687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i="1" dirty="0">
                  <a:solidFill>
                    <a:srgbClr val="F59E0B"/>
                  </a:solidFill>
                  <a:latin typeface="Times New Roman"/>
                  <a:ea typeface="SimSun"/>
                  <a:cs typeface="Times New Roman"/>
                </a:rPr>
                <a:t>感受到他手心的冷汗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9605" y="1902142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i="1" dirty="0">
                  <a:solidFill>
                    <a:srgbClr val="F59E0B"/>
                  </a:solidFill>
                  <a:latin typeface="Times New Roman"/>
                  <a:ea typeface="SimSun"/>
                  <a:cs typeface="Times New Roman"/>
                </a:rPr>
                <a:t>我才知道他真正害怕的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795" y="2250758"/>
              <a:ext cx="22482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不是病情，而是孤独"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334000" y="839152"/>
            <a:ext cx="4000500" cy="5352098"/>
            <a:chOff x="5334000" y="839152"/>
            <a:chExt cx="4000500" cy="5352098"/>
          </a:xfrm>
        </p:grpSpPr>
        <p:sp>
          <p:nvSpPr>
            <p:cNvPr id="25" name="TextBox 25"/>
            <p:cNvSpPr txBox="1"/>
            <p:nvPr/>
          </p:nvSpPr>
          <p:spPr>
            <a:xfrm>
              <a:off x="5511165" y="8391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第二部分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84495" y="1374458"/>
              <a:ext cx="272634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算法没有体温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84495" y="1945958"/>
              <a:ext cx="140317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59E0B"/>
                  </a:solidFill>
                  <a:latin typeface="Times New Roman"/>
                  <a:ea typeface="SimSun"/>
                  <a:cs typeface="Times New Roman"/>
                </a:rPr>
                <a:t>但人有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524500" y="25717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505450" y="2981325"/>
              <a:ext cx="26084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这就是AI永远无法跨越的鸿沟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01640" y="3329940"/>
              <a:ext cx="15831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59E0B"/>
                  </a:solidFill>
                  <a:latin typeface="Segoe UI"/>
                  <a:ea typeface="Microsoft YaHei"/>
                  <a:cs typeface="Segoe UI"/>
                </a:rPr>
                <a:t>——共情与连接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5467350" y="3918585"/>
              <a:ext cx="1311402" cy="467677"/>
              <a:chOff x="5467350" y="3918585"/>
              <a:chExt cx="1311402" cy="467677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5467350" y="3943350"/>
                <a:ext cx="114300" cy="11430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652135" y="3918585"/>
                <a:ext cx="112661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1D5DB"/>
                    </a:solidFill>
                    <a:latin typeface="Segoe UI"/>
                    <a:ea typeface="Microsoft YaHei"/>
                    <a:cs typeface="Segoe UI"/>
                  </a:rPr>
                  <a:t>AI可以诊断疾病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654040" y="417290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但无法给予安慰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467350" y="4490085"/>
              <a:ext cx="1627537" cy="467677"/>
              <a:chOff x="5467350" y="4490085"/>
              <a:chExt cx="1627537" cy="467677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5467350" y="4514850"/>
                <a:ext cx="114300" cy="11430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652135" y="4490085"/>
                <a:ext cx="112661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1D5DB"/>
                    </a:solidFill>
                    <a:latin typeface="Segoe UI"/>
                    <a:ea typeface="Microsoft YaHei"/>
                    <a:cs typeface="Segoe UI"/>
                  </a:rPr>
                  <a:t>AI可以设计建筑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654040" y="4744402"/>
                <a:ext cx="144084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但无法理解"家"的温度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467350" y="5061585"/>
              <a:ext cx="2453640" cy="467677"/>
              <a:chOff x="5467350" y="5061585"/>
              <a:chExt cx="2453640" cy="467677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5467350" y="5086350"/>
                <a:ext cx="114300" cy="11430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652135" y="5061585"/>
                <a:ext cx="112661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1D5DB"/>
                    </a:solidFill>
                    <a:latin typeface="Segoe UI"/>
                    <a:ea typeface="Microsoft YaHei"/>
                    <a:cs typeface="Segoe UI"/>
                  </a:rPr>
                  <a:t>AI可以生成诗歌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654040" y="531590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但无法经历失恋的痛苦和重逢的喜悦</a:t>
                </a:r>
              </a:p>
            </p:txBody>
          </p:sp>
        </p:grpSp>
        <p:sp>
          <p:nvSpPr>
            <p:cNvPr id="43" name="Rectangle 43"/>
            <p:cNvSpPr/>
            <p:nvPr/>
          </p:nvSpPr>
          <p:spPr>
            <a:xfrm>
              <a:off x="5334000" y="5715000"/>
              <a:ext cx="4000500" cy="476250"/>
            </a:xfrm>
            <a:prstGeom prst="roundRect">
              <a:avLst>
                <a:gd name="adj" fmla="val 16000"/>
              </a:avLst>
            </a:prstGeom>
            <a:noFill/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509260" y="58712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9E0B"/>
                  </a:solidFill>
                  <a:latin typeface="Segoe UI"/>
                  <a:ea typeface="Microsoft YaHei"/>
                  <a:cs typeface="Segoe UI"/>
                </a:rPr>
                <a:t>共情，是人类最珍贵的礼物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0" y="6191250"/>
            <a:ext cx="11612880" cy="340995"/>
            <a:chOff x="0" y="6191250"/>
            <a:chExt cx="11612880" cy="340995"/>
          </a:xfrm>
        </p:grpSpPr>
        <p:sp>
          <p:nvSpPr>
            <p:cNvPr id="46" name="Rectangle 46"/>
            <p:cNvSpPr/>
            <p:nvPr/>
          </p:nvSpPr>
          <p:spPr>
            <a:xfrm>
              <a:off x="0" y="6191250"/>
              <a:ext cx="11612880" cy="34099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930902" y="6332220"/>
              <a:ext cx="17510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AI ERA · HUMAN VALUE · FUTURE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8" grpId="0"/>
      <p:bldP spid="24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1425" r="0" b="21425"/>
          <a:stretch>
            <a:fillRect/>
          </a:stretch>
        </p:blipFill>
        <p:spPr>
          <a:xfrm>
            <a:off x="4762500" y="0"/>
            <a:ext cx="7620000" cy="6532245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6667500" cy="6532245"/>
          </a:xfrm>
          <a:prstGeom prst="rect">
            <a:avLst/>
          </a:prstGeom>
          <a:solidFill>
            <a:srgbClr val="1A1A2E">
              <a:alpha val="9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238750" y="0"/>
            <a:ext cx="2381250" cy="6532245"/>
          </a:xfrm>
          <a:prstGeom prst="rect">
            <a:avLst/>
          </a:prstGeom>
          <a:gradFill>
            <a:gsLst>
              <a:gs pos="0">
                <a:srgbClr val="1A1A2E">
                  <a:alpha val="51000"/>
                </a:srgbClr>
              </a:gs>
              <a:gs pos="100000">
                <a:srgbClr val="16213E">
                  <a:alpha val="51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6191250" y="884872"/>
            <a:ext cx="4762500" cy="4762500"/>
          </a:xfrm>
          <a:prstGeom prst="ellipse">
            <a:avLst/>
          </a:prstGeom>
          <a:noFill/>
          <a:ln>
            <a:noFill/>
          </a:ln>
          <a:effectLst>
            <a:glow rad="238125">
              <a:srgbClr val="000000">
                <a:alpha val="30000"/>
              </a:srgbClr>
            </a:glow>
          </a:effectLst>
        </p:spPr>
      </p:sp>
      <p:grpSp>
        <p:nvGrpSpPr>
          <p:cNvPr id="9" name="Group 9"/>
          <p:cNvGrpSpPr/>
          <p:nvPr/>
        </p:nvGrpSpPr>
        <p:grpSpPr>
          <a:xfrm>
            <a:off x="952500" y="1778000"/>
            <a:ext cx="3810000" cy="1206500"/>
            <a:chOff x="952500" y="1778000"/>
            <a:chExt cx="3810000" cy="1206500"/>
          </a:xfrm>
        </p:grpSpPr>
        <p:sp>
          <p:nvSpPr>
            <p:cNvPr id="6" name="Freeform 6"/>
            <p:cNvSpPr/>
            <p:nvPr/>
          </p:nvSpPr>
          <p:spPr>
            <a:xfrm>
              <a:off x="952500" y="1778000"/>
              <a:ext cx="3810000" cy="254000"/>
            </a:xfrm>
            <a:custGeom>
              <a:avLst/>
              <a:gdLst/>
              <a:ahLst/>
              <a:cxnLst/>
              <a:rect l="l" t="t" r="r" b="b"/>
              <a:pathLst>
                <a:path w="3810000" h="254000">
                  <a:moveTo>
                    <a:pt x="0" y="127000"/>
                  </a:moveTo>
                  <a:cubicBezTo>
                    <a:pt x="635000" y="0"/>
                    <a:pt x="1270000" y="0"/>
                    <a:pt x="1905000" y="127000"/>
                  </a:cubicBezTo>
                  <a:cubicBezTo>
                    <a:pt x="2540000" y="254000"/>
                    <a:pt x="3175000" y="254000"/>
                    <a:pt x="3810000" y="127000"/>
                  </a:cubicBezTo>
                </a:path>
              </a:pathLst>
            </a:custGeom>
            <a:noFill/>
            <a:ln w="9525">
              <a:solidFill>
                <a:srgbClr val="F59E0B">
                  <a:alpha val="15000"/>
                </a:srgb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952500" y="2254250"/>
              <a:ext cx="3810000" cy="254000"/>
            </a:xfrm>
            <a:custGeom>
              <a:avLst/>
              <a:gdLst/>
              <a:ahLst/>
              <a:cxnLst/>
              <a:rect l="l" t="t" r="r" b="b"/>
              <a:pathLst>
                <a:path w="3810000" h="254000">
                  <a:moveTo>
                    <a:pt x="0" y="127000"/>
                  </a:moveTo>
                  <a:cubicBezTo>
                    <a:pt x="635000" y="0"/>
                    <a:pt x="1270000" y="0"/>
                    <a:pt x="1905000" y="127000"/>
                  </a:cubicBezTo>
                  <a:cubicBezTo>
                    <a:pt x="2540000" y="254000"/>
                    <a:pt x="3175000" y="254000"/>
                    <a:pt x="3810000" y="127000"/>
                  </a:cubicBezTo>
                </a:path>
              </a:pathLst>
            </a:custGeom>
            <a:noFill/>
            <a:ln w="9525">
              <a:solidFill>
                <a:srgbClr val="F59E0B">
                  <a:alpha val="15000"/>
                </a:srgb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952500" y="2730500"/>
              <a:ext cx="3810000" cy="254000"/>
            </a:xfrm>
            <a:custGeom>
              <a:avLst/>
              <a:gdLst/>
              <a:ahLst/>
              <a:cxnLst/>
              <a:rect l="l" t="t" r="r" b="b"/>
              <a:pathLst>
                <a:path w="3810000" h="254000">
                  <a:moveTo>
                    <a:pt x="0" y="127000"/>
                  </a:moveTo>
                  <a:cubicBezTo>
                    <a:pt x="635000" y="0"/>
                    <a:pt x="1270000" y="0"/>
                    <a:pt x="1905000" y="127000"/>
                  </a:cubicBezTo>
                  <a:cubicBezTo>
                    <a:pt x="2540000" y="254000"/>
                    <a:pt x="3175000" y="254000"/>
                    <a:pt x="3810000" y="127000"/>
                  </a:cubicBezTo>
                </a:path>
              </a:pathLst>
            </a:custGeom>
            <a:noFill/>
            <a:ln w="9525">
              <a:solidFill>
                <a:srgbClr val="F59E0B">
                  <a:alpha val="15000"/>
                </a:srgb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143000" y="1143000"/>
            <a:ext cx="4476750" cy="8620125"/>
            <a:chOff x="1143000" y="1143000"/>
            <a:chExt cx="4476750" cy="8620125"/>
          </a:xfrm>
        </p:grpSpPr>
        <p:sp>
          <p:nvSpPr>
            <p:cNvPr id="10" name="Freeform 10"/>
            <p:cNvSpPr/>
            <p:nvPr/>
          </p:nvSpPr>
          <p:spPr>
            <a:xfrm>
              <a:off x="1143000" y="1143000"/>
              <a:ext cx="571500" cy="762000"/>
            </a:xfrm>
            <a:custGeom>
              <a:avLst/>
              <a:gdLst/>
              <a:ahLst/>
              <a:cxnLst/>
              <a:rect l="l" t="t" r="r" b="b"/>
              <a:pathLst>
                <a:path w="571500" h="762000">
                  <a:moveTo>
                    <a:pt x="285750" y="285750"/>
                  </a:moveTo>
                  <a:cubicBezTo>
                    <a:pt x="285750" y="0"/>
                    <a:pt x="571500" y="0"/>
                    <a:pt x="571500" y="285750"/>
                  </a:cubicBezTo>
                  <a:cubicBezTo>
                    <a:pt x="571500" y="571500"/>
                    <a:pt x="285750" y="762000"/>
                    <a:pt x="285750" y="762000"/>
                  </a:cubicBezTo>
                  <a:cubicBezTo>
                    <a:pt x="285750" y="762000"/>
                    <a:pt x="0" y="571500"/>
                    <a:pt x="0" y="285750"/>
                  </a:cubicBezTo>
                  <a:cubicBezTo>
                    <a:pt x="0" y="0"/>
                    <a:pt x="285750" y="0"/>
                    <a:pt x="285750" y="285750"/>
                  </a:cubicBezTo>
                </a:path>
              </a:pathLst>
            </a:custGeom>
            <a:solidFill>
              <a:srgbClr val="F59E0B">
                <a:alpha val="20000"/>
              </a:srgb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238750" y="5238750"/>
              <a:ext cx="381000" cy="523875"/>
            </a:xfrm>
            <a:custGeom>
              <a:avLst/>
              <a:gdLst/>
              <a:ahLst/>
              <a:cxnLst/>
              <a:rect l="l" t="t" r="r" b="b"/>
              <a:pathLst>
                <a:path w="381000" h="523875">
                  <a:moveTo>
                    <a:pt x="190500" y="190500"/>
                  </a:moveTo>
                  <a:cubicBezTo>
                    <a:pt x="190500" y="0"/>
                    <a:pt x="381000" y="0"/>
                    <a:pt x="381000" y="190500"/>
                  </a:cubicBezTo>
                  <a:cubicBezTo>
                    <a:pt x="381000" y="381000"/>
                    <a:pt x="190500" y="523875"/>
                    <a:pt x="190500" y="523875"/>
                  </a:cubicBezTo>
                  <a:cubicBezTo>
                    <a:pt x="190500" y="523875"/>
                    <a:pt x="0" y="381000"/>
                    <a:pt x="0" y="190500"/>
                  </a:cubicBezTo>
                  <a:cubicBezTo>
                    <a:pt x="0" y="0"/>
                    <a:pt x="190500" y="0"/>
                    <a:pt x="190500" y="190500"/>
                  </a:cubicBezTo>
                </a:path>
              </a:pathLst>
            </a:custGeom>
            <a:solidFill>
              <a:srgbClr val="F59E0B">
                <a:alpha val="20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4619625" y="9382125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142875" y="142875"/>
                  </a:moveTo>
                  <a:cubicBezTo>
                    <a:pt x="142875" y="0"/>
                    <a:pt x="285750" y="0"/>
                    <a:pt x="285750" y="142875"/>
                  </a:cubicBezTo>
                  <a:cubicBezTo>
                    <a:pt x="285750" y="285750"/>
                    <a:pt x="142875" y="381000"/>
                    <a:pt x="142875" y="381000"/>
                  </a:cubicBezTo>
                  <a:cubicBezTo>
                    <a:pt x="142875" y="381000"/>
                    <a:pt x="0" y="285750"/>
                    <a:pt x="0" y="142875"/>
                  </a:cubicBezTo>
                  <a:cubicBezTo>
                    <a:pt x="0" y="0"/>
                    <a:pt x="142875" y="0"/>
                    <a:pt x="142875" y="142875"/>
                  </a:cubicBezTo>
                </a:path>
              </a:pathLst>
            </a:custGeom>
            <a:solidFill>
              <a:srgbClr val="F59E0B">
                <a:alpha val="20000"/>
              </a:srgbClr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876300" y="2781300"/>
            <a:ext cx="2057400" cy="2057400"/>
            <a:chOff x="876300" y="2781300"/>
            <a:chExt cx="2057400" cy="2057400"/>
          </a:xfrm>
        </p:grpSpPr>
        <p:sp>
          <p:nvSpPr>
            <p:cNvPr id="14" name="Ellipse 14"/>
            <p:cNvSpPr/>
            <p:nvPr/>
          </p:nvSpPr>
          <p:spPr>
            <a:xfrm>
              <a:off x="876300" y="3733800"/>
              <a:ext cx="152400" cy="152400"/>
            </a:xfrm>
            <a:prstGeom prst="ellipse">
              <a:avLst/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847850" y="3276600"/>
              <a:ext cx="114300" cy="114300"/>
            </a:xfrm>
            <a:prstGeom prst="ellipse">
              <a:avLst/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847850" y="4229100"/>
              <a:ext cx="114300" cy="114300"/>
            </a:xfrm>
            <a:prstGeom prst="ellipse">
              <a:avLst/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2781300" y="2781300"/>
              <a:ext cx="152400" cy="152400"/>
            </a:xfrm>
            <a:prstGeom prst="ellipse">
              <a:avLst/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800350" y="3752850"/>
              <a:ext cx="114300" cy="114300"/>
            </a:xfrm>
            <a:prstGeom prst="ellipse">
              <a:avLst/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2781300" y="4686300"/>
              <a:ext cx="152400" cy="152400"/>
            </a:xfrm>
            <a:prstGeom prst="ellipse">
              <a:avLst/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952500" y="333375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476250"/>
                  </a:moveTo>
                  <a:lnTo>
                    <a:pt x="952500" y="0"/>
                  </a:lnTo>
                </a:path>
              </a:pathLst>
            </a:custGeom>
            <a:noFill/>
            <a:ln w="4762">
              <a:solidFill>
                <a:srgbClr val="F59E0B">
                  <a:alpha val="1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952500" y="381000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0"/>
                  </a:moveTo>
                  <a:lnTo>
                    <a:pt x="952500" y="476250"/>
                  </a:lnTo>
                </a:path>
              </a:pathLst>
            </a:custGeom>
            <a:noFill/>
            <a:ln w="4762">
              <a:solidFill>
                <a:srgbClr val="F59E0B">
                  <a:alpha val="1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905000" y="285750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476250"/>
                  </a:moveTo>
                  <a:lnTo>
                    <a:pt x="952500" y="0"/>
                  </a:lnTo>
                </a:path>
              </a:pathLst>
            </a:custGeom>
            <a:noFill/>
            <a:ln w="4762">
              <a:solidFill>
                <a:srgbClr val="F59E0B">
                  <a:alpha val="1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905000" y="333375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0"/>
                  </a:moveTo>
                  <a:lnTo>
                    <a:pt x="952500" y="476250"/>
                  </a:lnTo>
                </a:path>
              </a:pathLst>
            </a:custGeom>
            <a:noFill/>
            <a:ln w="4762">
              <a:solidFill>
                <a:srgbClr val="F59E0B">
                  <a:alpha val="1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905000" y="381000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476250"/>
                  </a:moveTo>
                  <a:lnTo>
                    <a:pt x="952500" y="0"/>
                  </a:lnTo>
                </a:path>
              </a:pathLst>
            </a:custGeom>
            <a:noFill/>
            <a:ln w="4762">
              <a:solidFill>
                <a:srgbClr val="F59E0B">
                  <a:alpha val="1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905000" y="428625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0"/>
                  </a:moveTo>
                  <a:lnTo>
                    <a:pt x="952500" y="476250"/>
                  </a:lnTo>
                </a:path>
              </a:pathLst>
            </a:custGeom>
            <a:noFill/>
            <a:ln w="4762">
              <a:solidFill>
                <a:srgbClr val="F59E0B">
                  <a:alpha val="10000"/>
                </a:srgbClr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71500" y="839152"/>
            <a:ext cx="4572000" cy="5275898"/>
            <a:chOff x="571500" y="839152"/>
            <a:chExt cx="4572000" cy="5275898"/>
          </a:xfrm>
        </p:grpSpPr>
        <p:sp>
          <p:nvSpPr>
            <p:cNvPr id="27" name="TextBox 27"/>
            <p:cNvSpPr txBox="1"/>
            <p:nvPr/>
          </p:nvSpPr>
          <p:spPr>
            <a:xfrm>
              <a:off x="748665" y="8391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人的情感堡垒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1995" y="1374458"/>
              <a:ext cx="316739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我们人类的大脑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1995" y="1945958"/>
              <a:ext cx="404950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59E0B"/>
                  </a:solidFill>
                  <a:latin typeface="Times New Roman"/>
                  <a:ea typeface="SimSun"/>
                  <a:cs typeface="Times New Roman"/>
                </a:rPr>
                <a:t>不仅是逻辑的计算机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1995" y="2517458"/>
              <a:ext cx="360845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更是情感的共振器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3143250"/>
              <a:ext cx="952500" cy="285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85800" y="3505200"/>
              <a:ext cx="1769745" cy="561975"/>
              <a:chOff x="685800" y="3505200"/>
              <a:chExt cx="1769745" cy="561975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685800" y="3543300"/>
                <a:ext cx="152400" cy="1524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81075" y="3505200"/>
                <a:ext cx="4381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感性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84885" y="3823335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1D5DB"/>
                    </a:solidFill>
                    <a:latin typeface="Segoe UI"/>
                    <a:ea typeface="Microsoft YaHei"/>
                    <a:cs typeface="Segoe UI"/>
                  </a:rPr>
                  <a:t>超越数据的情感体验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85800" y="4076700"/>
              <a:ext cx="1769745" cy="561975"/>
              <a:chOff x="685800" y="4076700"/>
              <a:chExt cx="1769745" cy="561975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685800" y="4114800"/>
                <a:ext cx="152400" cy="1524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981075" y="4076700"/>
                <a:ext cx="4381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直觉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84885" y="4394835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1D5DB"/>
                    </a:solidFill>
                    <a:latin typeface="Segoe UI"/>
                    <a:ea typeface="Microsoft YaHei"/>
                    <a:cs typeface="Segoe UI"/>
                  </a:rPr>
                  <a:t>无需推理的瞬间洞察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85800" y="4648200"/>
              <a:ext cx="1769745" cy="561975"/>
              <a:chOff x="685800" y="4648200"/>
              <a:chExt cx="1769745" cy="561975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685800" y="4686300"/>
                <a:ext cx="152400" cy="1524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81075" y="4648200"/>
                <a:ext cx="6381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同理心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84885" y="4966335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1D5DB"/>
                    </a:solidFill>
                    <a:latin typeface="Segoe UI"/>
                    <a:ea typeface="Microsoft YaHei"/>
                    <a:cs typeface="Segoe UI"/>
                  </a:rPr>
                  <a:t>理解他人感受的能力</a:t>
                </a:r>
              </a:p>
            </p:txBody>
          </p:sp>
        </p:grpSp>
        <p:sp>
          <p:nvSpPr>
            <p:cNvPr id="44" name="Rectangle 44"/>
            <p:cNvSpPr/>
            <p:nvPr/>
          </p:nvSpPr>
          <p:spPr>
            <a:xfrm>
              <a:off x="571500" y="5429250"/>
              <a:ext cx="4572000" cy="666750"/>
            </a:xfrm>
            <a:prstGeom prst="roundRect">
              <a:avLst>
                <a:gd name="adj" fmla="val 14286"/>
              </a:avLst>
            </a:prstGeom>
            <a:noFill/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6760" y="55854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rgbClr val="F59E0B"/>
                  </a:solidFill>
                  <a:latin typeface="Segoe UI"/>
                  <a:ea typeface="Microsoft YaHei"/>
                  <a:cs typeface="Segoe UI"/>
                </a:rPr>
                <a:t>在这个冷冰冰的数据时代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6760" y="587121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这些将是我们最后的、也是最坚固的堡垒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667500" y="1047750"/>
            <a:ext cx="2667000" cy="4191000"/>
            <a:chOff x="6667500" y="1047750"/>
            <a:chExt cx="2667000" cy="4191000"/>
          </a:xfrm>
        </p:grpSpPr>
        <p:sp>
          <p:nvSpPr>
            <p:cNvPr id="48" name="Ellipse 48"/>
            <p:cNvSpPr/>
            <p:nvPr/>
          </p:nvSpPr>
          <p:spPr>
            <a:xfrm>
              <a:off x="7239000" y="1047750"/>
              <a:ext cx="762000" cy="762000"/>
            </a:xfrm>
            <a:prstGeom prst="ellipse">
              <a:avLst/>
            </a:prstGeom>
            <a:noFill/>
            <a:ln w="4762">
              <a:solidFill>
                <a:srgbClr val="F59E0B">
                  <a:alpha val="30000"/>
                </a:srgbClr>
              </a:solidFill>
              <a:custDash>
                <a:ds d="1200000" sp="1200000"/>
              </a:custDash>
            </a:ln>
          </p:spPr>
        </p:sp>
        <p:sp>
          <p:nvSpPr>
            <p:cNvPr id="49" name="Ellipse 49"/>
            <p:cNvSpPr/>
            <p:nvPr/>
          </p:nvSpPr>
          <p:spPr>
            <a:xfrm>
              <a:off x="8763000" y="2571750"/>
              <a:ext cx="571500" cy="571500"/>
            </a:xfrm>
            <a:prstGeom prst="ellipse">
              <a:avLst/>
            </a:prstGeom>
            <a:noFill/>
            <a:ln w="4762">
              <a:solidFill>
                <a:srgbClr val="F59E0B">
                  <a:alpha val="30000"/>
                </a:srgbClr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7620000" y="4286250"/>
              <a:ext cx="952500" cy="952500"/>
            </a:xfrm>
            <a:prstGeom prst="ellipse">
              <a:avLst/>
            </a:prstGeom>
            <a:noFill/>
            <a:ln w="4762">
              <a:solidFill>
                <a:srgbClr val="F59E0B">
                  <a:alpha val="30000"/>
                </a:srgbClr>
              </a:solidFill>
              <a:custDash>
                <a:ds d="1600000" sp="1600000"/>
              </a:custDash>
            </a:ln>
          </p:spPr>
        </p:sp>
        <p:sp>
          <p:nvSpPr>
            <p:cNvPr id="51" name="Line 51"/>
            <p:cNvSpPr/>
            <p:nvPr/>
          </p:nvSpPr>
          <p:spPr>
            <a:xfrm>
              <a:off x="6667500" y="142875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476250"/>
                  </a:moveTo>
                  <a:lnTo>
                    <a:pt x="952500" y="0"/>
                  </a:lnTo>
                </a:path>
              </a:pathLst>
            </a:custGeom>
            <a:noFill/>
            <a:ln w="4762">
              <a:solidFill>
                <a:srgbClr val="F59E0B">
                  <a:alpha val="30000"/>
                </a:srgbClr>
              </a:solidFill>
              <a:prstDash val="dash"/>
            </a:ln>
          </p:spPr>
        </p:sp>
        <p:sp>
          <p:nvSpPr>
            <p:cNvPr id="52" name="Line 52"/>
            <p:cNvSpPr/>
            <p:nvPr/>
          </p:nvSpPr>
          <p:spPr>
            <a:xfrm>
              <a:off x="7143750" y="2857500"/>
              <a:ext cx="1905000" cy="476250"/>
            </a:xfrm>
            <a:custGeom>
              <a:avLst/>
              <a:gdLst/>
              <a:ahLst/>
              <a:cxnLst/>
              <a:rect l="l" t="t" r="r" b="b"/>
              <a:pathLst>
                <a:path w="1905000" h="476250">
                  <a:moveTo>
                    <a:pt x="0" y="476250"/>
                  </a:moveTo>
                  <a:lnTo>
                    <a:pt x="1905000" y="0"/>
                  </a:lnTo>
                </a:path>
              </a:pathLst>
            </a:custGeom>
            <a:noFill/>
            <a:ln w="4762">
              <a:solidFill>
                <a:srgbClr val="F59E0B">
                  <a:alpha val="30000"/>
                </a:srgbClr>
              </a:solidFill>
              <a:prstDash val="dash"/>
            </a:ln>
          </p:spPr>
        </p:sp>
        <p:sp>
          <p:nvSpPr>
            <p:cNvPr id="53" name="Line 53"/>
            <p:cNvSpPr/>
            <p:nvPr/>
          </p:nvSpPr>
          <p:spPr>
            <a:xfrm>
              <a:off x="6667500" y="476250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4762">
              <a:solidFill>
                <a:srgbClr val="F59E0B">
                  <a:alpha val="30000"/>
                </a:srgbClr>
              </a:solidFill>
              <a:prstDash val="dash"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0" y="6191250"/>
            <a:ext cx="11612880" cy="340995"/>
            <a:chOff x="0" y="6191250"/>
            <a:chExt cx="11612880" cy="340995"/>
          </a:xfrm>
        </p:grpSpPr>
        <p:sp>
          <p:nvSpPr>
            <p:cNvPr id="55" name="Rectangle 55"/>
            <p:cNvSpPr/>
            <p:nvPr/>
          </p:nvSpPr>
          <p:spPr>
            <a:xfrm>
              <a:off x="0" y="6191250"/>
              <a:ext cx="11612880" cy="34099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930902" y="6332220"/>
              <a:ext cx="17510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AI ERA · HUMAN VALUE · FUTURE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26" grpId="0"/>
      <p:bldP spid="47" grpId="0"/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7786" r="0" b="7786"/>
          <a:stretch>
            <a:fillRect/>
          </a:stretch>
        </p:blipFill>
        <p:spPr>
          <a:xfrm>
            <a:off x="0" y="0"/>
            <a:ext cx="11612880" cy="6532245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7620000" cy="6532245"/>
          </a:xfrm>
          <a:prstGeom prst="rect">
            <a:avLst/>
          </a:prstGeom>
          <a:solidFill>
            <a:srgbClr val="1A1A2E">
              <a:alpha val="9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6191250" y="0"/>
            <a:ext cx="2381250" cy="6532245"/>
          </a:xfrm>
          <a:prstGeom prst="rect">
            <a:avLst/>
          </a:prstGeom>
          <a:gradFill>
            <a:gsLst>
              <a:gs pos="0">
                <a:srgbClr val="1A1A2E">
                  <a:alpha val="54000"/>
                </a:srgbClr>
              </a:gs>
              <a:gs pos="100000">
                <a:srgbClr val="16213E">
                  <a:alpha val="54000"/>
                </a:srgbClr>
              </a:gs>
            </a:gsLst>
            <a:lin ang="2700000" scaled="1"/>
          </a:gra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7429500" y="1809750"/>
            <a:ext cx="4191000" cy="3905250"/>
            <a:chOff x="7429500" y="1809750"/>
            <a:chExt cx="4191000" cy="3905250"/>
          </a:xfrm>
        </p:grpSpPr>
        <p:sp>
          <p:nvSpPr>
            <p:cNvPr id="5" name="Ellipse 5"/>
            <p:cNvSpPr/>
            <p:nvPr/>
          </p:nvSpPr>
          <p:spPr>
            <a:xfrm>
              <a:off x="7620000" y="1905000"/>
              <a:ext cx="3810000" cy="3810000"/>
            </a:xfrm>
            <a:prstGeom prst="ellipse">
              <a:avLst/>
            </a:prstGeom>
            <a:noFill/>
            <a:ln>
              <a:noFill/>
            </a:ln>
            <a:effectLst>
              <a:glow rad="190500">
                <a:srgbClr val="000000">
                  <a:alpha val="30000"/>
                </a:srgbClr>
              </a:glow>
            </a:effectLst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29500" y="1842373"/>
              <a:ext cx="4191000" cy="2792254"/>
            </a:xfrm>
            <a:prstGeom prst="rect">
              <a:avLst/>
            </a:prstGeom>
          </p:spPr>
        </p:pic>
        <p:grpSp>
          <p:nvGrpSpPr>
            <p:cNvPr id="10" name="Group 10"/>
            <p:cNvGrpSpPr/>
            <p:nvPr/>
          </p:nvGrpSpPr>
          <p:grpSpPr>
            <a:xfrm>
              <a:off x="8001000" y="1809750"/>
              <a:ext cx="2428875" cy="3286125"/>
              <a:chOff x="8001000" y="1809750"/>
              <a:chExt cx="2428875" cy="328612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8001000" y="1809750"/>
                <a:ext cx="1143000" cy="1143000"/>
              </a:xfrm>
              <a:prstGeom prst="ellipse">
                <a:avLst/>
              </a:prstGeom>
              <a:noFill/>
              <a:ln w="9525">
                <a:solidFill>
                  <a:srgbClr val="6B7280">
                    <a:alpha val="15000"/>
                  </a:srgbClr>
                </a:solidFill>
                <a:custDash>
                  <a:ds d="800000" sp="800000"/>
                </a:custDash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9572625" y="2905125"/>
                <a:ext cx="857250" cy="857250"/>
              </a:xfrm>
              <a:prstGeom prst="ellipse">
                <a:avLst/>
              </a:prstGeom>
              <a:noFill/>
              <a:ln w="9525">
                <a:solidFill>
                  <a:srgbClr val="6B7280">
                    <a:alpha val="15000"/>
                  </a:srgbClr>
                </a:solidFill>
                <a:custDash>
                  <a:ds d="600000" sp="600000"/>
                </a:custDash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8715375" y="4429125"/>
                <a:ext cx="666750" cy="666750"/>
              </a:xfrm>
              <a:prstGeom prst="ellipse">
                <a:avLst/>
              </a:prstGeom>
              <a:noFill/>
              <a:ln w="9525">
                <a:solidFill>
                  <a:srgbClr val="6B7280">
                    <a:alpha val="15000"/>
                  </a:srgbClr>
                </a:solidFill>
                <a:prstDash val="dash"/>
              </a:ln>
            </p:spPr>
          </p:sp>
        </p:grpSp>
      </p:grpSp>
      <p:grpSp>
        <p:nvGrpSpPr>
          <p:cNvPr id="40" name="Group 40"/>
          <p:cNvGrpSpPr/>
          <p:nvPr/>
        </p:nvGrpSpPr>
        <p:grpSpPr>
          <a:xfrm>
            <a:off x="857250" y="1905000"/>
            <a:ext cx="5905500" cy="1981200"/>
            <a:chOff x="857250" y="1905000"/>
            <a:chExt cx="5905500" cy="1981200"/>
          </a:xfrm>
        </p:grpSpPr>
        <p:sp>
          <p:nvSpPr>
            <p:cNvPr id="12" name="Line 12"/>
            <p:cNvSpPr/>
            <p:nvPr/>
          </p:nvSpPr>
          <p:spPr>
            <a:xfrm>
              <a:off x="1143000" y="36195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38100" cap="rnd">
              <a:gradFill>
                <a:gsLst>
                  <a:gs pos="0">
                    <a:srgbClr val="6B7280">
                      <a:alpha val="40000"/>
                    </a:srgbClr>
                  </a:gs>
                  <a:gs pos="50000">
                    <a:srgbClr val="F59E0B">
                      <a:alpha val="40000"/>
                    </a:srgbClr>
                  </a:gs>
                  <a:gs pos="100000">
                    <a:srgbClr val="3B82F6">
                      <a:alpha val="40000"/>
                    </a:srgbClr>
                  </a:gs>
                </a:gsLst>
                <a:lin ang="0" scaled="1"/>
              </a:gra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57250" y="2190750"/>
              <a:ext cx="1714500" cy="1638300"/>
              <a:chOff x="857250" y="2190750"/>
              <a:chExt cx="1714500" cy="163830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504950" y="3409950"/>
                <a:ext cx="419100" cy="419100"/>
              </a:xfrm>
              <a:prstGeom prst="ellipse">
                <a:avLst/>
              </a:prstGeom>
              <a:solidFill>
                <a:srgbClr val="1A1A2E"/>
              </a:solidFill>
              <a:ln w="28575">
                <a:solidFill>
                  <a:srgbClr val="6B7280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1638300" y="3543300"/>
                <a:ext cx="152400" cy="152400"/>
              </a:xfrm>
              <a:prstGeom prst="ellipse">
                <a:avLst/>
              </a:prstGeom>
              <a:solidFill>
                <a:srgbClr val="6B7280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857250" y="2190750"/>
                <a:ext cx="1714500" cy="1047750"/>
              </a:xfrm>
              <a:prstGeom prst="roundRect">
                <a:avLst>
                  <a:gd name="adj" fmla="val 9091"/>
                </a:avLst>
              </a:prstGeom>
              <a:noFill/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31487" y="2346008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6B7280"/>
                    </a:solidFill>
                    <a:latin typeface="Consolas"/>
                    <a:ea typeface="Microsoft YaHei"/>
                    <a:cs typeface="Consolas"/>
                  </a:rPr>
                  <a:t>工业时代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04103" y="2648902"/>
                <a:ext cx="102079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D1D5DB"/>
                    </a:solidFill>
                    <a:latin typeface="Segoe UI"/>
                    <a:ea typeface="Microsoft YaHei"/>
                    <a:cs typeface="Segoe UI"/>
                  </a:rPr>
                  <a:t>人变成"螺丝钉"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41095" y="2887028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D1D5DB"/>
                    </a:solidFill>
                    <a:latin typeface="Segoe UI"/>
                    <a:ea typeface="Microsoft YaHei"/>
                    <a:cs typeface="Segoe UI"/>
                  </a:rPr>
                  <a:t>重复、精准、听话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559623" y="3139440"/>
                <a:ext cx="3097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6B7280"/>
                    </a:solidFill>
                    <a:latin typeface="Segoe UI"/>
                    <a:ea typeface="Segoe UI"/>
                    <a:cs typeface="Segoe UI"/>
                  </a:rPr>
                  <a:t>⚙️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2857500" y="1905000"/>
              <a:ext cx="1905000" cy="1981200"/>
              <a:chOff x="2857500" y="1905000"/>
              <a:chExt cx="1905000" cy="198120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3543300" y="3352800"/>
                <a:ext cx="533400" cy="533400"/>
              </a:xfrm>
              <a:prstGeom prst="ellipse">
                <a:avLst/>
              </a:prstGeom>
              <a:solidFill>
                <a:srgbClr val="1A1A2E"/>
              </a:solidFill>
              <a:ln w="38100">
                <a:solidFill>
                  <a:srgbClr val="F59E0B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3714750" y="3524250"/>
                <a:ext cx="190500" cy="1905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2857500" y="1905000"/>
                <a:ext cx="1905000" cy="1143000"/>
              </a:xfrm>
              <a:prstGeom prst="roundRect">
                <a:avLst>
                  <a:gd name="adj" fmla="val 8333"/>
                </a:avLst>
              </a:prstGeom>
              <a:noFill/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427995" y="2044065"/>
                <a:ext cx="76401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59E0B"/>
                    </a:solidFill>
                    <a:latin typeface="Consolas"/>
                    <a:ea typeface="Microsoft YaHei"/>
                    <a:cs typeface="Consolas"/>
                  </a:rPr>
                  <a:t>AI时代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420666" y="2402681"/>
                <a:ext cx="7786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人类被解放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195638" y="26408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从繁琐重复中自由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706320" y="3011805"/>
                <a:ext cx="2073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dirty="0">
                    <a:solidFill>
                      <a:srgbClr val="F59E0B"/>
                    </a:solidFill>
                    <a:latin typeface="Segoe UI"/>
                    <a:ea typeface="Segoe UI"/>
                    <a:cs typeface="Segoe UI"/>
                  </a:rPr>
                  <a:t>🤖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048250" y="2190750"/>
              <a:ext cx="1714500" cy="1638300"/>
              <a:chOff x="5048250" y="2190750"/>
              <a:chExt cx="1714500" cy="1638300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5695950" y="3409950"/>
                <a:ext cx="419100" cy="419100"/>
              </a:xfrm>
              <a:prstGeom prst="ellipse">
                <a:avLst/>
              </a:prstGeom>
              <a:solidFill>
                <a:srgbClr val="1A1A2E"/>
              </a:solidFill>
              <a:ln w="28575">
                <a:solidFill>
                  <a:srgbClr val="3B82F6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5829300" y="3543300"/>
                <a:ext cx="152400" cy="15240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048250" y="2190750"/>
                <a:ext cx="1714500" cy="1047750"/>
              </a:xfrm>
              <a:prstGeom prst="roundRect">
                <a:avLst>
                  <a:gd name="adj" fmla="val 9091"/>
                </a:avLst>
              </a:prstGeom>
              <a:noFill/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653516" y="2346008"/>
                <a:ext cx="5039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3B82F6"/>
                    </a:solidFill>
                    <a:latin typeface="Consolas"/>
                    <a:ea typeface="Microsoft YaHei"/>
                    <a:cs typeface="Consolas"/>
                  </a:rPr>
                  <a:t>未来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542121" y="264890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D1D5DB"/>
                    </a:solidFill>
                    <a:latin typeface="Segoe UI"/>
                    <a:ea typeface="Microsoft YaHei"/>
                    <a:cs typeface="Segoe UI"/>
                  </a:rPr>
                  <a:t>唤醒好奇心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262086" y="2887028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D1D5DB"/>
                    </a:solidFill>
                    <a:latin typeface="Segoe UI"/>
                    <a:ea typeface="Microsoft YaHei"/>
                    <a:cs typeface="Segoe UI"/>
                  </a:rPr>
                  <a:t>比拼洞察力和创造力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816632" y="3139440"/>
                <a:ext cx="1777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rgbClr val="3B82F6"/>
                    </a:solidFill>
                    <a:latin typeface="Segoe UI"/>
                    <a:ea typeface="Segoe UI"/>
                    <a:cs typeface="Segoe UI"/>
                  </a:rPr>
                  <a:t>🌟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2571750" y="3619500"/>
              <a:ext cx="2476500" cy="9525"/>
              <a:chOff x="2571750" y="3619500"/>
              <a:chExt cx="2476500" cy="9525"/>
            </a:xfrm>
          </p:grpSpPr>
          <p:sp>
            <p:nvSpPr>
              <p:cNvPr id="37" name="Line 37"/>
              <p:cNvSpPr/>
              <p:nvPr/>
            </p:nvSpPr>
            <p:spPr>
              <a:xfrm>
                <a:off x="2571750" y="3619500"/>
                <a:ext cx="285750" cy="1"/>
              </a:xfrm>
              <a:prstGeom prst="line">
                <a:avLst/>
              </a:prstGeom>
              <a:noFill/>
              <a:ln w="19050">
                <a:solidFill>
                  <a:srgbClr val="F59E0B">
                    <a:alpha val="40000"/>
                  </a:srgbClr>
                </a:solidFill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4762500" y="361950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3B82F6">
                    <a:alpha val="40000"/>
                  </a:srgbClr>
                </a:solidFill>
              </a:ln>
            </p:spPr>
          </p:sp>
        </p:grpSp>
      </p:grpSp>
      <p:grpSp>
        <p:nvGrpSpPr>
          <p:cNvPr id="57" name="Group 57"/>
          <p:cNvGrpSpPr/>
          <p:nvPr/>
        </p:nvGrpSpPr>
        <p:grpSpPr>
          <a:xfrm>
            <a:off x="571500" y="648652"/>
            <a:ext cx="5238750" cy="5718810"/>
            <a:chOff x="571500" y="648652"/>
            <a:chExt cx="5238750" cy="5718810"/>
          </a:xfrm>
        </p:grpSpPr>
        <p:sp>
          <p:nvSpPr>
            <p:cNvPr id="41" name="TextBox 41"/>
            <p:cNvSpPr txBox="1"/>
            <p:nvPr/>
          </p:nvSpPr>
          <p:spPr>
            <a:xfrm>
              <a:off x="748665" y="6486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第三部分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1995" y="1183958"/>
              <a:ext cx="413771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从"工具人"回归"人"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2000" y="1809750"/>
              <a:ext cx="952500" cy="285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2950" y="212407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9E0B"/>
                  </a:solidFill>
                  <a:latin typeface="Segoe UI"/>
                  <a:ea typeface="Microsoft YaHei"/>
                  <a:cs typeface="Segoe UI"/>
                </a:rPr>
                <a:t>这是一个祛魅的过程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714375" y="4490085"/>
              <a:ext cx="2125980" cy="243840"/>
              <a:chOff x="714375" y="4490085"/>
              <a:chExt cx="2125980" cy="243840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714375" y="4524375"/>
                <a:ext cx="95250" cy="9525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889635" y="4490085"/>
                <a:ext cx="19507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以前，掌握知识的人是权威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14375" y="4871085"/>
              <a:ext cx="2101977" cy="243840"/>
              <a:chOff x="714375" y="4871085"/>
              <a:chExt cx="2101977" cy="243840"/>
            </a:xfrm>
          </p:grpSpPr>
          <p:sp>
            <p:nvSpPr>
              <p:cNvPr id="48" name="Ellipse 48"/>
              <p:cNvSpPr/>
              <p:nvPr/>
            </p:nvSpPr>
            <p:spPr>
              <a:xfrm>
                <a:off x="714375" y="4905375"/>
                <a:ext cx="95250" cy="9525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89635" y="4871085"/>
                <a:ext cx="192671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现在，AI上知天文下知地理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14375" y="5252085"/>
              <a:ext cx="1965960" cy="243840"/>
              <a:chOff x="714375" y="5252085"/>
              <a:chExt cx="1965960" cy="243840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714375" y="5286375"/>
                <a:ext cx="95250" cy="9525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889635" y="5252085"/>
                <a:ext cx="17907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未来，教育是唤醒好奇心</a:t>
                </a:r>
              </a:p>
            </p:txBody>
          </p:sp>
        </p:grpSp>
        <p:sp>
          <p:nvSpPr>
            <p:cNvPr id="54" name="Rectangle 54"/>
            <p:cNvSpPr/>
            <p:nvPr/>
          </p:nvSpPr>
          <p:spPr>
            <a:xfrm>
              <a:off x="571500" y="5715000"/>
              <a:ext cx="5238750" cy="5715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6760" y="5871210"/>
              <a:ext cx="25667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我们要做的，不是和AI赛跑谁算得快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4855" y="6093142"/>
              <a:ext cx="28412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Times New Roman"/>
                  <a:ea typeface="SimSun"/>
                  <a:cs typeface="Times New Roman"/>
                </a:rPr>
                <a:t>而是牵着AI的手，去探索星辰大海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0" y="6191250"/>
            <a:ext cx="11612880" cy="340995"/>
            <a:chOff x="0" y="6191250"/>
            <a:chExt cx="11612880" cy="340995"/>
          </a:xfrm>
        </p:grpSpPr>
        <p:sp>
          <p:nvSpPr>
            <p:cNvPr id="58" name="Rectangle 58"/>
            <p:cNvSpPr/>
            <p:nvPr/>
          </p:nvSpPr>
          <p:spPr>
            <a:xfrm>
              <a:off x="0" y="6191250"/>
              <a:ext cx="11612880" cy="34099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930902" y="6332220"/>
              <a:ext cx="17510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AI ERA · HUMAN VALUE · FUTURE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0" grpId="0"/>
      <p:bldP spid="5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5796" r="0" b="5796"/>
          <a:stretch>
            <a:fillRect/>
          </a:stretch>
        </p:blipFill>
        <p:spPr>
          <a:xfrm>
            <a:off x="0" y="0"/>
            <a:ext cx="11612880" cy="6532245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1612880" cy="6532245"/>
          </a:xfrm>
          <a:prstGeom prst="rect">
            <a:avLst/>
          </a:prstGeom>
          <a:gradFill>
            <a:gsLst>
              <a:gs pos="0">
                <a:srgbClr val="1A1A2E">
                  <a:alpha val="76500"/>
                </a:srgbClr>
              </a:gs>
              <a:gs pos="100000">
                <a:srgbClr val="16213E">
                  <a:alpha val="76500"/>
                </a:srgbClr>
              </a:gs>
            </a:gsLst>
            <a:lin ang="2700000" scaled="1"/>
          </a:gra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rcRect l="0" t="32625" r="0" b="32625"/>
          <a:stretch>
            <a:fillRect/>
          </a:stretch>
        </p:blipFill>
        <p:spPr>
          <a:xfrm>
            <a:off x="0" y="0"/>
            <a:ext cx="11612880" cy="6532245"/>
          </a:xfrm>
          <a:prstGeom prst="rect">
            <a:avLst/>
          </a:prstGeom>
        </p:spPr>
      </p:pic>
      <p:sp>
        <p:nvSpPr>
          <p:cNvPr id="5" name="Ellipse 5"/>
          <p:cNvSpPr/>
          <p:nvPr/>
        </p:nvSpPr>
        <p:spPr>
          <a:xfrm>
            <a:off x="1996440" y="-543878"/>
            <a:ext cx="7620000" cy="7620000"/>
          </a:xfrm>
          <a:prstGeom prst="ellipse">
            <a:avLst/>
          </a:prstGeom>
          <a:noFill/>
          <a:ln>
            <a:noFill/>
          </a:ln>
          <a:effectLst>
            <a:glow rad="333375">
              <a:srgbClr val="000000">
                <a:alpha val="30000"/>
              </a:srgbClr>
            </a:glow>
          </a:effectLst>
        </p:spPr>
      </p:sp>
      <p:grpSp>
        <p:nvGrpSpPr>
          <p:cNvPr id="22" name="Group 22"/>
          <p:cNvGrpSpPr/>
          <p:nvPr/>
        </p:nvGrpSpPr>
        <p:grpSpPr>
          <a:xfrm>
            <a:off x="1414462" y="738188"/>
            <a:ext cx="9546908" cy="4031932"/>
            <a:chOff x="1414462" y="738188"/>
            <a:chExt cx="9546908" cy="4031932"/>
          </a:xfrm>
          <a:effectLst>
            <a:glow rad="38100">
              <a:srgbClr val="000000">
                <a:alpha val="30000"/>
              </a:srgbClr>
            </a:glow>
          </a:effectLst>
        </p:grpSpPr>
        <p:sp>
          <p:nvSpPr>
            <p:cNvPr id="6" name="Ellipse 6"/>
            <p:cNvSpPr/>
            <p:nvPr/>
          </p:nvSpPr>
          <p:spPr>
            <a:xfrm>
              <a:off x="1876425" y="1114425"/>
              <a:ext cx="57150" cy="57150"/>
            </a:xfrm>
            <a:prstGeom prst="ellipse">
              <a:avLst/>
            </a:prstGeom>
            <a:solidFill>
              <a:srgbClr val="F59E0B">
                <a:alpha val="90000"/>
              </a:srgbClr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7" name="Ellipse 7"/>
            <p:cNvSpPr/>
            <p:nvPr/>
          </p:nvSpPr>
          <p:spPr>
            <a:xfrm>
              <a:off x="4738688" y="738188"/>
              <a:ext cx="47625" cy="47625"/>
            </a:xfrm>
            <a:prstGeom prst="ellipse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8" name="Ellipse 8"/>
            <p:cNvSpPr/>
            <p:nvPr/>
          </p:nvSpPr>
          <p:spPr>
            <a:xfrm>
              <a:off x="7586662" y="1395412"/>
              <a:ext cx="66675" cy="66675"/>
            </a:xfrm>
            <a:prstGeom prst="ellipse">
              <a:avLst/>
            </a:prstGeom>
            <a:solidFill>
              <a:srgbClr val="F59E0B">
                <a:alpha val="80000"/>
              </a:srgbClr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9" name="Ellipse 9"/>
            <p:cNvSpPr/>
            <p:nvPr/>
          </p:nvSpPr>
          <p:spPr>
            <a:xfrm>
              <a:off x="9505950" y="933450"/>
              <a:ext cx="38100" cy="38100"/>
            </a:xfrm>
            <a:prstGeom prst="ellipse">
              <a:avLst/>
            </a:prstGeom>
            <a:solidFill>
              <a:srgbClr val="FFFFFF">
                <a:alpha val="60000"/>
              </a:srgbClr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10" name="Ellipse 10"/>
            <p:cNvSpPr/>
            <p:nvPr/>
          </p:nvSpPr>
          <p:spPr>
            <a:xfrm>
              <a:off x="2838450" y="1885950"/>
              <a:ext cx="38100" cy="38100"/>
            </a:xfrm>
            <a:prstGeom prst="ellipse">
              <a:avLst/>
            </a:prstGeom>
            <a:solidFill>
              <a:srgbClr val="F59E0B">
                <a:alpha val="60000"/>
              </a:srgbClr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11" name="Ellipse 11"/>
            <p:cNvSpPr/>
            <p:nvPr/>
          </p:nvSpPr>
          <p:spPr>
            <a:xfrm>
              <a:off x="5697855" y="1697355"/>
              <a:ext cx="34290" cy="34290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12" name="Ellipse 12"/>
            <p:cNvSpPr/>
            <p:nvPr/>
          </p:nvSpPr>
          <p:spPr>
            <a:xfrm>
              <a:off x="8548688" y="2071688"/>
              <a:ext cx="47625" cy="47625"/>
            </a:xfrm>
            <a:prstGeom prst="ellipse">
              <a:avLst/>
            </a:prstGeom>
            <a:solidFill>
              <a:srgbClr val="F59E0B">
                <a:alpha val="50000"/>
              </a:srgbClr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13" name="Ellipse 13"/>
            <p:cNvSpPr/>
            <p:nvPr/>
          </p:nvSpPr>
          <p:spPr>
            <a:xfrm>
              <a:off x="10463212" y="1604962"/>
              <a:ext cx="28575" cy="28575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14" name="Ellipse 14"/>
            <p:cNvSpPr/>
            <p:nvPr/>
          </p:nvSpPr>
          <p:spPr>
            <a:xfrm>
              <a:off x="1414462" y="2843212"/>
              <a:ext cx="28575" cy="28575"/>
            </a:xfrm>
            <a:prstGeom prst="ellipse">
              <a:avLst/>
            </a:prstGeom>
            <a:solidFill>
              <a:srgbClr val="F59E0B">
                <a:alpha val="40000"/>
              </a:srgbClr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15" name="Ellipse 15"/>
            <p:cNvSpPr/>
            <p:nvPr/>
          </p:nvSpPr>
          <p:spPr>
            <a:xfrm>
              <a:off x="4274820" y="3322320"/>
              <a:ext cx="22860" cy="22860"/>
            </a:xfrm>
            <a:prstGeom prst="ellipse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16" name="Ellipse 16"/>
            <p:cNvSpPr/>
            <p:nvPr/>
          </p:nvSpPr>
          <p:spPr>
            <a:xfrm>
              <a:off x="7126605" y="3030855"/>
              <a:ext cx="34290" cy="34290"/>
            </a:xfrm>
            <a:prstGeom prst="ellipse">
              <a:avLst/>
            </a:prstGeom>
            <a:solidFill>
              <a:srgbClr val="F59E0B">
                <a:alpha val="35000"/>
              </a:srgbClr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17" name="Ellipse 17"/>
            <p:cNvSpPr/>
            <p:nvPr/>
          </p:nvSpPr>
          <p:spPr>
            <a:xfrm>
              <a:off x="9991725" y="2657475"/>
              <a:ext cx="19050" cy="19050"/>
            </a:xfrm>
            <a:prstGeom prst="ellipse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18" name="Ellipse 18"/>
            <p:cNvSpPr/>
            <p:nvPr/>
          </p:nvSpPr>
          <p:spPr>
            <a:xfrm>
              <a:off x="2371725" y="4276725"/>
              <a:ext cx="19050" cy="19050"/>
            </a:xfrm>
            <a:prstGeom prst="ellipse">
              <a:avLst/>
            </a:prstGeom>
            <a:solidFill>
              <a:srgbClr val="F59E0B">
                <a:alpha val="30000"/>
              </a:srgbClr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19" name="Ellipse 19"/>
            <p:cNvSpPr/>
            <p:nvPr/>
          </p:nvSpPr>
          <p:spPr>
            <a:xfrm>
              <a:off x="5231130" y="4754880"/>
              <a:ext cx="15240" cy="15240"/>
            </a:xfrm>
            <a:prstGeom prst="ellipse">
              <a:avLst/>
            </a:prstGeom>
            <a:solidFill>
              <a:srgbClr val="FFFFFF">
                <a:alpha val="25000"/>
              </a:srgbClr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20" name="Ellipse 20"/>
            <p:cNvSpPr/>
            <p:nvPr/>
          </p:nvSpPr>
          <p:spPr>
            <a:xfrm>
              <a:off x="8084820" y="4560570"/>
              <a:ext cx="22860" cy="22860"/>
            </a:xfrm>
            <a:prstGeom prst="ellipse">
              <a:avLst/>
            </a:prstGeom>
            <a:solidFill>
              <a:srgbClr val="F59E0B">
                <a:alpha val="30000"/>
              </a:srgbClr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21" name="Ellipse 21"/>
            <p:cNvSpPr/>
            <p:nvPr/>
          </p:nvSpPr>
          <p:spPr>
            <a:xfrm>
              <a:off x="10946130" y="3992880"/>
              <a:ext cx="15240" cy="1524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</p:grpSp>
      <p:grpSp>
        <p:nvGrpSpPr>
          <p:cNvPr id="29" name="Group 29"/>
          <p:cNvGrpSpPr/>
          <p:nvPr/>
        </p:nvGrpSpPr>
        <p:grpSpPr>
          <a:xfrm>
            <a:off x="1905000" y="762000"/>
            <a:ext cx="8096250" cy="2571750"/>
            <a:chOff x="1905000" y="762000"/>
            <a:chExt cx="8096250" cy="2571750"/>
          </a:xfrm>
        </p:grpSpPr>
        <p:sp>
          <p:nvSpPr>
            <p:cNvPr id="23" name="Line 23"/>
            <p:cNvSpPr/>
            <p:nvPr/>
          </p:nvSpPr>
          <p:spPr>
            <a:xfrm>
              <a:off x="1905000" y="1143000"/>
              <a:ext cx="952500" cy="762000"/>
            </a:xfrm>
            <a:custGeom>
              <a:avLst/>
              <a:gdLst/>
              <a:ahLst/>
              <a:cxnLst/>
              <a:rect l="l" t="t" r="r" b="b"/>
              <a:pathLst>
                <a:path w="952500" h="762000">
                  <a:moveTo>
                    <a:pt x="0" y="0"/>
                  </a:moveTo>
                  <a:lnTo>
                    <a:pt x="952500" y="762000"/>
                  </a:lnTo>
                </a:path>
              </a:pathLst>
            </a:custGeom>
            <a:noFill/>
            <a:ln w="4762">
              <a:solidFill>
                <a:srgbClr val="F59E0B">
                  <a:alpha val="12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857500" y="1905000"/>
              <a:ext cx="1428750" cy="1428750"/>
            </a:xfrm>
            <a:custGeom>
              <a:avLst/>
              <a:gdLst/>
              <a:ahLst/>
              <a:cxnLst/>
              <a:rect l="l" t="t" r="r" b="b"/>
              <a:pathLst>
                <a:path w="1428750" h="1428750">
                  <a:moveTo>
                    <a:pt x="0" y="0"/>
                  </a:moveTo>
                  <a:lnTo>
                    <a:pt x="1428750" y="1428750"/>
                  </a:lnTo>
                </a:path>
              </a:pathLst>
            </a:custGeom>
            <a:noFill/>
            <a:ln w="4762">
              <a:solidFill>
                <a:srgbClr val="F59E0B">
                  <a:alpha val="12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4762500" y="76200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952500"/>
                  </a:lnTo>
                </a:path>
              </a:pathLst>
            </a:custGeom>
            <a:noFill/>
            <a:ln w="4762">
              <a:solidFill>
                <a:srgbClr val="F59E0B">
                  <a:alpha val="12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5715000" y="1714500"/>
              <a:ext cx="1428750" cy="1333500"/>
            </a:xfrm>
            <a:custGeom>
              <a:avLst/>
              <a:gdLst/>
              <a:ahLst/>
              <a:cxnLst/>
              <a:rect l="l" t="t" r="r" b="b"/>
              <a:pathLst>
                <a:path w="1428750" h="1333500">
                  <a:moveTo>
                    <a:pt x="0" y="0"/>
                  </a:moveTo>
                  <a:lnTo>
                    <a:pt x="1428750" y="1333500"/>
                  </a:lnTo>
                </a:path>
              </a:pathLst>
            </a:custGeom>
            <a:noFill/>
            <a:ln w="4762">
              <a:solidFill>
                <a:srgbClr val="F59E0B">
                  <a:alpha val="12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620000" y="1428750"/>
              <a:ext cx="952500" cy="666750"/>
            </a:xfrm>
            <a:custGeom>
              <a:avLst/>
              <a:gdLst/>
              <a:ahLst/>
              <a:cxnLst/>
              <a:rect l="l" t="t" r="r" b="b"/>
              <a:pathLst>
                <a:path w="952500" h="666750">
                  <a:moveTo>
                    <a:pt x="0" y="0"/>
                  </a:moveTo>
                  <a:lnTo>
                    <a:pt x="952500" y="666750"/>
                  </a:lnTo>
                </a:path>
              </a:pathLst>
            </a:custGeom>
            <a:noFill/>
            <a:ln w="4762">
              <a:solidFill>
                <a:srgbClr val="F59E0B">
                  <a:alpha val="12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572500" y="2095500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0" y="0"/>
                  </a:moveTo>
                  <a:lnTo>
                    <a:pt x="1428750" y="571500"/>
                  </a:lnTo>
                </a:path>
              </a:pathLst>
            </a:custGeom>
            <a:noFill/>
            <a:ln w="4762">
              <a:solidFill>
                <a:srgbClr val="F59E0B">
                  <a:alpha val="12000"/>
                </a:srgbClr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2472690" y="2313622"/>
            <a:ext cx="6667500" cy="1905000"/>
            <a:chOff x="2472690" y="2313622"/>
            <a:chExt cx="6667500" cy="1905000"/>
          </a:xfrm>
        </p:grpSpPr>
        <p:sp>
          <p:nvSpPr>
            <p:cNvPr id="30" name="Ellipse 30"/>
            <p:cNvSpPr/>
            <p:nvPr/>
          </p:nvSpPr>
          <p:spPr>
            <a:xfrm rot="-600000">
              <a:off x="2472690" y="2313622"/>
              <a:ext cx="6667500" cy="1905000"/>
            </a:xfrm>
            <a:prstGeom prst="ellipse">
              <a:avLst/>
            </a:prstGeom>
            <a:noFill/>
            <a:ln w="4762">
              <a:solidFill>
                <a:srgbClr val="F59E0B">
                  <a:alpha val="8000"/>
                </a:srgbClr>
              </a:solidFill>
            </a:ln>
          </p:spPr>
        </p:sp>
        <p:sp>
          <p:nvSpPr>
            <p:cNvPr id="31" name="Ellipse 31"/>
            <p:cNvSpPr/>
            <p:nvPr/>
          </p:nvSpPr>
          <p:spPr>
            <a:xfrm rot="300000">
              <a:off x="2948940" y="2504122"/>
              <a:ext cx="5715000" cy="1524000"/>
            </a:xfrm>
            <a:prstGeom prst="ellipse">
              <a:avLst/>
            </a:prstGeom>
            <a:noFill/>
            <a:ln w="4762">
              <a:solidFill>
                <a:srgbClr val="F59E0B">
                  <a:alpha val="8000"/>
                </a:srgbClr>
              </a:solidFill>
            </a:ln>
          </p:spPr>
        </p:sp>
        <p:sp>
          <p:nvSpPr>
            <p:cNvPr id="32" name="Ellipse 32"/>
            <p:cNvSpPr/>
            <p:nvPr/>
          </p:nvSpPr>
          <p:spPr>
            <a:xfrm rot="-900000">
              <a:off x="3425190" y="2694622"/>
              <a:ext cx="4762500" cy="1143000"/>
            </a:xfrm>
            <a:prstGeom prst="ellipse">
              <a:avLst/>
            </a:prstGeom>
            <a:noFill/>
            <a:ln w="4762">
              <a:solidFill>
                <a:srgbClr val="F59E0B">
                  <a:alpha val="8000"/>
                </a:srgbClr>
              </a:solidFill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2667000" y="1358265"/>
            <a:ext cx="6343555" cy="4451985"/>
            <a:chOff x="2667000" y="1358265"/>
            <a:chExt cx="6343555" cy="4451985"/>
          </a:xfrm>
        </p:grpSpPr>
        <p:sp>
          <p:nvSpPr>
            <p:cNvPr id="34" name="TextBox 34"/>
            <p:cNvSpPr txBox="1"/>
            <p:nvPr/>
          </p:nvSpPr>
          <p:spPr>
            <a:xfrm>
              <a:off x="4609386" y="1358265"/>
              <a:ext cx="239410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让我们保持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26231" y="1960245"/>
              <a:ext cx="616041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59E0B"/>
                  </a:solidFill>
                  <a:effectLst>
                    <a:glow rad="333375">
                      <a:srgbClr val="000000">
                        <a:alpha val="30000"/>
                      </a:srgbClr>
                    </a:glow>
                  </a:effectLst>
                  <a:latin typeface="Times New Roman"/>
                  <a:ea typeface="SimSun"/>
                  <a:cs typeface="Times New Roman"/>
                </a:rPr>
                <a:t>那一点点"不理智"的热爱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0190" y="2667000"/>
              <a:ext cx="9525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59E0B"/>
                </a:gs>
                <a:gs pos="100000">
                  <a:srgbClr val="D97706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2667000" y="3143250"/>
              <a:ext cx="1962055" cy="952500"/>
              <a:chOff x="2667000" y="3143250"/>
              <a:chExt cx="1962055" cy="9525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2667000" y="3143250"/>
                <a:ext cx="1905000" cy="952500"/>
              </a:xfrm>
              <a:prstGeom prst="roundRect">
                <a:avLst>
                  <a:gd name="adj" fmla="val 12000"/>
                </a:avLst>
              </a:prstGeom>
              <a:noFill/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2857500" y="3286125"/>
                <a:ext cx="381000" cy="381000"/>
              </a:xfrm>
              <a:prstGeom prst="ellipse">
                <a:avLst/>
              </a:prstGeom>
              <a:noFill/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2931843" y="3397568"/>
                <a:ext cx="23231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59E0B"/>
                    </a:solidFill>
                    <a:latin typeface="Segoe UI"/>
                    <a:ea typeface="Segoe UI"/>
                    <a:cs typeface="Segoe UI"/>
                  </a:rPr>
                  <a:t>❤️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316605" y="3330892"/>
                <a:ext cx="131245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59E0B"/>
                    </a:solidFill>
                    <a:latin typeface="Segoe UI"/>
                    <a:ea typeface="Microsoft YaHei"/>
                    <a:cs typeface="Segoe UI"/>
                  </a:rPr>
                  <a:t>"不理智"的热爱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321368" y="360949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D1D5DB"/>
                    </a:solidFill>
                    <a:latin typeface="Segoe UI"/>
                    <a:ea typeface="Microsoft YaHei"/>
                    <a:cs typeface="Segoe UI"/>
                  </a:rPr>
                  <a:t>超越功利的激情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847022" y="3863816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创造源于热爱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4857750" y="3143250"/>
              <a:ext cx="1962055" cy="952500"/>
              <a:chOff x="4857750" y="3143250"/>
              <a:chExt cx="1962055" cy="9525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4857750" y="3143250"/>
                <a:ext cx="1905000" cy="952500"/>
              </a:xfrm>
              <a:prstGeom prst="roundRect">
                <a:avLst>
                  <a:gd name="adj" fmla="val 12000"/>
                </a:avLst>
              </a:prstGeom>
              <a:noFill/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5048250" y="3286125"/>
                <a:ext cx="381000" cy="381000"/>
              </a:xfrm>
              <a:prstGeom prst="ellipse">
                <a:avLst/>
              </a:prstGeom>
              <a:noFill/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5172099" y="3397568"/>
                <a:ext cx="1333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59E0B"/>
                    </a:solidFill>
                    <a:latin typeface="Segoe UI"/>
                    <a:ea typeface="Segoe UI"/>
                    <a:cs typeface="Segoe UI"/>
                  </a:rPr>
                  <a:t>☕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507355" y="3330892"/>
                <a:ext cx="131245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59E0B"/>
                    </a:solidFill>
                    <a:latin typeface="Segoe UI"/>
                    <a:ea typeface="Microsoft YaHei"/>
                    <a:cs typeface="Segoe UI"/>
                  </a:rPr>
                  <a:t>"不高效"的闲暇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512118" y="360949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D1D5DB"/>
                    </a:solidFill>
                    <a:latin typeface="Segoe UI"/>
                    <a:ea typeface="Microsoft YaHei"/>
                    <a:cs typeface="Segoe UI"/>
                  </a:rPr>
                  <a:t>享受生活的留白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037772" y="3863816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灵感来自闲暇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7048500" y="3143250"/>
              <a:ext cx="1962055" cy="952500"/>
              <a:chOff x="7048500" y="3143250"/>
              <a:chExt cx="1962055" cy="95250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7048500" y="3143250"/>
                <a:ext cx="1905000" cy="952500"/>
              </a:xfrm>
              <a:prstGeom prst="roundRect">
                <a:avLst>
                  <a:gd name="adj" fmla="val 12000"/>
                </a:avLst>
              </a:prstGeom>
              <a:noFill/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7239000" y="3286125"/>
                <a:ext cx="381000" cy="381000"/>
              </a:xfrm>
              <a:prstGeom prst="ellipse">
                <a:avLst/>
              </a:prstGeom>
              <a:noFill/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362849" y="3397568"/>
                <a:ext cx="1333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59E0B"/>
                    </a:solidFill>
                    <a:latin typeface="Segoe UI"/>
                    <a:ea typeface="Segoe UI"/>
                    <a:cs typeface="Segoe UI"/>
                  </a:rPr>
                  <a:t>💡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698105" y="3330892"/>
                <a:ext cx="131245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59E0B"/>
                    </a:solidFill>
                    <a:latin typeface="Segoe UI"/>
                    <a:ea typeface="Microsoft YaHei"/>
                    <a:cs typeface="Segoe UI"/>
                  </a:rPr>
                  <a:t>"不听话"的思考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702868" y="360949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D1D5DB"/>
                    </a:solidFill>
                    <a:latin typeface="Segoe UI"/>
                    <a:ea typeface="Microsoft YaHei"/>
                    <a:cs typeface="Segoe UI"/>
                  </a:rPr>
                  <a:t>独立判断的勇气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228522" y="3863816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创新需要独立</a:t>
                </a:r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3831431" y="4456748"/>
              <a:ext cx="395001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因为，我们是人类，我们拥有灵魂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3810000" y="5048250"/>
              <a:ext cx="4000500" cy="762000"/>
              <a:chOff x="3810000" y="5048250"/>
              <a:chExt cx="4000500" cy="76200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3810000" y="5048250"/>
                <a:ext cx="4000500" cy="762000"/>
              </a:xfrm>
              <a:prstGeom prst="roundRect">
                <a:avLst>
                  <a:gd name="adj" fmla="val 20000"/>
                </a:avLst>
              </a:prstGeom>
              <a:noFill/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3905250" y="5143500"/>
                <a:ext cx="190500" cy="19050"/>
              </a:xfrm>
              <a:prstGeom prst="rect">
                <a:avLst/>
              </a:prstGeom>
              <a:solidFill>
                <a:srgbClr val="F59E0B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3905250" y="5143500"/>
                <a:ext cx="19050" cy="190500"/>
              </a:xfrm>
              <a:prstGeom prst="rect">
                <a:avLst/>
              </a:prstGeom>
              <a:solidFill>
                <a:srgbClr val="F59E0B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7620000" y="5143500"/>
                <a:ext cx="190500" cy="19050"/>
              </a:xfrm>
              <a:prstGeom prst="rect">
                <a:avLst/>
              </a:prstGeom>
              <a:solidFill>
                <a:srgbClr val="F59E0B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7791450" y="5143500"/>
                <a:ext cx="19050" cy="190500"/>
              </a:xfrm>
              <a:prstGeom prst="rect">
                <a:avLst/>
              </a:prstGeom>
              <a:solidFill>
                <a:srgbClr val="F59E0B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3905250" y="5715000"/>
                <a:ext cx="190500" cy="19050"/>
              </a:xfrm>
              <a:prstGeom prst="rect">
                <a:avLst/>
              </a:prstGeom>
              <a:solidFill>
                <a:srgbClr val="F59E0B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3905250" y="5543550"/>
                <a:ext cx="19050" cy="190500"/>
              </a:xfrm>
              <a:prstGeom prst="rect">
                <a:avLst/>
              </a:prstGeom>
              <a:solidFill>
                <a:srgbClr val="F59E0B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7620000" y="5715000"/>
                <a:ext cx="190500" cy="19050"/>
              </a:xfrm>
              <a:prstGeom prst="rect">
                <a:avLst/>
              </a:prstGeom>
              <a:solidFill>
                <a:srgbClr val="F59E0B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7791450" y="5543550"/>
                <a:ext cx="19050" cy="190500"/>
              </a:xfrm>
              <a:prstGeom prst="rect">
                <a:avLst/>
              </a:prstGeom>
              <a:solidFill>
                <a:srgbClr val="F59E0B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4202668" y="5262562"/>
                <a:ext cx="3207544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F59E0B"/>
                    </a:solidFill>
                    <a:latin typeface="Times New Roman"/>
                    <a:ea typeface="SimSun"/>
                    <a:cs typeface="Times New Roman"/>
                  </a:rPr>
                  <a:t>这，是我们永远的王牌</a:t>
                </a:r>
              </a:p>
            </p:txBody>
          </p:sp>
        </p:grpSp>
      </p:grpSp>
      <p:grpSp>
        <p:nvGrpSpPr>
          <p:cNvPr id="72" name="Group 72"/>
          <p:cNvGrpSpPr/>
          <p:nvPr/>
        </p:nvGrpSpPr>
        <p:grpSpPr>
          <a:xfrm>
            <a:off x="5387340" y="5934075"/>
            <a:ext cx="838200" cy="304800"/>
            <a:chOff x="5387340" y="5934075"/>
            <a:chExt cx="838200" cy="304800"/>
          </a:xfrm>
        </p:grpSpPr>
        <p:sp>
          <p:nvSpPr>
            <p:cNvPr id="71" name="TextBox 71"/>
            <p:cNvSpPr txBox="1"/>
            <p:nvPr/>
          </p:nvSpPr>
          <p:spPr>
            <a:xfrm>
              <a:off x="5387340" y="59340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谢谢大家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0" y="6191250"/>
            <a:ext cx="11612880" cy="340995"/>
            <a:chOff x="0" y="6191250"/>
            <a:chExt cx="11612880" cy="340995"/>
          </a:xfrm>
        </p:grpSpPr>
        <p:sp>
          <p:nvSpPr>
            <p:cNvPr id="73" name="Rectangle 73"/>
            <p:cNvSpPr/>
            <p:nvPr/>
          </p:nvSpPr>
          <p:spPr>
            <a:xfrm>
              <a:off x="0" y="6191250"/>
              <a:ext cx="11612880" cy="34099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930902" y="6332220"/>
              <a:ext cx="17510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AI ERA · HUMAN VALUE · FUTURE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9" grpId="0"/>
      <p:bldP spid="33" grpId="0"/>
      <p:bldP spid="70" grpId="0"/>
      <p:bldP spid="7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2026-06-24T12:54:51Z</dcterms:created>
  <dcterms:modified xsi:type="dcterms:W3CDTF">2026-06-24T12:54:51Z</dcterms:modified>
  <cp:category/>
  <cp:contentStatus/>
</cp:coreProperties>
</file>