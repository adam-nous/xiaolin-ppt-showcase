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1612880" cy="6667500"/>
            <a:chOff x="0" y="0"/>
            <a:chExt cx="11612880" cy="6667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476250" y="476250"/>
              <a:ext cx="2857500" cy="28575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  <a:effectLst>
              <a:glow rad="95250">
                <a:srgbClr val="000000">
                  <a:alpha val="30000"/>
                </a:srgbClr>
              </a:glow>
            </a:effectLst>
          </p:spPr>
        </p:sp>
        <p:sp>
          <p:nvSpPr>
            <p:cNvPr id="4" name="Ellipse 4"/>
            <p:cNvSpPr/>
            <p:nvPr/>
          </p:nvSpPr>
          <p:spPr>
            <a:xfrm>
              <a:off x="7620000" y="2857500"/>
              <a:ext cx="3810000" cy="38100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  <a:effectLst>
              <a:glow rad="95250">
                <a:srgbClr val="000000">
                  <a:alpha val="30000"/>
                </a:srgbClr>
              </a:glow>
            </a:effectLst>
          </p:spPr>
        </p:sp>
        <p:sp>
          <p:nvSpPr>
            <p:cNvPr id="5" name="Ellipse 5"/>
            <p:cNvSpPr/>
            <p:nvPr/>
          </p:nvSpPr>
          <p:spPr>
            <a:xfrm>
              <a:off x="4762500" y="4762500"/>
              <a:ext cx="1905000" cy="19050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  <a:effectLst>
              <a:glow rad="95250">
                <a:srgbClr val="000000">
                  <a:alpha val="30000"/>
                </a:srgbClr>
              </a:glow>
            </a:effectLst>
          </p:spPr>
        </p:sp>
      </p:grpSp>
      <p:grpSp>
        <p:nvGrpSpPr>
          <p:cNvPr id="9" name="Group 9"/>
          <p:cNvGrpSpPr/>
          <p:nvPr/>
        </p:nvGrpSpPr>
        <p:grpSpPr>
          <a:xfrm>
            <a:off x="762000" y="762000"/>
            <a:ext cx="10668000" cy="5334000"/>
            <a:chOff x="762000" y="762000"/>
            <a:chExt cx="10668000" cy="5334000"/>
          </a:xfrm>
        </p:grpSpPr>
        <p:sp>
          <p:nvSpPr>
            <p:cNvPr id="7" name="Rectangle 7"/>
            <p:cNvSpPr/>
            <p:nvPr/>
          </p:nvSpPr>
          <p:spPr>
            <a:xfrm>
              <a:off x="762000" y="762000"/>
              <a:ext cx="10668000" cy="5334000"/>
            </a:xfrm>
            <a:prstGeom prst="roundRect">
              <a:avLst>
                <a:gd name="adj" fmla="val 3571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762000"/>
              <a:ext cx="10668000" cy="5334000"/>
            </a:xfrm>
            <a:prstGeom prst="roundRect">
              <a:avLst>
                <a:gd name="adj" fmla="val 3571"/>
              </a:avLst>
            </a:pr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30618" y="1333500"/>
            <a:ext cx="1505975" cy="473869"/>
            <a:chOff x="1130618" y="1333500"/>
            <a:chExt cx="1505975" cy="473869"/>
          </a:xfrm>
        </p:grpSpPr>
        <p:sp>
          <p:nvSpPr>
            <p:cNvPr id="10" name="Rectangle 10"/>
            <p:cNvSpPr/>
            <p:nvPr/>
          </p:nvSpPr>
          <p:spPr>
            <a:xfrm>
              <a:off x="1143000" y="1333500"/>
              <a:ext cx="762000" cy="381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0618" y="1609249"/>
              <a:ext cx="1505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FFFFFF">
                      <a:alphaMod val="80000"/>
                    </a:srgbClr>
                  </a:solidFill>
                  <a:latin typeface="Inter"/>
                  <a:ea typeface="Inter"/>
                  <a:cs typeface="Inter"/>
                </a:rPr>
                <a:t>GLASSMORPHISM · SAAS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2040" y="2339340"/>
            <a:ext cx="3045485" cy="2499360"/>
            <a:chOff x="1082040" y="2339340"/>
            <a:chExt cx="3045485" cy="2499360"/>
          </a:xfrm>
        </p:grpSpPr>
        <p:sp>
          <p:nvSpPr>
            <p:cNvPr id="13" name="TextBox 13"/>
            <p:cNvSpPr txBox="1"/>
            <p:nvPr/>
          </p:nvSpPr>
          <p:spPr>
            <a:xfrm>
              <a:off x="1082040" y="2339340"/>
              <a:ext cx="247421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Modern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3101340"/>
              <a:ext cx="160050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SaaS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3863340"/>
              <a:ext cx="304548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Platform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25855" y="4762500"/>
            <a:ext cx="1654492" cy="671512"/>
            <a:chOff x="1125855" y="4762500"/>
            <a:chExt cx="1654492" cy="671512"/>
          </a:xfrm>
        </p:grpSpPr>
        <p:sp>
          <p:nvSpPr>
            <p:cNvPr id="17" name="Line 17"/>
            <p:cNvSpPr/>
            <p:nvPr/>
          </p:nvSpPr>
          <p:spPr>
            <a:xfrm>
              <a:off x="1143000" y="4762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4288">
              <a:solidFill>
                <a:srgbClr val="FFFFFF">
                  <a:alpha val="6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5855" y="49025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Inter"/>
                  <a:ea typeface="Microsoft YaHei"/>
                  <a:cs typeface="Inter"/>
                </a:rPr>
                <a:t>下一代云端服务平台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9665" y="522065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2026 年度产品发布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0" y="1905000"/>
            <a:ext cx="3810000" cy="2857500"/>
            <a:chOff x="6667500" y="1905000"/>
            <a:chExt cx="3810000" cy="2857500"/>
          </a:xfrm>
        </p:grpSpPr>
        <p:sp>
          <p:nvSpPr>
            <p:cNvPr id="21" name="Rectangle 21"/>
            <p:cNvSpPr/>
            <p:nvPr/>
          </p:nvSpPr>
          <p:spPr>
            <a:xfrm>
              <a:off x="6667500" y="1905000"/>
              <a:ext cx="3810000" cy="2857500"/>
            </a:xfrm>
            <a:prstGeom prst="roundRect">
              <a:avLst>
                <a:gd name="adj" fmla="val 533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0" y="1905000"/>
              <a:ext cx="3810000" cy="2857500"/>
            </a:xfrm>
            <a:prstGeom prst="roundRect">
              <a:avLst>
                <a:gd name="adj" fmla="val 5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42760" y="2156460"/>
              <a:ext cx="10974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>
                      <a:alphaMod val="90000"/>
                    </a:srgbClr>
                  </a:solidFill>
                  <a:latin typeface="Inter"/>
                  <a:ea typeface="Inter"/>
                  <a:cs typeface="Inter"/>
                </a:rPr>
                <a:t>KEY FEATURES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44665" y="25536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云端部署，零配置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4665" y="2839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实时协作，多人编辑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44665" y="31251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AI 驱动，智能分析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44665" y="34109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企业级安全，SOC2 认证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44665" y="3696652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99.99% SLA 保障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917507" y="5816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  <p:bldP spid="20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1612880" cy="6532245"/>
            <a:chOff x="0" y="0"/>
            <a:chExt cx="11612880" cy="653224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52500" y="952500"/>
              <a:ext cx="3810000" cy="3810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143750" y="3333750"/>
              <a:ext cx="2857500" cy="28575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6" name="Rectangle 6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31570" y="1045845"/>
            <a:ext cx="1916430" cy="201930"/>
            <a:chOff x="1131570" y="1045845"/>
            <a:chExt cx="1916430" cy="201930"/>
          </a:xfrm>
        </p:grpSpPr>
        <p:sp>
          <p:nvSpPr>
            <p:cNvPr id="9" name="TextBox 9"/>
            <p:cNvSpPr txBox="1"/>
            <p:nvPr/>
          </p:nvSpPr>
          <p:spPr>
            <a:xfrm>
              <a:off x="1131570" y="1045845"/>
              <a:ext cx="1188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TABLE OF CONTENTS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43000" y="1238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143000" y="1619250"/>
            <a:ext cx="4572000" cy="3619500"/>
            <a:chOff x="1143000" y="1619250"/>
            <a:chExt cx="4572000" cy="3619500"/>
          </a:xfrm>
        </p:grpSpPr>
        <p:grpSp>
          <p:nvGrpSpPr>
            <p:cNvPr id="15" name="Group 15"/>
            <p:cNvGrpSpPr/>
            <p:nvPr/>
          </p:nvGrpSpPr>
          <p:grpSpPr>
            <a:xfrm>
              <a:off x="1143000" y="1619250"/>
              <a:ext cx="4572000" cy="762000"/>
              <a:chOff x="1143000" y="1619250"/>
              <a:chExt cx="4572000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143000" y="1619250"/>
                <a:ext cx="457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409700" y="18383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产品概述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16368" y="2133124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核心价值、目标用户、市场定位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143000" y="2571750"/>
              <a:ext cx="4572000" cy="762000"/>
              <a:chOff x="1143000" y="2571750"/>
              <a:chExt cx="4572000" cy="762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143000" y="2571750"/>
                <a:ext cx="457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09700" y="2790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核心功能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16368" y="3085624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主要功能模块与技术亮点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143000" y="3524250"/>
              <a:ext cx="4572000" cy="762000"/>
              <a:chOff x="1143000" y="3524250"/>
              <a:chExt cx="4572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143000" y="3524250"/>
                <a:ext cx="457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409700" y="37433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技术架构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16368" y="4038124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云原生架构、微服务、容器化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143000" y="4476750"/>
              <a:ext cx="4572000" cy="762000"/>
              <a:chOff x="1143000" y="4476750"/>
              <a:chExt cx="4572000" cy="762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1143000" y="4476750"/>
                <a:ext cx="457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409700" y="4695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商业模式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16368" y="4990624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定价策略、收入模型、增长计划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477000" y="1619250"/>
            <a:ext cx="4191000" cy="3619500"/>
            <a:chOff x="6477000" y="1619250"/>
            <a:chExt cx="4191000" cy="3619500"/>
          </a:xfrm>
        </p:grpSpPr>
        <p:sp>
          <p:nvSpPr>
            <p:cNvPr id="29" name="Rectangle 29"/>
            <p:cNvSpPr/>
            <p:nvPr/>
          </p:nvSpPr>
          <p:spPr>
            <a:xfrm>
              <a:off x="6477000" y="1619250"/>
              <a:ext cx="4191000" cy="3619500"/>
            </a:xfrm>
            <a:prstGeom prst="roundRect">
              <a:avLst>
                <a:gd name="adj" fmla="val 4211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65113" y="2076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b="1" dirty="0">
                  <a:solidFill>
                    <a:srgbClr val="FFFFFF">
                      <a:alphaMod val="30000"/>
                    </a:srgbClr>
                  </a:solidFill>
                  <a:latin typeface="Inter"/>
                  <a:ea typeface="Inter"/>
                  <a:cs typeface="Inter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1208" y="3680460"/>
              <a:ext cx="862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Inter"/>
                  <a:cs typeface="Inter"/>
                </a:rPr>
                <a:t>4 SECTIONS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07134" y="398240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>
                      <a:alphaMod val="50000"/>
                    </a:srgbClr>
                  </a:solidFill>
                  <a:latin typeface="Inter"/>
                  <a:ea typeface="Inter"/>
                  <a:cs typeface="Inter"/>
                </a:rPr>
                <a:t>8 PAGES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476250" y="0"/>
            <a:ext cx="12089130" cy="6532245"/>
            <a:chOff x="-476250" y="0"/>
            <a:chExt cx="12089130" cy="653224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476250" y="1428750"/>
              <a:ext cx="4762500" cy="47625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810500" y="1143000"/>
              <a:ext cx="3429000" cy="3429000"/>
            </a:xfrm>
            <a:prstGeom prst="ellipse">
              <a:avLst/>
            </a:prstGeom>
            <a:solidFill>
              <a:srgbClr val="FFFFFF">
                <a:alpha val="7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6" name="Rectangle 6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08710" y="1045845"/>
            <a:ext cx="2225040" cy="830580"/>
            <a:chOff x="1108710" y="1045845"/>
            <a:chExt cx="2225040" cy="830580"/>
          </a:xfrm>
        </p:grpSpPr>
        <p:sp>
          <p:nvSpPr>
            <p:cNvPr id="9" name="TextBox 9"/>
            <p:cNvSpPr txBox="1"/>
            <p:nvPr/>
          </p:nvSpPr>
          <p:spPr>
            <a:xfrm>
              <a:off x="1131570" y="1045845"/>
              <a:ext cx="11444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PRODUCT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8710" y="13277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产品概述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143000" y="1762125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43000" y="2095500"/>
            <a:ext cx="9525000" cy="1524000"/>
            <a:chOff x="1143000" y="2095500"/>
            <a:chExt cx="9525000" cy="1524000"/>
          </a:xfrm>
        </p:grpSpPr>
        <p:grpSp>
          <p:nvGrpSpPr>
            <p:cNvPr id="18" name="Group 18"/>
            <p:cNvGrpSpPr/>
            <p:nvPr/>
          </p:nvGrpSpPr>
          <p:grpSpPr>
            <a:xfrm>
              <a:off x="1143000" y="2095500"/>
              <a:ext cx="3048000" cy="1524000"/>
              <a:chOff x="1143000" y="2095500"/>
              <a:chExt cx="3048000" cy="1524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2095500"/>
                <a:ext cx="30480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316355" y="23307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云端优先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320165" y="2648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零配置部署，开箱即用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20165" y="29346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自动扩缩容，按需付费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0165" y="3220402"/>
                <a:ext cx="901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全球 CDN 加速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81500" y="2095500"/>
              <a:ext cx="3048000" cy="1524000"/>
              <a:chOff x="4381500" y="2095500"/>
              <a:chExt cx="30480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81500" y="2095500"/>
                <a:ext cx="30480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54855" y="23307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实时协作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8665" y="2648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多人实时编辑，无冲突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8665" y="29346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版本历史，一键回滚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58665" y="3220402"/>
                <a:ext cx="12238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评论、@提及、通知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620000" y="2095500"/>
              <a:ext cx="3048000" cy="1524000"/>
              <a:chOff x="7620000" y="2095500"/>
              <a:chExt cx="3048000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0" y="2095500"/>
                <a:ext cx="30480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793355" y="2330768"/>
                <a:ext cx="6297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AI 驱动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97165" y="26489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智能内容生成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97165" y="2934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自动化工作流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797165" y="32204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数据洞察分析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143000" y="4000500"/>
            <a:ext cx="9525000" cy="1143000"/>
            <a:chOff x="1143000" y="4000500"/>
            <a:chExt cx="9525000" cy="1143000"/>
          </a:xfrm>
        </p:grpSpPr>
        <p:sp>
          <p:nvSpPr>
            <p:cNvPr id="32" name="Rectangle 32"/>
            <p:cNvSpPr/>
            <p:nvPr/>
          </p:nvSpPr>
          <p:spPr>
            <a:xfrm>
              <a:off x="1143000" y="4000500"/>
              <a:ext cx="95250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60053" y="4185285"/>
              <a:ext cx="9758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10M+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75585" y="4657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活跃用户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00127" y="4185285"/>
              <a:ext cx="139174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99.99%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26835" y="4657249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SLA 保障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6053" y="4185285"/>
              <a:ext cx="9758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50ms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585" y="4657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平均响应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1612880" cy="7143750"/>
            <a:chOff x="0" y="0"/>
            <a:chExt cx="11612880" cy="7143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905000" y="0"/>
              <a:ext cx="3810000" cy="3810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6191250" y="4286250"/>
              <a:ext cx="2857500" cy="28575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6" name="Rectangle 6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08710" y="1045845"/>
            <a:ext cx="1748790" cy="830580"/>
            <a:chOff x="1108710" y="1045845"/>
            <a:chExt cx="1748790" cy="830580"/>
          </a:xfrm>
        </p:grpSpPr>
        <p:sp>
          <p:nvSpPr>
            <p:cNvPr id="9" name="TextBox 9"/>
            <p:cNvSpPr txBox="1"/>
            <p:nvPr/>
          </p:nvSpPr>
          <p:spPr>
            <a:xfrm>
              <a:off x="1131570" y="1045845"/>
              <a:ext cx="9175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CORE FEATURES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8710" y="13277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核心功能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143000" y="1762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3000" y="2095500"/>
            <a:ext cx="9715500" cy="1714500"/>
            <a:chOff x="1143000" y="2095500"/>
            <a:chExt cx="9715500" cy="1714500"/>
          </a:xfrm>
        </p:grpSpPr>
        <p:grpSp>
          <p:nvGrpSpPr>
            <p:cNvPr id="18" name="Group 18"/>
            <p:cNvGrpSpPr/>
            <p:nvPr/>
          </p:nvGrpSpPr>
          <p:grpSpPr>
            <a:xfrm>
              <a:off x="1143000" y="2095500"/>
              <a:ext cx="2286000" cy="1714500"/>
              <a:chOff x="1143000" y="2095500"/>
              <a:chExt cx="2286000" cy="1714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2095500"/>
                <a:ext cx="22860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147747" y="2280285"/>
                <a:ext cx="27650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📊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934718" y="2823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数据分析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54518" y="314134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实时数据仪表盘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74532" y="333184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自定义报表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619500" y="2095500"/>
              <a:ext cx="2286000" cy="1714500"/>
              <a:chOff x="3619500" y="2095500"/>
              <a:chExt cx="2286000" cy="1714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19500" y="2095500"/>
                <a:ext cx="22860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624247" y="2280285"/>
                <a:ext cx="27650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🤖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2627" y="2823210"/>
                <a:ext cx="5597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AI 助手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91025" y="31413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智能内容生成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91025" y="33318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自动化工作流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096000" y="2095500"/>
              <a:ext cx="2286000" cy="1714500"/>
              <a:chOff x="6096000" y="2095500"/>
              <a:chExt cx="2286000" cy="1714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096000" y="2095500"/>
                <a:ext cx="22860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100747" y="2280285"/>
                <a:ext cx="27650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🔗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87718" y="2823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集成平台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837521" y="3141345"/>
                <a:ext cx="802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200+ 应用集成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885527" y="3331845"/>
                <a:ext cx="706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API 优先设计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572500" y="2095500"/>
              <a:ext cx="2286000" cy="1714500"/>
              <a:chOff x="8572500" y="2095500"/>
              <a:chExt cx="2286000" cy="1714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572500" y="2095500"/>
                <a:ext cx="22860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577247" y="2280285"/>
                <a:ext cx="27650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🔒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64218" y="2823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企业安全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356026" y="3141345"/>
                <a:ext cx="7189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Inter"/>
                    <a:cs typeface="Inter"/>
                  </a:rPr>
                  <a:t>SOC2 Type II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404032" y="333184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端到端加密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1143000" y="4095750"/>
            <a:ext cx="9525000" cy="1143000"/>
            <a:chOff x="1143000" y="4095750"/>
            <a:chExt cx="95250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1143000" y="4095750"/>
              <a:ext cx="95250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320165" y="436340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>
                      <a:alphaMod val="80000"/>
                    </a:srgbClr>
                  </a:solidFill>
                  <a:latin typeface="Inter"/>
                  <a:ea typeface="Inter"/>
                  <a:cs typeface="Inter"/>
                </a:rPr>
                <a:t>TECH STACK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21118" y="4657249"/>
              <a:ext cx="38082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Inter"/>
                  <a:cs typeface="Inter"/>
                </a:rPr>
                <a:t>React · Node.js · PostgreSQL · Redis · Kubernetes · Docker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1118" y="4895374"/>
              <a:ext cx="29436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Inter"/>
                  <a:cs typeface="Inter"/>
                </a:rPr>
                <a:t>AWS · Cloudflare · Stripe · OpenAI · LangChain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7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612880" cy="6532245"/>
            <a:chOff x="0" y="0"/>
            <a:chExt cx="11612880" cy="653224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857500" y="0"/>
              <a:ext cx="5715000" cy="57150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08710" y="1045845"/>
            <a:ext cx="1748790" cy="830580"/>
            <a:chOff x="1108710" y="1045845"/>
            <a:chExt cx="1748790" cy="830580"/>
          </a:xfrm>
        </p:grpSpPr>
        <p:sp>
          <p:nvSpPr>
            <p:cNvPr id="8" name="TextBox 8"/>
            <p:cNvSpPr txBox="1"/>
            <p:nvPr/>
          </p:nvSpPr>
          <p:spPr>
            <a:xfrm>
              <a:off x="1131570" y="1045845"/>
              <a:ext cx="823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ARCHITECTURE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8710" y="13277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技术架构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43000" y="1762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143000" y="2095500"/>
            <a:ext cx="9525000" cy="3619500"/>
            <a:chOff x="1143000" y="2095500"/>
            <a:chExt cx="9525000" cy="3619500"/>
          </a:xfrm>
        </p:grpSpPr>
        <p:grpSp>
          <p:nvGrpSpPr>
            <p:cNvPr id="14" name="Group 14"/>
            <p:cNvGrpSpPr/>
            <p:nvPr/>
          </p:nvGrpSpPr>
          <p:grpSpPr>
            <a:xfrm>
              <a:off x="1143000" y="2095500"/>
              <a:ext cx="9525000" cy="762000"/>
              <a:chOff x="1143000" y="2095500"/>
              <a:chExt cx="9525000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143000" y="2095500"/>
                <a:ext cx="9525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087905" y="2426018"/>
                <a:ext cx="363519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客户端层 · React · Next.js · TypeScript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43000" y="3048000"/>
              <a:ext cx="9525000" cy="762000"/>
              <a:chOff x="1143000" y="3048000"/>
              <a:chExt cx="9525000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1143000" y="3048000"/>
                <a:ext cx="9525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35161" y="3378518"/>
                <a:ext cx="354067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API 网关 · GraphQL · REST · WebSocket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143000" y="4000500"/>
              <a:ext cx="9525000" cy="762000"/>
              <a:chOff x="1143000" y="4000500"/>
              <a:chExt cx="9525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143000" y="4000500"/>
                <a:ext cx="9525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28147" y="4331018"/>
                <a:ext cx="29547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微服务层 · Node.js · Python · Go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143000" y="4953000"/>
              <a:ext cx="9525000" cy="762000"/>
              <a:chOff x="1143000" y="4953000"/>
              <a:chExt cx="9525000" cy="762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143000" y="4953000"/>
                <a:ext cx="9525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031198" y="5283518"/>
                <a:ext cx="37486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数据层 · PostgreSQL · Redis · Kafka · S3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5905500" y="2857500"/>
            <a:ext cx="9525" cy="2095500"/>
            <a:chOff x="5905500" y="2857500"/>
            <a:chExt cx="9525" cy="2095500"/>
          </a:xfrm>
        </p:grpSpPr>
        <p:sp>
          <p:nvSpPr>
            <p:cNvPr id="25" name="Line 25"/>
            <p:cNvSpPr/>
            <p:nvPr/>
          </p:nvSpPr>
          <p:spPr>
            <a:xfrm>
              <a:off x="5905500" y="2857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905500" y="3810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905500" y="4762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1612880" cy="6667500"/>
            <a:chOff x="0" y="0"/>
            <a:chExt cx="11612880" cy="6667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52500" y="2857500"/>
              <a:ext cx="3810000" cy="3810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143750" y="476250"/>
              <a:ext cx="2857500" cy="2857500"/>
            </a:xfrm>
            <a:prstGeom prst="ellipse">
              <a:avLst/>
            </a:prstGeom>
            <a:solidFill>
              <a:srgbClr val="FFFFFF">
                <a:alpha val="7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6" name="Rectangle 6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08710" y="1045845"/>
            <a:ext cx="1580769" cy="830580"/>
            <a:chOff x="1108710" y="1045845"/>
            <a:chExt cx="1580769" cy="830580"/>
          </a:xfrm>
        </p:grpSpPr>
        <p:sp>
          <p:nvSpPr>
            <p:cNvPr id="9" name="TextBox 9"/>
            <p:cNvSpPr txBox="1"/>
            <p:nvPr/>
          </p:nvSpPr>
          <p:spPr>
            <a:xfrm>
              <a:off x="1131570" y="1045845"/>
              <a:ext cx="4450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PRICING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8710" y="13277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定价方案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143000" y="17621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143000" y="1905000"/>
            <a:ext cx="9144000" cy="3714750"/>
            <a:chOff x="1143000" y="1905000"/>
            <a:chExt cx="9144000" cy="3714750"/>
          </a:xfrm>
        </p:grpSpPr>
        <p:grpSp>
          <p:nvGrpSpPr>
            <p:cNvPr id="22" name="Group 22"/>
            <p:cNvGrpSpPr/>
            <p:nvPr/>
          </p:nvGrpSpPr>
          <p:grpSpPr>
            <a:xfrm>
              <a:off x="1143000" y="2095500"/>
              <a:ext cx="2857500" cy="3333750"/>
              <a:chOff x="1143000" y="2095500"/>
              <a:chExt cx="2857500" cy="3333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2095500"/>
                <a:ext cx="2857500" cy="3333750"/>
              </a:xfrm>
              <a:prstGeom prst="roundRect">
                <a:avLst>
                  <a:gd name="adj" fmla="val 5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346679" y="2426018"/>
                <a:ext cx="4501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Free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248795" y="26593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$0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49901" y="3220402"/>
                <a:ext cx="2436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/月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253829" y="3609499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5 个项目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47328" y="3895249"/>
                <a:ext cx="6488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1GB 存储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244078" y="4180999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基础功能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619250" y="4667250"/>
                <a:ext cx="1905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264378" y="47920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开始使用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191000" y="1905000"/>
              <a:ext cx="3048000" cy="3714750"/>
              <a:chOff x="4191000" y="1905000"/>
              <a:chExt cx="3048000" cy="3714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191000" y="1905000"/>
                <a:ext cx="3048000" cy="3714750"/>
              </a:xfrm>
              <a:prstGeom prst="roundRect">
                <a:avLst>
                  <a:gd name="adj" fmla="val 5000"/>
                </a:avLst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191000" y="1905000"/>
                <a:ext cx="3048000" cy="3714750"/>
              </a:xfrm>
              <a:prstGeom prst="roundRect">
                <a:avLst>
                  <a:gd name="adj" fmla="val 5000"/>
                </a:avLst>
              </a:prstGeom>
              <a:noFill/>
              <a:ln w="19050">
                <a:solidFill>
                  <a:srgbClr val="FFFFFF">
                    <a:alpha val="50000"/>
                  </a:srgbClr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41911" y="2235518"/>
                <a:ext cx="3461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Pro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53428" y="2468880"/>
                <a:ext cx="923144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$29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593151" y="3029902"/>
                <a:ext cx="2436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/月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387328" y="3418999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无限项目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319070" y="3704749"/>
                <a:ext cx="7918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100GB 存储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42585" y="39904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AI 功能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87328" y="4276249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优先支持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667250" y="4762500"/>
                <a:ext cx="20955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411304" y="4887278"/>
                <a:ext cx="6073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67EEA"/>
                    </a:solidFill>
                    <a:latin typeface="Inter"/>
                    <a:ea typeface="Microsoft YaHei"/>
                    <a:cs typeface="Inter"/>
                  </a:rPr>
                  <a:t>升级 Pro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429500" y="2095500"/>
              <a:ext cx="2857500" cy="3333750"/>
              <a:chOff x="7429500" y="2095500"/>
              <a:chExt cx="2857500" cy="3333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7429500" y="2095500"/>
                <a:ext cx="2857500" cy="3333750"/>
              </a:xfrm>
              <a:prstGeom prst="roundRect">
                <a:avLst>
                  <a:gd name="adj" fmla="val 5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344918" y="2426018"/>
                <a:ext cx="10266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Enterprise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96678" y="2659380"/>
                <a:ext cx="923144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$99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736401" y="3220402"/>
                <a:ext cx="2436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>
                        <a:alphaMod val="60000"/>
                      </a:srgbClr>
                    </a:solidFill>
                    <a:latin typeface="Inter"/>
                    <a:ea typeface="Microsoft YaHei"/>
                    <a:cs typeface="Inter"/>
                  </a:rPr>
                  <a:t>/月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384310" y="3609499"/>
                <a:ext cx="9478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一切 Pro 功能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530578" y="3895249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无限存储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30578" y="4180999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70000"/>
                      </a:srgbClr>
                    </a:solidFill>
                    <a:latin typeface="Inter"/>
                    <a:ea typeface="Microsoft YaHei"/>
                    <a:cs typeface="Inter"/>
                  </a:rPr>
                  <a:t>• 专属支持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905750" y="4667250"/>
                <a:ext cx="1905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550878" y="47920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联系我们</a:t>
                </a: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1612880" cy="6532245"/>
            <a:chOff x="0" y="0"/>
            <a:chExt cx="11612880" cy="653224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381250" y="1428750"/>
              <a:ext cx="4762500" cy="4762500"/>
            </a:xfrm>
            <a:prstGeom prst="ellipse">
              <a:avLst/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810500" y="190500"/>
              <a:ext cx="3429000" cy="34290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6" name="Rectangle 6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08710" y="1045845"/>
            <a:ext cx="1580769" cy="830580"/>
            <a:chOff x="1108710" y="1045845"/>
            <a:chExt cx="1580769" cy="830580"/>
          </a:xfrm>
        </p:grpSpPr>
        <p:sp>
          <p:nvSpPr>
            <p:cNvPr id="9" name="TextBox 9"/>
            <p:cNvSpPr txBox="1"/>
            <p:nvPr/>
          </p:nvSpPr>
          <p:spPr>
            <a:xfrm>
              <a:off x="1131570" y="1045845"/>
              <a:ext cx="4891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GROWTH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8710" y="13277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增长策略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143000" y="1762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143000" y="2095500"/>
            <a:ext cx="9334500" cy="1143000"/>
            <a:chOff x="1143000" y="2095500"/>
            <a:chExt cx="9334500" cy="1143000"/>
          </a:xfrm>
        </p:grpSpPr>
        <p:sp>
          <p:nvSpPr>
            <p:cNvPr id="13" name="Rectangle 13"/>
            <p:cNvSpPr/>
            <p:nvPr/>
          </p:nvSpPr>
          <p:spPr>
            <a:xfrm>
              <a:off x="1143000" y="2095500"/>
              <a:ext cx="22860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98053" y="2280285"/>
              <a:ext cx="9758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300%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13585" y="2752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年增长率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19500" y="2095500"/>
              <a:ext cx="22860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12358" y="228028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50K+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0085" y="2752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付费客户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2095500"/>
              <a:ext cx="22860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51053" y="2280285"/>
              <a:ext cx="9758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$10M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66585" y="2752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年度收入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0" y="2095500"/>
              <a:ext cx="19050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41016" y="2280285"/>
              <a:ext cx="7679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95%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52585" y="2752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Inter"/>
                  <a:ea typeface="Microsoft YaHei"/>
                  <a:cs typeface="Inter"/>
                </a:rPr>
                <a:t>客户留存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3524250"/>
            <a:ext cx="9525000" cy="1905000"/>
            <a:chOff x="1143000" y="3524250"/>
            <a:chExt cx="9525000" cy="1905000"/>
          </a:xfrm>
        </p:grpSpPr>
        <p:sp>
          <p:nvSpPr>
            <p:cNvPr id="26" name="Rectangle 26"/>
            <p:cNvSpPr/>
            <p:nvPr/>
          </p:nvSpPr>
          <p:spPr>
            <a:xfrm>
              <a:off x="1143000" y="3524250"/>
              <a:ext cx="9525000" cy="1905000"/>
            </a:xfrm>
            <a:prstGeom prst="roundRect">
              <a:avLst>
                <a:gd name="adj" fmla="val 8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16355" y="3759518"/>
              <a:ext cx="16220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GROWTH STRATEGY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333500" y="4000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20165" y="4172902"/>
              <a:ext cx="29180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产品驱动增长（PLG）：免费试用 → 付费转化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0165" y="4458652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内容营销：技术博客、案例研究、白皮书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0165" y="474440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合作伙伴：系统集成商、技术合作伙伴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0165" y="503015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社区建设：开发者社区、用户大会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1906250" cy="7143750"/>
            <a:chOff x="0" y="0"/>
            <a:chExt cx="11906250" cy="7143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0"/>
              <a:ext cx="3810000" cy="3810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143750" y="2381250"/>
              <a:ext cx="4762500" cy="4762500"/>
            </a:xfrm>
            <a:prstGeom prst="ellipse">
              <a:avLst/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4286250" y="4286250"/>
              <a:ext cx="2857500" cy="28575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571500"/>
            <a:ext cx="10668000" cy="5715000"/>
            <a:chOff x="762000" y="571500"/>
            <a:chExt cx="10668000" cy="5715000"/>
          </a:xfrm>
        </p:grpSpPr>
        <p:sp>
          <p:nvSpPr>
            <p:cNvPr id="7" name="Rectangle 7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571500"/>
              <a:ext cx="10668000" cy="57150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08710" y="1045845"/>
            <a:ext cx="1958816" cy="830580"/>
            <a:chOff x="1108710" y="1045845"/>
            <a:chExt cx="1958816" cy="830580"/>
          </a:xfrm>
        </p:grpSpPr>
        <p:sp>
          <p:nvSpPr>
            <p:cNvPr id="10" name="TextBox 10"/>
            <p:cNvSpPr txBox="1"/>
            <p:nvPr/>
          </p:nvSpPr>
          <p:spPr>
            <a:xfrm>
              <a:off x="1131570" y="1045845"/>
              <a:ext cx="5584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Inter"/>
                  <a:cs typeface="Inter"/>
                </a:rPr>
                <a:t>SUMMARY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8710" y="13277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总结与展望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143000" y="1762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43000" y="2095500"/>
            <a:ext cx="5334000" cy="2857500"/>
            <a:chOff x="1143000" y="2095500"/>
            <a:chExt cx="53340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1143000" y="2095500"/>
              <a:ext cx="5334000" cy="2857500"/>
            </a:xfrm>
            <a:prstGeom prst="roundRect">
              <a:avLst>
                <a:gd name="adj" fmla="val 533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16355" y="2330768"/>
              <a:ext cx="1376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KEY TAKEAWAYS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333500" y="2571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20165" y="27441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云原生架构，零配置部署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30299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AI 驱动，智能化工作流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0165" y="33156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实时协作，多人无缝编辑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0165" y="36014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企业级安全，SOC2 认证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0165" y="38871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灵活定价，按需付费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0165" y="4172902"/>
              <a:ext cx="19939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• 300% 年增长，50K+ 付费客户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0" y="2095500"/>
            <a:ext cx="4000500" cy="2857500"/>
            <a:chOff x="6667500" y="2095500"/>
            <a:chExt cx="400050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667500" y="2095500"/>
              <a:ext cx="4000500" cy="2857500"/>
            </a:xfrm>
            <a:prstGeom prst="roundRect">
              <a:avLst>
                <a:gd name="adj" fmla="val 5333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40855" y="233076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NEXT STEPS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58000" y="25717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44665" y="274415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1. 免费试用 14 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44665" y="3029902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2. 预约产品演示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44665" y="3315652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3. 联系销售团队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44665" y="3601402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4. 查看技术文档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44665" y="38871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Inter"/>
                  <a:ea typeface="Microsoft YaHei"/>
                  <a:cs typeface="Inter"/>
                </a:rPr>
                <a:t>5. 加入开发者社区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5238750"/>
            <a:ext cx="9525000" cy="571500"/>
            <a:chOff x="1143000" y="5238750"/>
            <a:chExt cx="9525000" cy="571500"/>
          </a:xfrm>
        </p:grpSpPr>
        <p:sp>
          <p:nvSpPr>
            <p:cNvPr id="33" name="Rectangle 33"/>
            <p:cNvSpPr/>
            <p:nvPr/>
          </p:nvSpPr>
          <p:spPr>
            <a:xfrm>
              <a:off x="1143000" y="5238750"/>
              <a:ext cx="9525000" cy="571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67110" y="5410200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67EEA"/>
                  </a:solidFill>
                  <a:latin typeface="Inter"/>
                  <a:ea typeface="Microsoft YaHei"/>
                  <a:cs typeface="Inter"/>
                </a:rPr>
                <a:t>开始免费试用 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02966" y="5982652"/>
            <a:ext cx="3205067" cy="213360"/>
            <a:chOff x="4302966" y="5982652"/>
            <a:chExt cx="3205067" cy="213360"/>
          </a:xfrm>
        </p:grpSpPr>
        <p:sp>
          <p:nvSpPr>
            <p:cNvPr id="36" name="TextBox 36"/>
            <p:cNvSpPr txBox="1"/>
            <p:nvPr/>
          </p:nvSpPr>
          <p:spPr>
            <a:xfrm>
              <a:off x="4302966" y="5982652"/>
              <a:ext cx="3205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>
                      <a:alphaMod val="50000"/>
                    </a:srgbClr>
                  </a:solidFill>
                  <a:latin typeface="Inter"/>
                  <a:ea typeface="Inter"/>
                  <a:cs typeface="Inter"/>
                </a:rPr>
                <a:t>hello@saas-platform.com | saas-platform.com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917507" y="60069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  <p:bldP spid="32" grpId="0"/>
      <p:bldP spid="35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2026-06-24T01:52:06Z</dcterms:created>
  <dcterms:modified xsi:type="dcterms:W3CDTF">2026-06-24T01:52:06Z</dcterms:modified>
  <cp:category/>
  <cp:contentStatus/>
</cp:coreProperties>
</file>