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1610975" cy="65341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1612880" cy="6858000"/>
            <a:chOff x="0" y="0"/>
            <a:chExt cx="1161288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FAFAFA"/>
                </a:gs>
                <a:gs pos="100000">
                  <a:srgbClr val="F5F5F5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E0E0E0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E0E0E0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E0E0E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E0E0E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49618" y="1143000"/>
            <a:ext cx="1369458" cy="473869"/>
            <a:chOff x="749618" y="1143000"/>
            <a:chExt cx="1369458" cy="473869"/>
          </a:xfrm>
        </p:grpSpPr>
        <p:sp>
          <p:nvSpPr>
            <p:cNvPr id="8" name="Rectangle 8"/>
            <p:cNvSpPr/>
            <p:nvPr/>
          </p:nvSpPr>
          <p:spPr>
            <a:xfrm>
              <a:off x="762000" y="1143000"/>
              <a:ext cx="762000" cy="38100"/>
            </a:xfrm>
            <a:prstGeom prst="rect">
              <a:avLst/>
            </a:prstGeom>
            <a:solidFill>
              <a:srgbClr val="E53E3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9618" y="1418749"/>
              <a:ext cx="13694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75" b="1" dirty="0">
                  <a:solidFill>
                    <a:srgbClr val="E53E3E"/>
                  </a:solidFill>
                  <a:latin typeface="Arial"/>
                  <a:ea typeface="Arial"/>
                  <a:cs typeface="Arial"/>
                </a:rPr>
                <a:t>SWISS · TYPOGRAPHIC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93420" y="2465070"/>
            <a:ext cx="2783491" cy="2621280"/>
            <a:chOff x="693420" y="2465070"/>
            <a:chExt cx="2783491" cy="2621280"/>
          </a:xfrm>
        </p:grpSpPr>
        <p:sp>
          <p:nvSpPr>
            <p:cNvPr id="11" name="TextBox 11"/>
            <p:cNvSpPr txBox="1"/>
            <p:nvPr/>
          </p:nvSpPr>
          <p:spPr>
            <a:xfrm>
              <a:off x="693420" y="2465070"/>
              <a:ext cx="2178615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rgbClr val="1A202C"/>
                  </a:solidFill>
                  <a:latin typeface="Arial"/>
                  <a:ea typeface="Arial"/>
                  <a:cs typeface="Arial"/>
                </a:rPr>
                <a:t>Swiss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93420" y="3227070"/>
              <a:ext cx="2443248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rgbClr val="1A202C"/>
                  </a:solidFill>
                  <a:latin typeface="Arial"/>
                  <a:ea typeface="Arial"/>
                  <a:cs typeface="Arial"/>
                </a:rPr>
                <a:t>Design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93420" y="3989070"/>
              <a:ext cx="2783491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rgbClr val="E53E3E"/>
                  </a:solidFill>
                  <a:latin typeface="Arial"/>
                  <a:ea typeface="Arial"/>
                  <a:cs typeface="Arial"/>
                </a:rPr>
                <a:t>System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44855" y="4953000"/>
            <a:ext cx="1834515" cy="671512"/>
            <a:chOff x="744855" y="4953000"/>
            <a:chExt cx="1834515" cy="671512"/>
          </a:xfrm>
        </p:grpSpPr>
        <p:sp>
          <p:nvSpPr>
            <p:cNvPr id="15" name="Line 15"/>
            <p:cNvSpPr/>
            <p:nvPr/>
          </p:nvSpPr>
          <p:spPr>
            <a:xfrm>
              <a:off x="762000" y="49530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14288">
              <a:solidFill>
                <a:srgbClr val="1A202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4855" y="509301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国际主义风格设计系统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8665" y="5411152"/>
              <a:ext cx="12168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2026 年度设计规范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0" y="1143000"/>
            <a:ext cx="3810000" cy="3810000"/>
            <a:chOff x="7620000" y="1143000"/>
            <a:chExt cx="3810000" cy="3810000"/>
          </a:xfrm>
        </p:grpSpPr>
        <p:sp>
          <p:nvSpPr>
            <p:cNvPr id="19" name="Rectangle 19"/>
            <p:cNvSpPr/>
            <p:nvPr/>
          </p:nvSpPr>
          <p:spPr>
            <a:xfrm>
              <a:off x="7620000" y="1143000"/>
              <a:ext cx="3810000" cy="3810000"/>
            </a:xfrm>
            <a:prstGeom prst="rect">
              <a:avLst/>
            </a:prstGeom>
            <a:noFill/>
            <a:ln w="9525">
              <a:solidFill>
                <a:srgbClr val="E53E3E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7620000" y="20955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E53E3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7620000" y="30480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E53E3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7620000" y="40005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E53E3E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572500" y="114300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E53E3E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9525000" y="114300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E53E3E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10477500" y="114300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E53E3E"/>
              </a:solidFill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27" name="TextBox 27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A0AEC0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A0AEC0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8" grpId="0"/>
      <p:bldP spid="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1612880" cy="6858000"/>
            <a:chOff x="0" y="0"/>
            <a:chExt cx="1161288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FAFAFA"/>
                </a:gs>
                <a:gs pos="100000">
                  <a:srgbClr val="F5F5F5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E0E0E0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E0E0E0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E0E0E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E0E0E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50570" y="664845"/>
            <a:ext cx="1916430" cy="201930"/>
            <a:chOff x="750570" y="664845"/>
            <a:chExt cx="1916430" cy="201930"/>
          </a:xfrm>
        </p:grpSpPr>
        <p:sp>
          <p:nvSpPr>
            <p:cNvPr id="8" name="TextBox 8"/>
            <p:cNvSpPr txBox="1"/>
            <p:nvPr/>
          </p:nvSpPr>
          <p:spPr>
            <a:xfrm>
              <a:off x="750570" y="664845"/>
              <a:ext cx="11885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E53E3E"/>
                  </a:solidFill>
                  <a:latin typeface="Arial"/>
                  <a:ea typeface="Arial"/>
                  <a:cs typeface="Arial"/>
                </a:rPr>
                <a:t>TABLE OF CONTENTS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762000" y="8572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E53E3E"/>
              </a:solidFill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716280" y="1135380"/>
            <a:ext cx="5951220" cy="4541520"/>
            <a:chOff x="716280" y="1135380"/>
            <a:chExt cx="5951220" cy="4541520"/>
          </a:xfrm>
        </p:grpSpPr>
        <p:grpSp>
          <p:nvGrpSpPr>
            <p:cNvPr id="15" name="Group 15"/>
            <p:cNvGrpSpPr/>
            <p:nvPr/>
          </p:nvGrpSpPr>
          <p:grpSpPr>
            <a:xfrm>
              <a:off x="716280" y="1135380"/>
              <a:ext cx="5951220" cy="779145"/>
              <a:chOff x="716280" y="1135380"/>
              <a:chExt cx="5951220" cy="779145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716280" y="1135380"/>
                <a:ext cx="645909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E53E3E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882140" y="1234440"/>
                <a:ext cx="105384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A202C"/>
                    </a:solidFill>
                    <a:latin typeface="Arial"/>
                    <a:ea typeface="Microsoft YaHei"/>
                    <a:cs typeface="Arial"/>
                  </a:rPr>
                  <a:t>设计理念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891665" y="160115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718096"/>
                    </a:solidFill>
                    <a:latin typeface="Arial"/>
                    <a:ea typeface="Microsoft YaHei"/>
                    <a:cs typeface="Arial"/>
                  </a:rPr>
                  <a:t>网格系统、字体排版、视觉层次</a:t>
                </a:r>
              </a:p>
            </p:txBody>
          </p:sp>
          <p:sp>
            <p:nvSpPr>
              <p:cNvPr id="14" name="Line 14"/>
              <p:cNvSpPr/>
              <p:nvPr/>
            </p:nvSpPr>
            <p:spPr>
              <a:xfrm>
                <a:off x="762000" y="1905000"/>
                <a:ext cx="590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9525">
                    <a:moveTo>
                      <a:pt x="0" y="0"/>
                    </a:moveTo>
                    <a:lnTo>
                      <a:pt x="5905500" y="0"/>
                    </a:lnTo>
                  </a:path>
                </a:pathLst>
              </a:custGeom>
              <a:noFill/>
              <a:ln w="9525">
                <a:solidFill>
                  <a:srgbClr val="E0E0E0"/>
                </a:solidFill>
              </a:ln>
            </p:spPr>
          </p:sp>
        </p:grpSp>
        <p:grpSp>
          <p:nvGrpSpPr>
            <p:cNvPr id="20" name="Group 20"/>
            <p:cNvGrpSpPr/>
            <p:nvPr/>
          </p:nvGrpSpPr>
          <p:grpSpPr>
            <a:xfrm>
              <a:off x="716280" y="2087880"/>
              <a:ext cx="5951220" cy="779145"/>
              <a:chOff x="716280" y="2087880"/>
              <a:chExt cx="5951220" cy="779145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716280" y="2087880"/>
                <a:ext cx="645909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E53E3E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882140" y="2186940"/>
                <a:ext cx="105384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A202C"/>
                    </a:solidFill>
                    <a:latin typeface="Arial"/>
                    <a:ea typeface="Microsoft YaHei"/>
                    <a:cs typeface="Arial"/>
                  </a:rPr>
                  <a:t>网格系统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891665" y="2553652"/>
                <a:ext cx="214093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718096"/>
                    </a:solidFill>
                    <a:latin typeface="Arial"/>
                    <a:ea typeface="Microsoft YaHei"/>
                    <a:cs typeface="Arial"/>
                  </a:rPr>
                  <a:t>12列网格、响应式布局、间距规范</a:t>
                </a:r>
              </a:p>
            </p:txBody>
          </p:sp>
          <p:sp>
            <p:nvSpPr>
              <p:cNvPr id="19" name="Line 19"/>
              <p:cNvSpPr/>
              <p:nvPr/>
            </p:nvSpPr>
            <p:spPr>
              <a:xfrm>
                <a:off x="762000" y="2857500"/>
                <a:ext cx="590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9525">
                    <a:moveTo>
                      <a:pt x="0" y="0"/>
                    </a:moveTo>
                    <a:lnTo>
                      <a:pt x="5905500" y="0"/>
                    </a:lnTo>
                  </a:path>
                </a:pathLst>
              </a:custGeom>
              <a:noFill/>
              <a:ln w="9525">
                <a:solidFill>
                  <a:srgbClr val="E0E0E0"/>
                </a:solidFill>
              </a:ln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716280" y="3040380"/>
              <a:ext cx="5951220" cy="779145"/>
              <a:chOff x="716280" y="3040380"/>
              <a:chExt cx="5951220" cy="779145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716280" y="3040380"/>
                <a:ext cx="645909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E53E3E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882140" y="3139440"/>
                <a:ext cx="105384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A202C"/>
                    </a:solidFill>
                    <a:latin typeface="Arial"/>
                    <a:ea typeface="Microsoft YaHei"/>
                    <a:cs typeface="Arial"/>
                  </a:rPr>
                  <a:t>字体规范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891665" y="3506152"/>
                <a:ext cx="21269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718096"/>
                    </a:solidFill>
                    <a:latin typeface="Arial"/>
                    <a:ea typeface="Microsoft YaHei"/>
                    <a:cs typeface="Arial"/>
                  </a:rPr>
                  <a:t>无衬线字体、字号阶梯、字重搭配</a:t>
                </a:r>
              </a:p>
            </p:txBody>
          </p:sp>
          <p:sp>
            <p:nvSpPr>
              <p:cNvPr id="24" name="Line 24"/>
              <p:cNvSpPr/>
              <p:nvPr/>
            </p:nvSpPr>
            <p:spPr>
              <a:xfrm>
                <a:off x="762000" y="3810000"/>
                <a:ext cx="590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9525">
                    <a:moveTo>
                      <a:pt x="0" y="0"/>
                    </a:moveTo>
                    <a:lnTo>
                      <a:pt x="5905500" y="0"/>
                    </a:lnTo>
                  </a:path>
                </a:pathLst>
              </a:custGeom>
              <a:noFill/>
              <a:ln w="9525">
                <a:solidFill>
                  <a:srgbClr val="E0E0E0"/>
                </a:solidFill>
              </a:ln>
            </p:spPr>
          </p:sp>
        </p:grpSp>
        <p:grpSp>
          <p:nvGrpSpPr>
            <p:cNvPr id="30" name="Group 30"/>
            <p:cNvGrpSpPr/>
            <p:nvPr/>
          </p:nvGrpSpPr>
          <p:grpSpPr>
            <a:xfrm>
              <a:off x="716280" y="3992880"/>
              <a:ext cx="5951220" cy="779145"/>
              <a:chOff x="716280" y="3992880"/>
              <a:chExt cx="5951220" cy="779145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716280" y="3992880"/>
                <a:ext cx="645909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E53E3E"/>
                    </a:solidFill>
                    <a:latin typeface="Arial"/>
                    <a:ea typeface="Arial"/>
                    <a:cs typeface="Arial"/>
                  </a:rPr>
                  <a:t>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882140" y="4091940"/>
                <a:ext cx="105384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A202C"/>
                    </a:solidFill>
                    <a:latin typeface="Arial"/>
                    <a:ea typeface="Microsoft YaHei"/>
                    <a:cs typeface="Arial"/>
                  </a:rPr>
                  <a:t>色彩系统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891665" y="445865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718096"/>
                    </a:solidFill>
                    <a:latin typeface="Arial"/>
                    <a:ea typeface="Microsoft YaHei"/>
                    <a:cs typeface="Arial"/>
                  </a:rPr>
                  <a:t>黑白为主、红色强调、灰色辅助</a:t>
                </a: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762000" y="4762500"/>
                <a:ext cx="590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9525">
                    <a:moveTo>
                      <a:pt x="0" y="0"/>
                    </a:moveTo>
                    <a:lnTo>
                      <a:pt x="5905500" y="0"/>
                    </a:lnTo>
                  </a:path>
                </a:pathLst>
              </a:custGeom>
              <a:noFill/>
              <a:ln w="9525">
                <a:solidFill>
                  <a:srgbClr val="E0E0E0"/>
                </a:solidFill>
              </a:ln>
            </p:spPr>
          </p:sp>
        </p:grpSp>
        <p:grpSp>
          <p:nvGrpSpPr>
            <p:cNvPr id="34" name="Group 34"/>
            <p:cNvGrpSpPr/>
            <p:nvPr/>
          </p:nvGrpSpPr>
          <p:grpSpPr>
            <a:xfrm>
              <a:off x="716280" y="4945380"/>
              <a:ext cx="2742248" cy="731520"/>
              <a:chOff x="716280" y="4945380"/>
              <a:chExt cx="2742248" cy="731520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716280" y="4945380"/>
                <a:ext cx="645909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E53E3E"/>
                    </a:solidFill>
                    <a:latin typeface="Arial"/>
                    <a:ea typeface="Arial"/>
                    <a:cs typeface="Arial"/>
                  </a:rPr>
                  <a:t>05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882140" y="5044440"/>
                <a:ext cx="801815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A202C"/>
                    </a:solidFill>
                    <a:latin typeface="Arial"/>
                    <a:ea typeface="Microsoft YaHei"/>
                    <a:cs typeface="Arial"/>
                  </a:rPr>
                  <a:t>组件库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891665" y="541115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718096"/>
                    </a:solidFill>
                    <a:latin typeface="Arial"/>
                    <a:ea typeface="Microsoft YaHei"/>
                    <a:cs typeface="Arial"/>
                  </a:rPr>
                  <a:t>按钮、卡片、表格、图表</a:t>
                </a:r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7620000" y="1143000"/>
            <a:ext cx="3810000" cy="4762500"/>
            <a:chOff x="7620000" y="1143000"/>
            <a:chExt cx="3810000" cy="4762500"/>
          </a:xfrm>
        </p:grpSpPr>
        <p:sp>
          <p:nvSpPr>
            <p:cNvPr id="36" name="Rectangle 36"/>
            <p:cNvSpPr/>
            <p:nvPr/>
          </p:nvSpPr>
          <p:spPr>
            <a:xfrm>
              <a:off x="7620000" y="1143000"/>
              <a:ext cx="3810000" cy="4762500"/>
            </a:xfrm>
            <a:prstGeom prst="rect">
              <a:avLst/>
            </a:prstGeom>
            <a:solidFill>
              <a:srgbClr val="1A202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17613" y="1885950"/>
              <a:ext cx="1614773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0" b="1" dirty="0">
                  <a:solidFill>
                    <a:srgbClr val="E53E3E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41714" y="34899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CONTENTS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8096250" y="38100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19050">
              <a:solidFill>
                <a:srgbClr val="E53E3E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147620" y="4077652"/>
              <a:ext cx="7547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A0AEC0"/>
                  </a:solidFill>
                  <a:latin typeface="Arial"/>
                  <a:ea typeface="Arial"/>
                  <a:cs typeface="Arial"/>
                </a:rPr>
                <a:t>5 SECTIONS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59634" y="4363402"/>
              <a:ext cx="5307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A0AEC0"/>
                  </a:solidFill>
                  <a:latin typeface="Arial"/>
                  <a:ea typeface="Arial"/>
                  <a:cs typeface="Arial"/>
                </a:rPr>
                <a:t>8 PAGES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43" name="TextBox 43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A0AEC0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A0AEC0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1612880" cy="6858000"/>
            <a:chOff x="0" y="0"/>
            <a:chExt cx="1161288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FAFAFA"/>
                </a:gs>
                <a:gs pos="100000">
                  <a:srgbClr val="F5F5F5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E0E0E0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E0E0E0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E0E0E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E0E0E0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27710" y="474345"/>
            <a:ext cx="2129790" cy="735330"/>
            <a:chOff x="727710" y="474345"/>
            <a:chExt cx="2129790" cy="735330"/>
          </a:xfrm>
        </p:grpSpPr>
        <p:sp>
          <p:nvSpPr>
            <p:cNvPr id="8" name="TextBox 8"/>
            <p:cNvSpPr txBox="1"/>
            <p:nvPr/>
          </p:nvSpPr>
          <p:spPr>
            <a:xfrm>
              <a:off x="750570" y="474345"/>
              <a:ext cx="7348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E53E3E"/>
                  </a:solidFill>
                  <a:latin typeface="Arial"/>
                  <a:ea typeface="Arial"/>
                  <a:cs typeface="Arial"/>
                </a:rPr>
                <a:t>PHILOSOPHY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7710" y="6610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202C"/>
                  </a:solidFill>
                  <a:latin typeface="Arial"/>
                  <a:ea typeface="Microsoft YaHei"/>
                  <a:cs typeface="Arial"/>
                </a:rPr>
                <a:t>设计理念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62000" y="1095375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19050">
              <a:solidFill>
                <a:srgbClr val="E53E3E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762000" y="1428750"/>
            <a:ext cx="10668000" cy="1714500"/>
            <a:chOff x="762000" y="1428750"/>
            <a:chExt cx="10668000" cy="1714500"/>
          </a:xfrm>
        </p:grpSpPr>
        <p:grpSp>
          <p:nvGrpSpPr>
            <p:cNvPr id="17" name="Group 17"/>
            <p:cNvGrpSpPr/>
            <p:nvPr/>
          </p:nvGrpSpPr>
          <p:grpSpPr>
            <a:xfrm>
              <a:off x="762000" y="1428750"/>
              <a:ext cx="3429000" cy="1714500"/>
              <a:chOff x="762000" y="1428750"/>
              <a:chExt cx="3429000" cy="17145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762000" y="1428750"/>
                <a:ext cx="3429000" cy="17145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935355" y="166401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202C"/>
                    </a:solidFill>
                    <a:latin typeface="Arial"/>
                    <a:ea typeface="Microsoft YaHei"/>
                    <a:cs typeface="Arial"/>
                  </a:rPr>
                  <a:t>网格系统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39165" y="1982152"/>
                <a:ext cx="18468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严格的网格系统是瑞士设计的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39165" y="2220278"/>
                <a:ext cx="17068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基础，确保布局的一致性和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39165" y="245840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可预测性。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4381500" y="1428750"/>
              <a:ext cx="3429000" cy="1714500"/>
              <a:chOff x="4381500" y="1428750"/>
              <a:chExt cx="3429000" cy="17145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4381500" y="1428750"/>
                <a:ext cx="3429000" cy="17145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554855" y="166401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202C"/>
                    </a:solidFill>
                    <a:latin typeface="Arial"/>
                    <a:ea typeface="Microsoft YaHei"/>
                    <a:cs typeface="Arial"/>
                  </a:rPr>
                  <a:t>字体排版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558665" y="1982152"/>
                <a:ext cx="18468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无衬线字体为主，强调可读性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558665" y="2220278"/>
                <a:ext cx="17068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和层次感，通过字号、字重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558665" y="245840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创造视觉节奏。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001000" y="1428750"/>
              <a:ext cx="3429000" cy="1714500"/>
              <a:chOff x="8001000" y="1428750"/>
              <a:chExt cx="3429000" cy="17145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8001000" y="1428750"/>
                <a:ext cx="3429000" cy="17145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174355" y="166401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202C"/>
                    </a:solidFill>
                    <a:latin typeface="Arial"/>
                    <a:ea typeface="Microsoft YaHei"/>
                    <a:cs typeface="Arial"/>
                  </a:rPr>
                  <a:t>视觉层次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178165" y="1982152"/>
                <a:ext cx="18468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通过大小、粗细、颜色的对比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178165" y="2220278"/>
                <a:ext cx="17068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建立清晰的信息层次，引导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178165" y="245840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Arial"/>
                    <a:ea typeface="Microsoft YaHei"/>
                    <a:cs typeface="Arial"/>
                  </a:rPr>
                  <a:t>用户视线流动。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762000" y="3524250"/>
            <a:ext cx="10668000" cy="1143000"/>
            <a:chOff x="762000" y="3524250"/>
            <a:chExt cx="10668000" cy="1143000"/>
          </a:xfrm>
        </p:grpSpPr>
        <p:sp>
          <p:nvSpPr>
            <p:cNvPr id="31" name="Rectangle 31"/>
            <p:cNvSpPr/>
            <p:nvPr/>
          </p:nvSpPr>
          <p:spPr>
            <a:xfrm>
              <a:off x="762000" y="3524250"/>
              <a:ext cx="10668000" cy="1143000"/>
            </a:xfrm>
            <a:prstGeom prst="rect">
              <a:avLst/>
            </a:prstGeom>
            <a:solidFill>
              <a:srgbClr val="1A202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380929" y="3806190"/>
              <a:ext cx="343014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"好的设计是尽可能少的设计。"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20607" y="4268152"/>
              <a:ext cx="9507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A0AEC0"/>
                  </a:solidFill>
                  <a:latin typeface="Arial"/>
                  <a:ea typeface="Arial"/>
                  <a:cs typeface="Arial"/>
                </a:rPr>
                <a:t>— Dieter Rams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35" name="TextBox 35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A0AEC0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A0AEC0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1612880" cy="6858000"/>
            <a:chOff x="0" y="0"/>
            <a:chExt cx="1161288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FAFAFA"/>
                </a:gs>
                <a:gs pos="100000">
                  <a:srgbClr val="F5F5F5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E0E0E0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E0E0E0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E0E0E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E0E0E0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27710" y="474345"/>
            <a:ext cx="2129790" cy="735330"/>
            <a:chOff x="727710" y="474345"/>
            <a:chExt cx="2129790" cy="735330"/>
          </a:xfrm>
        </p:grpSpPr>
        <p:sp>
          <p:nvSpPr>
            <p:cNvPr id="8" name="TextBox 8"/>
            <p:cNvSpPr txBox="1"/>
            <p:nvPr/>
          </p:nvSpPr>
          <p:spPr>
            <a:xfrm>
              <a:off x="750570" y="474345"/>
              <a:ext cx="7474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E53E3E"/>
                  </a:solidFill>
                  <a:latin typeface="Arial"/>
                  <a:ea typeface="Arial"/>
                  <a:cs typeface="Arial"/>
                </a:rPr>
                <a:t>GRID SYSTEM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7710" y="6610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202C"/>
                  </a:solidFill>
                  <a:latin typeface="Arial"/>
                  <a:ea typeface="Microsoft YaHei"/>
                  <a:cs typeface="Arial"/>
                </a:rPr>
                <a:t>网格系统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62000" y="1095375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19050">
              <a:solidFill>
                <a:srgbClr val="E53E3E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762000" y="1428750"/>
            <a:ext cx="10668000" cy="3810000"/>
            <a:chOff x="762000" y="1428750"/>
            <a:chExt cx="10668000" cy="3810000"/>
          </a:xfrm>
        </p:grpSpPr>
        <p:sp>
          <p:nvSpPr>
            <p:cNvPr id="12" name="Rectangle 12"/>
            <p:cNvSpPr/>
            <p:nvPr/>
          </p:nvSpPr>
          <p:spPr>
            <a:xfrm>
              <a:off x="762000" y="1428750"/>
              <a:ext cx="10668000" cy="3810000"/>
            </a:xfrm>
            <a:prstGeom prst="rect">
              <a:avLst/>
            </a:prstGeom>
            <a:noFill/>
            <a:ln w="19050">
              <a:solidFill>
                <a:srgbClr val="E53E3E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647825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E53E3E"/>
              </a:solidFill>
              <a:prstDash val="dash"/>
            </a:ln>
          </p:spPr>
        </p:sp>
        <p:sp>
          <p:nvSpPr>
            <p:cNvPr id="14" name="Line 14"/>
            <p:cNvSpPr/>
            <p:nvPr/>
          </p:nvSpPr>
          <p:spPr>
            <a:xfrm>
              <a:off x="253365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E53E3E"/>
              </a:solidFill>
              <a:prstDash val="dash"/>
            </a:ln>
          </p:spPr>
        </p:sp>
        <p:sp>
          <p:nvSpPr>
            <p:cNvPr id="15" name="Line 15"/>
            <p:cNvSpPr/>
            <p:nvPr/>
          </p:nvSpPr>
          <p:spPr>
            <a:xfrm>
              <a:off x="3419475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E53E3E"/>
              </a:solidFill>
              <a:prstDash val="dash"/>
            </a:ln>
          </p:spPr>
        </p:sp>
        <p:sp>
          <p:nvSpPr>
            <p:cNvPr id="16" name="Line 16"/>
            <p:cNvSpPr/>
            <p:nvPr/>
          </p:nvSpPr>
          <p:spPr>
            <a:xfrm>
              <a:off x="43053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E53E3E"/>
              </a:solidFill>
              <a:prstDash val="dash"/>
            </a:ln>
          </p:spPr>
        </p:sp>
        <p:sp>
          <p:nvSpPr>
            <p:cNvPr id="17" name="Line 17"/>
            <p:cNvSpPr/>
            <p:nvPr/>
          </p:nvSpPr>
          <p:spPr>
            <a:xfrm>
              <a:off x="5191125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E53E3E"/>
              </a:solidFill>
              <a:prstDash val="dash"/>
            </a:ln>
          </p:spPr>
        </p:sp>
        <p:sp>
          <p:nvSpPr>
            <p:cNvPr id="18" name="Line 18"/>
            <p:cNvSpPr/>
            <p:nvPr/>
          </p:nvSpPr>
          <p:spPr>
            <a:xfrm>
              <a:off x="607695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E53E3E"/>
              </a:solidFill>
              <a:prstDash val="dash"/>
            </a:ln>
          </p:spPr>
        </p:sp>
        <p:sp>
          <p:nvSpPr>
            <p:cNvPr id="19" name="Line 19"/>
            <p:cNvSpPr/>
            <p:nvPr/>
          </p:nvSpPr>
          <p:spPr>
            <a:xfrm>
              <a:off x="6962775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E53E3E"/>
              </a:solidFill>
              <a:prstDash val="dash"/>
            </a:ln>
          </p:spPr>
        </p:sp>
        <p:sp>
          <p:nvSpPr>
            <p:cNvPr id="20" name="Line 20"/>
            <p:cNvSpPr/>
            <p:nvPr/>
          </p:nvSpPr>
          <p:spPr>
            <a:xfrm>
              <a:off x="78486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E53E3E"/>
              </a:solidFill>
              <a:prstDash val="dash"/>
            </a:ln>
          </p:spPr>
        </p:sp>
        <p:sp>
          <p:nvSpPr>
            <p:cNvPr id="21" name="Line 21"/>
            <p:cNvSpPr/>
            <p:nvPr/>
          </p:nvSpPr>
          <p:spPr>
            <a:xfrm>
              <a:off x="8734425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E53E3E"/>
              </a:solidFill>
              <a:prstDash val="dash"/>
            </a:ln>
          </p:spPr>
        </p:sp>
        <p:sp>
          <p:nvSpPr>
            <p:cNvPr id="22" name="Line 22"/>
            <p:cNvSpPr/>
            <p:nvPr/>
          </p:nvSpPr>
          <p:spPr>
            <a:xfrm>
              <a:off x="962025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E53E3E"/>
              </a:solidFill>
              <a:prstDash val="dash"/>
            </a:ln>
          </p:spPr>
        </p:sp>
        <p:sp>
          <p:nvSpPr>
            <p:cNvPr id="23" name="Line 23"/>
            <p:cNvSpPr/>
            <p:nvPr/>
          </p:nvSpPr>
          <p:spPr>
            <a:xfrm>
              <a:off x="10506075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E53E3E"/>
              </a:solidFill>
              <a:prstDash val="dash"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163122" y="1300162"/>
            <a:ext cx="9845635" cy="152400"/>
            <a:chOff x="1163122" y="1300162"/>
            <a:chExt cx="9845635" cy="152400"/>
          </a:xfrm>
        </p:grpSpPr>
        <p:sp>
          <p:nvSpPr>
            <p:cNvPr id="25" name="TextBox 25"/>
            <p:cNvSpPr txBox="1"/>
            <p:nvPr/>
          </p:nvSpPr>
          <p:spPr>
            <a:xfrm>
              <a:off x="1163122" y="1300162"/>
              <a:ext cx="7405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E53E3E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48947" y="1300162"/>
              <a:ext cx="7405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E53E3E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34772" y="1300162"/>
              <a:ext cx="7405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E53E3E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20597" y="1300162"/>
              <a:ext cx="7405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E53E3E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06422" y="1300162"/>
              <a:ext cx="7405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E53E3E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592247" y="1300162"/>
              <a:ext cx="7405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E53E3E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78072" y="1300162"/>
              <a:ext cx="7405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E53E3E"/>
                  </a:solidFill>
                  <a:latin typeface="Arial"/>
                  <a:ea typeface="Arial"/>
                  <a:cs typeface="Arial"/>
                </a:rPr>
                <a:t>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63897" y="1300162"/>
              <a:ext cx="7405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E53E3E"/>
                  </a:solidFill>
                  <a:latin typeface="Arial"/>
                  <a:ea typeface="Arial"/>
                  <a:cs typeface="Arial"/>
                </a:rPr>
                <a:t>8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49722" y="1300162"/>
              <a:ext cx="7405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E53E3E"/>
                  </a:solidFill>
                  <a:latin typeface="Arial"/>
                  <a:ea typeface="Arial"/>
                  <a:cs typeface="Arial"/>
                </a:rPr>
                <a:t>9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108043" y="1300162"/>
              <a:ext cx="12906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E53E3E"/>
                  </a:solidFill>
                  <a:latin typeface="Arial"/>
                  <a:ea typeface="Arial"/>
                  <a:cs typeface="Arial"/>
                </a:rPr>
                <a:t>10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993868" y="1300162"/>
              <a:ext cx="12906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E53E3E"/>
                  </a:solidFill>
                  <a:latin typeface="Arial"/>
                  <a:ea typeface="Arial"/>
                  <a:cs typeface="Arial"/>
                </a:rPr>
                <a:t>11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879693" y="1300162"/>
              <a:ext cx="12906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E53E3E"/>
                  </a:solidFill>
                  <a:latin typeface="Arial"/>
                  <a:ea typeface="Arial"/>
                  <a:cs typeface="Arial"/>
                </a:rPr>
                <a:t>12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62000" y="1714500"/>
            <a:ext cx="8191500" cy="1143000"/>
            <a:chOff x="762000" y="1714500"/>
            <a:chExt cx="8191500" cy="1143000"/>
          </a:xfrm>
        </p:grpSpPr>
        <p:sp>
          <p:nvSpPr>
            <p:cNvPr id="38" name="Rectangle 38"/>
            <p:cNvSpPr/>
            <p:nvPr/>
          </p:nvSpPr>
          <p:spPr>
            <a:xfrm>
              <a:off x="762000" y="1714500"/>
              <a:ext cx="3429000" cy="1143000"/>
            </a:xfrm>
            <a:prstGeom prst="rect">
              <a:avLst/>
            </a:prstGeom>
            <a:solidFill>
              <a:srgbClr val="1A202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095485" y="2235518"/>
              <a:ext cx="7620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 列布局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381500" y="1714500"/>
              <a:ext cx="2667000" cy="1143000"/>
            </a:xfrm>
            <a:prstGeom prst="rect">
              <a:avLst/>
            </a:prstGeom>
            <a:solidFill>
              <a:srgbClr val="E53E3E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523008" y="2235518"/>
              <a:ext cx="3839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 列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239000" y="1714500"/>
              <a:ext cx="1714500" cy="1143000"/>
            </a:xfrm>
            <a:prstGeom prst="rect">
              <a:avLst/>
            </a:prstGeom>
            <a:solidFill>
              <a:srgbClr val="4A55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904258" y="2235518"/>
              <a:ext cx="3839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 列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62000" y="5524500"/>
            <a:ext cx="10668000" cy="762000"/>
            <a:chOff x="762000" y="5524500"/>
            <a:chExt cx="10668000" cy="762000"/>
          </a:xfrm>
        </p:grpSpPr>
        <p:sp>
          <p:nvSpPr>
            <p:cNvPr id="45" name="Rectangle 45"/>
            <p:cNvSpPr/>
            <p:nvPr/>
          </p:nvSpPr>
          <p:spPr>
            <a:xfrm>
              <a:off x="762000" y="5524500"/>
              <a:ext cx="10668000" cy="762000"/>
            </a:xfrm>
            <a:prstGeom prst="rect">
              <a:avLst/>
            </a:prstGeom>
            <a:solidFill>
              <a:srgbClr val="1A202C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39165" y="5792152"/>
              <a:ext cx="13277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E53E3E"/>
                  </a:solidFill>
                  <a:latin typeface="Arial"/>
                  <a:ea typeface="Arial"/>
                  <a:cs typeface="Arial"/>
                </a:rPr>
                <a:t>GRID SPECIFICATION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40118" y="6038374"/>
              <a:ext cx="36002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75" dirty="0">
                  <a:solidFill>
                    <a:srgbClr val="A0AEC0"/>
                  </a:solidFill>
                  <a:latin typeface="Arial"/>
                  <a:ea typeface="Arial"/>
                  <a:cs typeface="Arial"/>
                </a:rPr>
                <a:t>Columns: 12 | Gutter: 20px | Margin: 80px | Baseline: 8px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49" name="TextBox 49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A0AEC0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A0AEC0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7" grpId="0"/>
      <p:bldP spid="44" grpId="0"/>
      <p:bldP spid="4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1612880" cy="6858000"/>
            <a:chOff x="0" y="0"/>
            <a:chExt cx="1161288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FAFAFA"/>
                </a:gs>
                <a:gs pos="100000">
                  <a:srgbClr val="F5F5F5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E0E0E0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E0E0E0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E0E0E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E0E0E0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27710" y="474345"/>
            <a:ext cx="2129790" cy="735330"/>
            <a:chOff x="727710" y="474345"/>
            <a:chExt cx="2129790" cy="735330"/>
          </a:xfrm>
        </p:grpSpPr>
        <p:sp>
          <p:nvSpPr>
            <p:cNvPr id="8" name="TextBox 8"/>
            <p:cNvSpPr txBox="1"/>
            <p:nvPr/>
          </p:nvSpPr>
          <p:spPr>
            <a:xfrm>
              <a:off x="750570" y="474345"/>
              <a:ext cx="7411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E53E3E"/>
                  </a:solidFill>
                  <a:latin typeface="Arial"/>
                  <a:ea typeface="Arial"/>
                  <a:cs typeface="Arial"/>
                </a:rPr>
                <a:t>TYPOGRAPHY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7710" y="6610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202C"/>
                  </a:solidFill>
                  <a:latin typeface="Arial"/>
                  <a:ea typeface="Microsoft YaHei"/>
                  <a:cs typeface="Arial"/>
                </a:rPr>
                <a:t>字体规范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62000" y="1095375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19050">
              <a:solidFill>
                <a:srgbClr val="E53E3E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716280" y="1325880"/>
            <a:ext cx="2334520" cy="4474845"/>
            <a:chOff x="716280" y="1325880"/>
            <a:chExt cx="2334520" cy="4474845"/>
          </a:xfrm>
        </p:grpSpPr>
        <p:grpSp>
          <p:nvGrpSpPr>
            <p:cNvPr id="14" name="Group 14"/>
            <p:cNvGrpSpPr/>
            <p:nvPr/>
          </p:nvGrpSpPr>
          <p:grpSpPr>
            <a:xfrm>
              <a:off x="716280" y="1325880"/>
              <a:ext cx="2334520" cy="731520"/>
              <a:chOff x="716280" y="1325880"/>
              <a:chExt cx="2334520" cy="731520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716280" y="1325880"/>
                <a:ext cx="2334520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1A202C"/>
                    </a:solidFill>
                    <a:latin typeface="Arial"/>
                    <a:ea typeface="Arial"/>
                    <a:cs typeface="Arial"/>
                  </a:rPr>
                  <a:t>Heading 1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50570" y="1807845"/>
                <a:ext cx="13310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718096"/>
                    </a:solidFill>
                    <a:latin typeface="Arial"/>
                    <a:ea typeface="Arial"/>
                    <a:cs typeface="Arial"/>
                  </a:rPr>
                  <a:t>48px / Bold / Helvetica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727710" y="2185035"/>
              <a:ext cx="1750890" cy="567690"/>
              <a:chOff x="727710" y="2185035"/>
              <a:chExt cx="1750890" cy="567690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727710" y="2185035"/>
                <a:ext cx="175089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b="1" dirty="0">
                    <a:solidFill>
                      <a:srgbClr val="1A202C"/>
                    </a:solidFill>
                    <a:latin typeface="Arial"/>
                    <a:ea typeface="Arial"/>
                    <a:cs typeface="Arial"/>
                  </a:rPr>
                  <a:t>Heading 2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50570" y="2569845"/>
                <a:ext cx="13310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718096"/>
                    </a:solidFill>
                    <a:latin typeface="Arial"/>
                    <a:ea typeface="Arial"/>
                    <a:cs typeface="Arial"/>
                  </a:rPr>
                  <a:t>36px / Bold / Helvetica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739140" y="3044190"/>
              <a:ext cx="1342453" cy="470535"/>
              <a:chOff x="739140" y="3044190"/>
              <a:chExt cx="1342453" cy="470535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739140" y="3044190"/>
                <a:ext cx="116726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1A202C"/>
                    </a:solidFill>
                    <a:latin typeface="Arial"/>
                    <a:ea typeface="Arial"/>
                    <a:cs typeface="Arial"/>
                  </a:rPr>
                  <a:t>Heading 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50570" y="3331845"/>
                <a:ext cx="13310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718096"/>
                    </a:solidFill>
                    <a:latin typeface="Arial"/>
                    <a:ea typeface="Arial"/>
                    <a:cs typeface="Arial"/>
                  </a:rPr>
                  <a:t>24px / Bold / Helvetica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44855" y="3854768"/>
              <a:ext cx="1534763" cy="421957"/>
              <a:chOff x="744855" y="3854768"/>
              <a:chExt cx="1534763" cy="421957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744855" y="3854768"/>
                <a:ext cx="88039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1A202C"/>
                    </a:solidFill>
                    <a:latin typeface="Arial"/>
                    <a:ea typeface="Arial"/>
                    <a:cs typeface="Arial"/>
                  </a:rPr>
                  <a:t>Body Text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50570" y="4093845"/>
                <a:ext cx="152904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718096"/>
                    </a:solidFill>
                    <a:latin typeface="Arial"/>
                    <a:ea typeface="Arial"/>
                    <a:cs typeface="Arial"/>
                  </a:rPr>
                  <a:t>18px / Regular / Helvetica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748665" y="4649152"/>
              <a:ext cx="1530953" cy="389573"/>
              <a:chOff x="748665" y="4649152"/>
              <a:chExt cx="1530953" cy="389573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748665" y="4649152"/>
                <a:ext cx="88077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4A5568"/>
                    </a:solidFill>
                    <a:latin typeface="Arial"/>
                    <a:ea typeface="Arial"/>
                    <a:cs typeface="Arial"/>
                  </a:rPr>
                  <a:t>Caption Text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50570" y="4855845"/>
                <a:ext cx="152904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718096"/>
                    </a:solidFill>
                    <a:latin typeface="Arial"/>
                    <a:ea typeface="Arial"/>
                    <a:cs typeface="Arial"/>
                  </a:rPr>
                  <a:t>14px / Regular / Helvetica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750570" y="5427345"/>
              <a:ext cx="1529048" cy="373380"/>
              <a:chOff x="750570" y="5427345"/>
              <a:chExt cx="1529048" cy="37338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50570" y="5427345"/>
                <a:ext cx="61693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718096"/>
                    </a:solidFill>
                    <a:latin typeface="Arial"/>
                    <a:ea typeface="Arial"/>
                    <a:cs typeface="Arial"/>
                  </a:rPr>
                  <a:t>Small Text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50570" y="5617845"/>
                <a:ext cx="152904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718096"/>
                    </a:solidFill>
                    <a:latin typeface="Arial"/>
                    <a:ea typeface="Arial"/>
                    <a:cs typeface="Arial"/>
                  </a:rPr>
                  <a:t>12px / Regular / Helvetica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6667500" y="1428750"/>
            <a:ext cx="4762500" cy="3810000"/>
            <a:chOff x="6667500" y="1428750"/>
            <a:chExt cx="4762500" cy="3810000"/>
          </a:xfrm>
        </p:grpSpPr>
        <p:sp>
          <p:nvSpPr>
            <p:cNvPr id="31" name="Rectangle 31"/>
            <p:cNvSpPr/>
            <p:nvPr/>
          </p:nvSpPr>
          <p:spPr>
            <a:xfrm>
              <a:off x="6667500" y="1428750"/>
              <a:ext cx="4762500" cy="3810000"/>
            </a:xfrm>
            <a:prstGeom prst="rect">
              <a:avLst/>
            </a:prstGeom>
            <a:solidFill>
              <a:srgbClr val="1A202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40855" y="1664018"/>
              <a:ext cx="12629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53E3E"/>
                  </a:solidFill>
                  <a:latin typeface="Arial"/>
                  <a:ea typeface="Arial"/>
                  <a:cs typeface="Arial"/>
                </a:rPr>
                <a:t>FONT WEIGHTS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858000" y="19050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53E3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35140" y="2091690"/>
              <a:ext cx="11138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Light 100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35140" y="2472690"/>
              <a:ext cx="137788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Regular 300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35140" y="2853690"/>
              <a:ext cx="129387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Normal 400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35140" y="3234690"/>
              <a:ext cx="102864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Bold 700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35140" y="3615690"/>
              <a:ext cx="11672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Black 900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44665" y="42681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EC0"/>
                  </a:solidFill>
                  <a:latin typeface="Arial"/>
                  <a:ea typeface="Microsoft YaHei"/>
                  <a:cs typeface="Arial"/>
                </a:rPr>
                <a:t>使用无衬线字体确保可读性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44665" y="455390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0AEC0"/>
                  </a:solidFill>
                  <a:latin typeface="Arial"/>
                  <a:ea typeface="Microsoft YaHei"/>
                  <a:cs typeface="Arial"/>
                </a:rPr>
                <a:t>通过字重变化创造层次感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42" name="TextBox 42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A0AEC0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A0AEC0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1612880" cy="6858000"/>
            <a:chOff x="0" y="0"/>
            <a:chExt cx="1161288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FAFAFA"/>
                </a:gs>
                <a:gs pos="100000">
                  <a:srgbClr val="F5F5F5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E0E0E0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E0E0E0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E0E0E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E0E0E0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27710" y="474345"/>
            <a:ext cx="2129790" cy="735330"/>
            <a:chOff x="727710" y="474345"/>
            <a:chExt cx="2129790" cy="735330"/>
          </a:xfrm>
        </p:grpSpPr>
        <p:sp>
          <p:nvSpPr>
            <p:cNvPr id="8" name="TextBox 8"/>
            <p:cNvSpPr txBox="1"/>
            <p:nvPr/>
          </p:nvSpPr>
          <p:spPr>
            <a:xfrm>
              <a:off x="750570" y="474345"/>
              <a:ext cx="8986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E53E3E"/>
                  </a:solidFill>
                  <a:latin typeface="Arial"/>
                  <a:ea typeface="Arial"/>
                  <a:cs typeface="Arial"/>
                </a:rPr>
                <a:t>COLOR SYSTEM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7710" y="6610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202C"/>
                  </a:solidFill>
                  <a:latin typeface="Arial"/>
                  <a:ea typeface="Microsoft YaHei"/>
                  <a:cs typeface="Arial"/>
                </a:rPr>
                <a:t>色彩系统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62000" y="1095375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19050">
              <a:solidFill>
                <a:srgbClr val="E53E3E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762000" y="1428750"/>
            <a:ext cx="7810500" cy="1905000"/>
            <a:chOff x="762000" y="1428750"/>
            <a:chExt cx="7810500" cy="1905000"/>
          </a:xfrm>
        </p:grpSpPr>
        <p:sp>
          <p:nvSpPr>
            <p:cNvPr id="12" name="Rectangle 12"/>
            <p:cNvSpPr/>
            <p:nvPr/>
          </p:nvSpPr>
          <p:spPr>
            <a:xfrm>
              <a:off x="762000" y="1428750"/>
              <a:ext cx="2476500" cy="1905000"/>
            </a:xfrm>
            <a:prstGeom prst="rect">
              <a:avLst/>
            </a:prstGeom>
            <a:solidFill>
              <a:srgbClr val="1A202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07580" y="1791652"/>
              <a:ext cx="5853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PRIMARY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38219" y="2185035"/>
              <a:ext cx="152406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#1A202C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68768" y="2855595"/>
              <a:ext cx="8629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0AEC0"/>
                  </a:solidFill>
                  <a:latin typeface="Arial"/>
                  <a:ea typeface="Microsoft YaHei"/>
                  <a:cs typeface="Arial"/>
                </a:rPr>
                <a:t>主要文字、标题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429000" y="1428750"/>
              <a:ext cx="2476500" cy="1905000"/>
            </a:xfrm>
            <a:prstGeom prst="rect">
              <a:avLst/>
            </a:prstGeom>
            <a:solidFill>
              <a:srgbClr val="E53E3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411335" y="1791652"/>
              <a:ext cx="511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ACCENT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05219" y="2185035"/>
              <a:ext cx="152406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#E53E3E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175760" y="285559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强调、按钮、链接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96000" y="1428750"/>
              <a:ext cx="2476500" cy="190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01913" y="1791652"/>
              <a:ext cx="8646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A202C"/>
                  </a:solidFill>
                  <a:latin typeface="Arial"/>
                  <a:ea typeface="Arial"/>
                  <a:cs typeface="Arial"/>
                </a:rPr>
                <a:t>BACKGROUND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72219" y="2185035"/>
              <a:ext cx="152406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1A202C"/>
                  </a:solidFill>
                  <a:latin typeface="Arial"/>
                  <a:ea typeface="Arial"/>
                  <a:cs typeface="Arial"/>
                </a:rPr>
                <a:t>#FFFFFF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22782" y="2855595"/>
              <a:ext cx="6229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背景、卡片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62000" y="3619500"/>
            <a:ext cx="8191500" cy="1143000"/>
            <a:chOff x="762000" y="3619500"/>
            <a:chExt cx="8191500" cy="1143000"/>
          </a:xfrm>
        </p:grpSpPr>
        <p:sp>
          <p:nvSpPr>
            <p:cNvPr id="25" name="Rectangle 25"/>
            <p:cNvSpPr/>
            <p:nvPr/>
          </p:nvSpPr>
          <p:spPr>
            <a:xfrm>
              <a:off x="762000" y="3619500"/>
              <a:ext cx="1905000" cy="1143000"/>
            </a:xfrm>
            <a:prstGeom prst="rect">
              <a:avLst/>
            </a:prstGeom>
            <a:solidFill>
              <a:srgbClr val="F7FAFC"/>
            </a:solidFill>
            <a:ln w="9525">
              <a:solidFill>
                <a:srgbClr val="E0E0E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418155" y="4077652"/>
              <a:ext cx="5926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A202C"/>
                  </a:solidFill>
                  <a:latin typeface="Arial"/>
                  <a:ea typeface="Arial"/>
                  <a:cs typeface="Arial"/>
                </a:rPr>
                <a:t>#F7FAFC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63040" y="437959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浅灰背景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857500" y="3619500"/>
              <a:ext cx="1905000" cy="11430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513655" y="4077652"/>
              <a:ext cx="5926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A202C"/>
                  </a:solidFill>
                  <a:latin typeface="Arial"/>
                  <a:ea typeface="Arial"/>
                  <a:cs typeface="Arial"/>
                </a:rPr>
                <a:t>#E2E8F0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38525" y="43795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边框、分隔线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953000" y="3619500"/>
              <a:ext cx="1905000" cy="1143000"/>
            </a:xfrm>
            <a:prstGeom prst="rect">
              <a:avLst/>
            </a:prstGeom>
            <a:solidFill>
              <a:srgbClr val="A0AEC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609155" y="4077652"/>
              <a:ext cx="5926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#A0AEC0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54040" y="437959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次要文字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048500" y="3619500"/>
              <a:ext cx="1905000" cy="1143000"/>
            </a:xfrm>
            <a:prstGeom prst="rect">
              <a:avLst/>
            </a:prstGeom>
            <a:solidFill>
              <a:srgbClr val="4A55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704655" y="4077652"/>
              <a:ext cx="5926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#4A5568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49540" y="437959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正文文字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62000" y="5048250"/>
            <a:ext cx="8191500" cy="952500"/>
            <a:chOff x="762000" y="5048250"/>
            <a:chExt cx="8191500" cy="952500"/>
          </a:xfrm>
        </p:grpSpPr>
        <p:sp>
          <p:nvSpPr>
            <p:cNvPr id="38" name="Rectangle 38"/>
            <p:cNvSpPr/>
            <p:nvPr/>
          </p:nvSpPr>
          <p:spPr>
            <a:xfrm>
              <a:off x="762000" y="5048250"/>
              <a:ext cx="8191500" cy="952500"/>
            </a:xfrm>
            <a:prstGeom prst="rect">
              <a:avLst/>
            </a:prstGeom>
            <a:solidFill>
              <a:srgbClr val="1A202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39165" y="5315902"/>
              <a:ext cx="9381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E53E3E"/>
                  </a:solidFill>
                  <a:latin typeface="Arial"/>
                  <a:ea typeface="Arial"/>
                  <a:cs typeface="Arial"/>
                </a:rPr>
                <a:t>COLOR RULES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0118" y="5609749"/>
              <a:ext cx="34441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Arial"/>
                  <a:ea typeface="Microsoft YaHei"/>
                  <a:cs typeface="Arial"/>
                </a:rPr>
                <a:t>• 主色调：黑色 #1A202C（文字） + 白色 #FFFFFF（背景）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0118" y="5800249"/>
              <a:ext cx="31451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0AEC0"/>
                  </a:solidFill>
                  <a:latin typeface="Arial"/>
                  <a:ea typeface="Microsoft YaHei"/>
                  <a:cs typeface="Arial"/>
                </a:rPr>
                <a:t>• 强调色：红色 #E53E3E（关键信息、按钮、分隔线）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43" name="TextBox 43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A0AEC0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A0AEC0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7" grpId="0"/>
      <p:bldP spid="4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1612880" cy="6858000"/>
            <a:chOff x="0" y="0"/>
            <a:chExt cx="1161288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FAFAFA"/>
                </a:gs>
                <a:gs pos="100000">
                  <a:srgbClr val="F5F5F5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E0E0E0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E0E0E0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E0E0E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E0E0E0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27710" y="474345"/>
            <a:ext cx="2129790" cy="735330"/>
            <a:chOff x="727710" y="474345"/>
            <a:chExt cx="2129790" cy="735330"/>
          </a:xfrm>
        </p:grpSpPr>
        <p:sp>
          <p:nvSpPr>
            <p:cNvPr id="8" name="TextBox 8"/>
            <p:cNvSpPr txBox="1"/>
            <p:nvPr/>
          </p:nvSpPr>
          <p:spPr>
            <a:xfrm>
              <a:off x="750570" y="474345"/>
              <a:ext cx="7915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E53E3E"/>
                  </a:solidFill>
                  <a:latin typeface="Arial"/>
                  <a:ea typeface="Arial"/>
                  <a:cs typeface="Arial"/>
                </a:rPr>
                <a:t>COMPONENTS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7710" y="661035"/>
              <a:ext cx="120272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202C"/>
                  </a:solidFill>
                  <a:latin typeface="Arial"/>
                  <a:ea typeface="Microsoft YaHei"/>
                  <a:cs typeface="Arial"/>
                </a:rPr>
                <a:t>组件库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62000" y="1095375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19050">
              <a:solidFill>
                <a:srgbClr val="E53E3E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762000" y="1428750"/>
            <a:ext cx="3429000" cy="1905000"/>
            <a:chOff x="762000" y="1428750"/>
            <a:chExt cx="3429000" cy="1905000"/>
          </a:xfrm>
        </p:grpSpPr>
        <p:sp>
          <p:nvSpPr>
            <p:cNvPr id="12" name="Rectangle 12"/>
            <p:cNvSpPr/>
            <p:nvPr/>
          </p:nvSpPr>
          <p:spPr>
            <a:xfrm>
              <a:off x="762000" y="1428750"/>
              <a:ext cx="3429000" cy="190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9165" y="1601152"/>
              <a:ext cx="6220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A202C"/>
                  </a:solidFill>
                  <a:latin typeface="Arial"/>
                  <a:ea typeface="Arial"/>
                  <a:cs typeface="Arial"/>
                </a:rPr>
                <a:t>BUTTONS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52500" y="1905000"/>
              <a:ext cx="1143000" cy="381000"/>
            </a:xfrm>
            <a:prstGeom prst="rect">
              <a:avLst/>
            </a:prstGeom>
            <a:solidFill>
              <a:srgbClr val="E53E3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31330" y="2029778"/>
              <a:ext cx="5853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Primary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286000" y="1905000"/>
              <a:ext cx="1143000" cy="381000"/>
            </a:xfrm>
            <a:prstGeom prst="rect">
              <a:avLst/>
            </a:prstGeom>
            <a:solidFill>
              <a:srgbClr val="1A202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480295" y="2029778"/>
              <a:ext cx="7544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Secondary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52500" y="2476500"/>
              <a:ext cx="1143000" cy="381000"/>
            </a:xfrm>
            <a:prstGeom prst="rect">
              <a:avLst/>
            </a:prstGeom>
            <a:noFill/>
            <a:ln w="19050">
              <a:solidFill>
                <a:srgbClr val="E53E3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49707" y="2601278"/>
              <a:ext cx="5485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E53E3E"/>
                  </a:solidFill>
                  <a:latin typeface="Arial"/>
                  <a:ea typeface="Arial"/>
                  <a:cs typeface="Arial"/>
                </a:rPr>
                <a:t>Outline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381500" y="1428750"/>
            <a:ext cx="3429000" cy="1905000"/>
            <a:chOff x="4381500" y="1428750"/>
            <a:chExt cx="3429000" cy="1905000"/>
          </a:xfrm>
        </p:grpSpPr>
        <p:sp>
          <p:nvSpPr>
            <p:cNvPr id="21" name="Rectangle 21"/>
            <p:cNvSpPr/>
            <p:nvPr/>
          </p:nvSpPr>
          <p:spPr>
            <a:xfrm>
              <a:off x="4381500" y="1428750"/>
              <a:ext cx="3429000" cy="190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558665" y="1601152"/>
              <a:ext cx="4309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A202C"/>
                  </a:solidFill>
                  <a:latin typeface="Arial"/>
                  <a:ea typeface="Arial"/>
                  <a:cs typeface="Arial"/>
                </a:rPr>
                <a:t>CARDS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572000" y="1905000"/>
              <a:ext cx="3048000" cy="1143000"/>
            </a:xfrm>
            <a:prstGeom prst="rect">
              <a:avLst/>
            </a:prstGeom>
            <a:solidFill>
              <a:srgbClr val="F7FAFC"/>
            </a:solidFill>
            <a:ln w="9525">
              <a:solidFill>
                <a:srgbClr val="E0E0E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629924" y="2235518"/>
              <a:ext cx="9321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A202C"/>
                  </a:solidFill>
                  <a:latin typeface="Arial"/>
                  <a:ea typeface="Arial"/>
                  <a:cs typeface="Arial"/>
                </a:rPr>
                <a:t>Card Title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88066" y="2553652"/>
              <a:ext cx="16158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4A5568"/>
                  </a:solidFill>
                  <a:latin typeface="Arial"/>
                  <a:ea typeface="Arial"/>
                  <a:cs typeface="Arial"/>
                </a:rPr>
                <a:t>Card content goes here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001000" y="1428750"/>
            <a:ext cx="3429000" cy="1905000"/>
            <a:chOff x="8001000" y="1428750"/>
            <a:chExt cx="3429000" cy="1905000"/>
          </a:xfrm>
        </p:grpSpPr>
        <p:sp>
          <p:nvSpPr>
            <p:cNvPr id="27" name="Rectangle 27"/>
            <p:cNvSpPr/>
            <p:nvPr/>
          </p:nvSpPr>
          <p:spPr>
            <a:xfrm>
              <a:off x="8001000" y="1428750"/>
              <a:ext cx="3429000" cy="190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178165" y="160115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A202C"/>
                  </a:solidFill>
                  <a:latin typeface="Arial"/>
                  <a:ea typeface="Arial"/>
                  <a:cs typeface="Arial"/>
                </a:rPr>
                <a:t>INPUTS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191500" y="1905000"/>
              <a:ext cx="3048000" cy="381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68665" y="2029778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A0AEC0"/>
                  </a:solidFill>
                  <a:latin typeface="Arial"/>
                  <a:ea typeface="Arial"/>
                  <a:cs typeface="Arial"/>
                </a:rPr>
                <a:t>Placeholder text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191500" y="2476500"/>
              <a:ext cx="3048000" cy="381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E53E3E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68665" y="2601278"/>
              <a:ext cx="7687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A202C"/>
                  </a:solidFill>
                  <a:latin typeface="Arial"/>
                  <a:ea typeface="Arial"/>
                  <a:cs typeface="Arial"/>
                </a:rPr>
                <a:t>Input value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62000" y="3619500"/>
            <a:ext cx="10668000" cy="1905000"/>
            <a:chOff x="762000" y="3619500"/>
            <a:chExt cx="10668000" cy="1905000"/>
          </a:xfrm>
        </p:grpSpPr>
        <p:sp>
          <p:nvSpPr>
            <p:cNvPr id="34" name="Rectangle 34"/>
            <p:cNvSpPr/>
            <p:nvPr/>
          </p:nvSpPr>
          <p:spPr>
            <a:xfrm>
              <a:off x="762000" y="3619500"/>
              <a:ext cx="10668000" cy="190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39165" y="3791902"/>
              <a:ext cx="4309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A202C"/>
                  </a:solidFill>
                  <a:latin typeface="Arial"/>
                  <a:ea typeface="Arial"/>
                  <a:cs typeface="Arial"/>
                </a:rPr>
                <a:t>TABLE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762000" y="40957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39165" y="4268152"/>
              <a:ext cx="3795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A202C"/>
                  </a:solidFill>
                  <a:latin typeface="Arial"/>
                  <a:ea typeface="Arial"/>
                  <a:cs typeface="Arial"/>
                </a:rPr>
                <a:t>Name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96665" y="4268152"/>
              <a:ext cx="3501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A202C"/>
                  </a:solidFill>
                  <a:latin typeface="Arial"/>
                  <a:ea typeface="Arial"/>
                  <a:cs typeface="Arial"/>
                </a:rPr>
                <a:t>Type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54165" y="4268152"/>
              <a:ext cx="511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A202C"/>
                  </a:solidFill>
                  <a:latin typeface="Arial"/>
                  <a:ea typeface="Arial"/>
                  <a:cs typeface="Arial"/>
                </a:rPr>
                <a:t>Status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762000" y="44767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39165" y="464915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4A5568"/>
                  </a:solidFill>
                  <a:latin typeface="Arial"/>
                  <a:ea typeface="Arial"/>
                  <a:cs typeface="Arial"/>
                </a:rPr>
                <a:t>Component A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796665" y="4649152"/>
              <a:ext cx="4887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4A5568"/>
                  </a:solidFill>
                  <a:latin typeface="Arial"/>
                  <a:ea typeface="Arial"/>
                  <a:cs typeface="Arial"/>
                </a:rPr>
                <a:t>Button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54165" y="4649152"/>
              <a:ext cx="4537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48BB78"/>
                  </a:solidFill>
                  <a:latin typeface="Arial"/>
                  <a:ea typeface="Arial"/>
                  <a:cs typeface="Arial"/>
                </a:rPr>
                <a:t>Active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39165" y="49349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4A5568"/>
                  </a:solidFill>
                  <a:latin typeface="Arial"/>
                  <a:ea typeface="Arial"/>
                  <a:cs typeface="Arial"/>
                </a:rPr>
                <a:t>Component B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796665" y="4934902"/>
              <a:ext cx="3347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4A5568"/>
                  </a:solidFill>
                  <a:latin typeface="Arial"/>
                  <a:ea typeface="Arial"/>
                  <a:cs typeface="Arial"/>
                </a:rPr>
                <a:t>Card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54165" y="4934902"/>
              <a:ext cx="5727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53E3E"/>
                  </a:solidFill>
                  <a:latin typeface="Arial"/>
                  <a:ea typeface="Arial"/>
                  <a:cs typeface="Arial"/>
                </a:rPr>
                <a:t>Inactive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48" name="TextBox 48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A0AEC0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A0AEC0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6" grpId="0"/>
      <p:bldP spid="33" grpId="0"/>
      <p:bldP spid="4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1612880" cy="6858000"/>
            <a:chOff x="0" y="0"/>
            <a:chExt cx="1161288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FAFAFA"/>
                </a:gs>
                <a:gs pos="100000">
                  <a:srgbClr val="F5F5F5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E0E0E0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E0E0E0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E0E0E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E0E0E0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27710" y="474345"/>
            <a:ext cx="2129790" cy="735330"/>
            <a:chOff x="727710" y="474345"/>
            <a:chExt cx="2129790" cy="735330"/>
          </a:xfrm>
        </p:grpSpPr>
        <p:sp>
          <p:nvSpPr>
            <p:cNvPr id="8" name="TextBox 8"/>
            <p:cNvSpPr txBox="1"/>
            <p:nvPr/>
          </p:nvSpPr>
          <p:spPr>
            <a:xfrm>
              <a:off x="750570" y="474345"/>
              <a:ext cx="5584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E53E3E"/>
                  </a:solidFill>
                  <a:latin typeface="Arial"/>
                  <a:ea typeface="Arial"/>
                  <a:cs typeface="Arial"/>
                </a:rPr>
                <a:t>SUMMARY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7710" y="66103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202C"/>
                  </a:solidFill>
                  <a:latin typeface="Arial"/>
                  <a:ea typeface="Microsoft YaHei"/>
                  <a:cs typeface="Arial"/>
                </a:rPr>
                <a:t>总结与规范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62000" y="1095375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19050">
              <a:solidFill>
                <a:srgbClr val="E53E3E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762000" y="1428750"/>
            <a:ext cx="5334000" cy="2857500"/>
            <a:chOff x="762000" y="1428750"/>
            <a:chExt cx="5334000" cy="2857500"/>
          </a:xfrm>
        </p:grpSpPr>
        <p:sp>
          <p:nvSpPr>
            <p:cNvPr id="12" name="Rectangle 12"/>
            <p:cNvSpPr/>
            <p:nvPr/>
          </p:nvSpPr>
          <p:spPr>
            <a:xfrm>
              <a:off x="762000" y="1428750"/>
              <a:ext cx="5334000" cy="2857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3450" y="164782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202C"/>
                  </a:solidFill>
                  <a:latin typeface="Arial"/>
                  <a:ea typeface="Microsoft YaHei"/>
                  <a:cs typeface="Arial"/>
                </a:rPr>
                <a:t>设计规范要点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952500" y="19050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E53E3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165" y="20774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严格遵循 12 列网格系统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9165" y="2363152"/>
              <a:ext cx="24209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使用无衬线字体（Helvetica/Arial）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9165" y="2648902"/>
              <a:ext cx="1405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黑白为主，红色强调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9165" y="2934652"/>
              <a:ext cx="1685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通过字号和字重创造层次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9165" y="3220402"/>
              <a:ext cx="15458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保持简洁、清晰、可读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9165" y="3506152"/>
              <a:ext cx="15458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• 组件风格统一，无圆角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286500" y="1428750"/>
            <a:ext cx="5143500" cy="2862262"/>
            <a:chOff x="6286500" y="1428750"/>
            <a:chExt cx="5143500" cy="2862262"/>
          </a:xfrm>
        </p:grpSpPr>
        <p:sp>
          <p:nvSpPr>
            <p:cNvPr id="22" name="Rectangle 22"/>
            <p:cNvSpPr/>
            <p:nvPr/>
          </p:nvSpPr>
          <p:spPr>
            <a:xfrm>
              <a:off x="6286500" y="1428750"/>
              <a:ext cx="5143500" cy="2857500"/>
            </a:xfrm>
            <a:prstGeom prst="rect">
              <a:avLst/>
            </a:prstGeom>
            <a:solidFill>
              <a:srgbClr val="1A202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59855" y="1664018"/>
              <a:ext cx="128184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53E3E"/>
                  </a:solidFill>
                  <a:latin typeface="Arial"/>
                  <a:ea typeface="Arial"/>
                  <a:cs typeface="Arial"/>
                </a:rPr>
                <a:t>SPECIFICATION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477000" y="1905000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noFill/>
            <a:ln w="9525">
              <a:solidFill>
                <a:srgbClr val="E53E3E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63665" y="207740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A0AEC0"/>
                  </a:solidFill>
                  <a:latin typeface="Arial"/>
                  <a:ea typeface="Arial"/>
                  <a:cs typeface="Arial"/>
                </a:rPr>
                <a:t>Grid: 12 columns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3665" y="2363152"/>
              <a:ext cx="9157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A0AEC0"/>
                  </a:solidFill>
                  <a:latin typeface="Arial"/>
                  <a:ea typeface="Arial"/>
                  <a:cs typeface="Arial"/>
                </a:rPr>
                <a:t>Gutter: 20px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3665" y="264890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A0AEC0"/>
                  </a:solidFill>
                  <a:latin typeface="Arial"/>
                  <a:ea typeface="Arial"/>
                  <a:cs typeface="Arial"/>
                </a:rPr>
                <a:t>Margin: 80px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3665" y="2934652"/>
              <a:ext cx="9227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A0AEC0"/>
                  </a:solidFill>
                  <a:latin typeface="Arial"/>
                  <a:ea typeface="Arial"/>
                  <a:cs typeface="Arial"/>
                </a:rPr>
                <a:t>Baseline: 8px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3665" y="3220402"/>
              <a:ext cx="15108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A0AEC0"/>
                  </a:solidFill>
                  <a:latin typeface="Arial"/>
                  <a:ea typeface="Arial"/>
                  <a:cs typeface="Arial"/>
                </a:rPr>
                <a:t>Font: Helvetica, Arial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3665" y="3506152"/>
              <a:ext cx="13078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A0AEC0"/>
                  </a:solidFill>
                  <a:latin typeface="Arial"/>
                  <a:ea typeface="Arial"/>
                  <a:cs typeface="Arial"/>
                </a:rPr>
                <a:t>Border Radius: 0px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3665" y="3791902"/>
              <a:ext cx="12168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A0AEC0"/>
                  </a:solidFill>
                  <a:latin typeface="Arial"/>
                  <a:ea typeface="Arial"/>
                  <a:cs typeface="Arial"/>
                </a:rPr>
                <a:t>Primary: #1A202C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63665" y="407765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A0AEC0"/>
                  </a:solidFill>
                  <a:latin typeface="Arial"/>
                  <a:ea typeface="Arial"/>
                  <a:cs typeface="Arial"/>
                </a:rPr>
                <a:t>Accent: #E53E3E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2000" y="4572000"/>
            <a:ext cx="10668000" cy="762000"/>
            <a:chOff x="762000" y="4572000"/>
            <a:chExt cx="10668000" cy="762000"/>
          </a:xfrm>
        </p:grpSpPr>
        <p:sp>
          <p:nvSpPr>
            <p:cNvPr id="34" name="Rectangle 34"/>
            <p:cNvSpPr/>
            <p:nvPr/>
          </p:nvSpPr>
          <p:spPr>
            <a:xfrm>
              <a:off x="762000" y="4572000"/>
              <a:ext cx="10668000" cy="762000"/>
            </a:xfrm>
            <a:prstGeom prst="rect">
              <a:avLst/>
            </a:prstGeom>
            <a:solidFill>
              <a:srgbClr val="E53E3E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812982" y="4853940"/>
              <a:ext cx="256603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开始使用瑞士设计系统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004500" y="5585460"/>
            <a:ext cx="4182999" cy="243840"/>
            <a:chOff x="4004500" y="5585460"/>
            <a:chExt cx="4182999" cy="243840"/>
          </a:xfrm>
        </p:grpSpPr>
        <p:sp>
          <p:nvSpPr>
            <p:cNvPr id="37" name="TextBox 37"/>
            <p:cNvSpPr txBox="1"/>
            <p:nvPr/>
          </p:nvSpPr>
          <p:spPr>
            <a:xfrm>
              <a:off x="4004500" y="5585460"/>
              <a:ext cx="418299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718096"/>
                  </a:solidFill>
                  <a:latin typeface="Arial"/>
                  <a:ea typeface="Arial"/>
                  <a:cs typeface="Arial"/>
                </a:rPr>
                <a:t>swiss-design-system.com | github.com/swiss-design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39" name="TextBox 39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A0AEC0"/>
                  </a:solidFill>
                  <a:latin typeface="Arial"/>
                  <a:ea typeface="Arial"/>
                  <a:cs typeface="Arial"/>
                </a:rPr>
                <a:t>08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A0AEC0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3" grpId="0"/>
      <p:bldP spid="36" grpId="0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2026-06-24T01:52:06Z</dcterms:created>
  <dcterms:modified xsi:type="dcterms:W3CDTF">2026-06-24T01:52:06Z</dcterms:modified>
  <cp:category/>
  <cp:contentStatus/>
</cp:coreProperties>
</file>