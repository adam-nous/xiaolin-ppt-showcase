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1A2E"/>
                </a:gs>
                <a:gs pos="100000">
                  <a:srgbClr val="0F0F1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2163425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9618" y="1143000"/>
            <a:ext cx="1207913" cy="473869"/>
            <a:chOff x="749618" y="1143000"/>
            <a:chExt cx="1207913" cy="473869"/>
          </a:xfrm>
        </p:grpSpPr>
        <p:sp>
          <p:nvSpPr>
            <p:cNvPr id="8" name="Rectangle 8"/>
            <p:cNvSpPr/>
            <p:nvPr/>
          </p:nvSpPr>
          <p:spPr>
            <a:xfrm>
              <a:off x="762000" y="1143000"/>
              <a:ext cx="571500" cy="1905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9618" y="1418749"/>
              <a:ext cx="1207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D4AF37"/>
                  </a:solidFill>
                  <a:latin typeface="Georgia"/>
                  <a:ea typeface="Georgia"/>
                  <a:cs typeface="Georgia"/>
                </a:rPr>
                <a:t>LUXURY · EDITORIAL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3420" y="2274570"/>
            <a:ext cx="1649349" cy="2811780"/>
            <a:chOff x="693420" y="2274570"/>
            <a:chExt cx="1649349" cy="2811780"/>
          </a:xfrm>
        </p:grpSpPr>
        <p:sp>
          <p:nvSpPr>
            <p:cNvPr id="11" name="TextBox 11"/>
            <p:cNvSpPr txBox="1"/>
            <p:nvPr/>
          </p:nvSpPr>
          <p:spPr>
            <a:xfrm>
              <a:off x="693420" y="227457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奢华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3420" y="313182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杂志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3420" y="398907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D4AF37"/>
                  </a:solidFill>
                  <a:latin typeface="Georgia"/>
                  <a:ea typeface="SimSun"/>
                  <a:cs typeface="Georgia"/>
                </a:rPr>
                <a:t>美学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4855" y="4953000"/>
            <a:ext cx="2374582" cy="671512"/>
            <a:chOff x="744855" y="4953000"/>
            <a:chExt cx="2374582" cy="671512"/>
          </a:xfrm>
        </p:grpSpPr>
        <p:sp>
          <p:nvSpPr>
            <p:cNvPr id="15" name="Line 15"/>
            <p:cNvSpPr/>
            <p:nvPr/>
          </p:nvSpPr>
          <p:spPr>
            <a:xfrm>
              <a:off x="762000" y="4953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4288">
              <a:solidFill>
                <a:srgbClr val="D4AF3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4855" y="50930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高端品牌视觉设计与排版艺术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8665" y="541115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7A6A"/>
                  </a:solidFill>
                  <a:latin typeface="Georgia"/>
                  <a:ea typeface="SimSun"/>
                  <a:cs typeface="Georgia"/>
                </a:rPr>
                <a:t>2026 年度设计趋势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0" y="1905000"/>
            <a:ext cx="3810000" cy="3810000"/>
            <a:chOff x="7620000" y="1905000"/>
            <a:chExt cx="3810000" cy="3810000"/>
          </a:xfrm>
        </p:grpSpPr>
        <p:sp>
          <p:nvSpPr>
            <p:cNvPr id="19" name="Rectangle 19"/>
            <p:cNvSpPr/>
            <p:nvPr/>
          </p:nvSpPr>
          <p:spPr>
            <a:xfrm>
              <a:off x="7620000" y="1905000"/>
              <a:ext cx="3810000" cy="3810000"/>
            </a:xfrm>
            <a:prstGeom prst="rect">
              <a:avLst/>
            </a:prstGeom>
            <a:noFill/>
            <a:ln w="9525">
              <a:solidFill>
                <a:srgbClr val="D4AF37">
                  <a:alpha val="20000"/>
                </a:srgbClr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096250" y="2381250"/>
              <a:ext cx="2857500" cy="2857500"/>
            </a:xfrm>
            <a:prstGeom prst="rect">
              <a:avLst/>
            </a:prstGeom>
            <a:noFill/>
            <a:ln w="9525">
              <a:solidFill>
                <a:srgbClr val="D4AF37">
                  <a:alpha val="15000"/>
                </a:srgbClr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572500" y="2857500"/>
              <a:ext cx="1905000" cy="1905000"/>
            </a:xfrm>
            <a:prstGeom prst="rect">
              <a:avLst/>
            </a:prstGeom>
            <a:noFill/>
            <a:ln w="9525">
              <a:solidFill>
                <a:srgbClr val="D4AF37">
                  <a:alpha val="10000"/>
                </a:srgbClr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48750" y="3333750"/>
              <a:ext cx="952500" cy="952500"/>
            </a:xfrm>
            <a:prstGeom prst="rect">
              <a:avLst/>
            </a:prstGeom>
            <a:noFill/>
            <a:ln w="9525">
              <a:solidFill>
                <a:srgbClr val="D4AF37">
                  <a:alpha val="5000"/>
                </a:srgbClr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24" name="TextBox 24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A7A6A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A7A6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1A2E"/>
                </a:gs>
                <a:gs pos="100000">
                  <a:srgbClr val="0F0F1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2163425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50570" y="664845"/>
            <a:ext cx="2106930" cy="201930"/>
            <a:chOff x="750570" y="664845"/>
            <a:chExt cx="2106930" cy="2019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664845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D4AF37"/>
                  </a:solidFill>
                  <a:latin typeface="Georgia"/>
                  <a:ea typeface="Georgia"/>
                  <a:cs typeface="Georgia"/>
                </a:rPr>
                <a:t>TABLE OF CONTENTS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8572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D4AF37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27710" y="1232535"/>
            <a:ext cx="5939790" cy="4391977"/>
            <a:chOff x="727710" y="1232535"/>
            <a:chExt cx="5939790" cy="4391977"/>
          </a:xfrm>
        </p:grpSpPr>
        <p:grpSp>
          <p:nvGrpSpPr>
            <p:cNvPr id="15" name="Group 15"/>
            <p:cNvGrpSpPr/>
            <p:nvPr/>
          </p:nvGrpSpPr>
          <p:grpSpPr>
            <a:xfrm>
              <a:off x="727710" y="1232535"/>
              <a:ext cx="5939790" cy="681990"/>
              <a:chOff x="727710" y="1232535"/>
              <a:chExt cx="5939790" cy="68199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27710" y="12325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D4AF37"/>
                    </a:solidFill>
                    <a:latin typeface="Georgia"/>
                    <a:ea typeface="Georgia"/>
                    <a:cs typeface="Georgia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885950" y="1266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品牌哲学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891665" y="16011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奢华品牌的核心价值与美学理念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762000" y="19050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D4AF37">
                    <a:alpha val="30000"/>
                  </a:srgbClr>
                </a:solidFill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727710" y="2185035"/>
              <a:ext cx="5939790" cy="681990"/>
              <a:chOff x="727710" y="2185035"/>
              <a:chExt cx="5939790" cy="68199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27710" y="21850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D4AF37"/>
                    </a:solidFill>
                    <a:latin typeface="Georgia"/>
                    <a:ea typeface="Georgia"/>
                    <a:cs typeface="Georgia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885950" y="22193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视觉语言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91665" y="25536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色彩、字体、图像的奢华表达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762000" y="2857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D4AF37">
                    <a:alpha val="30000"/>
                  </a:srgbClr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727710" y="3137535"/>
              <a:ext cx="5939790" cy="681990"/>
              <a:chOff x="727710" y="3137535"/>
              <a:chExt cx="5939790" cy="68199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27710" y="31375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D4AF37"/>
                    </a:solidFill>
                    <a:latin typeface="Georgia"/>
                    <a:ea typeface="Georgia"/>
                    <a:cs typeface="Georgia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885950" y="3171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排版艺术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891665" y="35061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高级排版技巧与视觉层次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762000" y="38100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D4AF37">
                    <a:alpha val="30000"/>
                  </a:srgbClr>
                </a:solidFill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727710" y="4090035"/>
              <a:ext cx="5939790" cy="681990"/>
              <a:chOff x="727710" y="4090035"/>
              <a:chExt cx="5939790" cy="68199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727710" y="40900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D4AF37"/>
                    </a:solidFill>
                    <a:latin typeface="Georgia"/>
                    <a:ea typeface="Georgia"/>
                    <a:cs typeface="Georgia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885950" y="41243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图像处理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891665" y="44586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高端摄影与视觉叙事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762000" y="4762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D4AF37">
                    <a:alpha val="30000"/>
                  </a:srgbClr>
                </a:solidFill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727710" y="5042535"/>
              <a:ext cx="2590800" cy="581977"/>
              <a:chOff x="727710" y="5042535"/>
              <a:chExt cx="2590800" cy="581977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27710" y="50425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D4AF37"/>
                    </a:solidFill>
                    <a:latin typeface="Georgia"/>
                    <a:ea typeface="Georgia"/>
                    <a:cs typeface="Georgia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85950" y="5076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案例赏析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891665" y="54111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顶级奢侈品牌设计案例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7620000" y="1143000"/>
            <a:ext cx="3810000" cy="4762500"/>
            <a:chOff x="7620000" y="1143000"/>
            <a:chExt cx="3810000" cy="4762500"/>
          </a:xfrm>
        </p:grpSpPr>
        <p:sp>
          <p:nvSpPr>
            <p:cNvPr id="36" name="Rectangle 36"/>
            <p:cNvSpPr/>
            <p:nvPr/>
          </p:nvSpPr>
          <p:spPr>
            <a:xfrm>
              <a:off x="7620000" y="1143000"/>
              <a:ext cx="3810000" cy="4762500"/>
            </a:xfrm>
            <a:prstGeom prst="rect">
              <a:avLst/>
            </a:prstGeom>
            <a:solidFill>
              <a:srgbClr val="D4AF37">
                <a:alpha val="3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0618" y="1885950"/>
              <a:ext cx="1548765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0" dirty="0">
                  <a:solidFill>
                    <a:srgbClr val="D4AF37">
                      <a:alphaMod val="10000"/>
                    </a:srgbClr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93708" y="3489960"/>
              <a:ext cx="8625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B8A080"/>
                  </a:solidFill>
                  <a:latin typeface="Georgia"/>
                  <a:ea typeface="Georgia"/>
                  <a:cs typeface="Georgia"/>
                </a:rPr>
                <a:t>5 SECTIONS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096250" y="3810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4762">
              <a:solidFill>
                <a:srgbClr val="D4AF37">
                  <a:alpha val="3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9634" y="4077652"/>
              <a:ext cx="530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8A7A6A"/>
                  </a:solidFill>
                  <a:latin typeface="Georgia"/>
                  <a:ea typeface="Georgia"/>
                  <a:cs typeface="Georgia"/>
                </a:rPr>
                <a:t>8 PAGES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2" name="TextBox 42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A7A6A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A7A6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1A2E"/>
                </a:gs>
                <a:gs pos="100000">
                  <a:srgbClr val="0F0F1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2163425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D4AF37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品牌哲学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rgbClr val="D4AF37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1428750"/>
            <a:ext cx="10668000" cy="1905000"/>
            <a:chOff x="762000" y="1428750"/>
            <a:chExt cx="10668000" cy="1905000"/>
          </a:xfrm>
        </p:grpSpPr>
        <p:grpSp>
          <p:nvGrpSpPr>
            <p:cNvPr id="18" name="Group 18"/>
            <p:cNvGrpSpPr/>
            <p:nvPr/>
          </p:nvGrpSpPr>
          <p:grpSpPr>
            <a:xfrm>
              <a:off x="762000" y="1428750"/>
              <a:ext cx="3429000" cy="1905000"/>
              <a:chOff x="762000" y="1428750"/>
              <a:chExt cx="3429000" cy="1905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428750"/>
                <a:ext cx="3429000" cy="1905000"/>
              </a:xfrm>
              <a:prstGeom prst="rect">
                <a:avLst/>
              </a:prstGeom>
              <a:solidFill>
                <a:srgbClr val="D4AF37">
                  <a:alpha val="5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1428750"/>
                <a:ext cx="38100" cy="1905000"/>
              </a:xfrm>
              <a:prstGeom prst="rect">
                <a:avLst/>
              </a:pr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28700" y="164782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传承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4415" y="19821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百年品牌的积淀与传承，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4415" y="2220278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每一处细节都承载着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4415" y="24584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历史的厚重与文化的底蕴。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81500" y="1428750"/>
              <a:ext cx="3429000" cy="1905000"/>
              <a:chOff x="4381500" y="1428750"/>
              <a:chExt cx="3429000" cy="1905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81500" y="1428750"/>
                <a:ext cx="3429000" cy="1905000"/>
              </a:xfrm>
              <a:prstGeom prst="rect">
                <a:avLst/>
              </a:prstGeom>
              <a:solidFill>
                <a:srgbClr val="D4AF37">
                  <a:alpha val="3000"/>
                </a:srgbClr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81500" y="1428750"/>
                <a:ext cx="38100" cy="1905000"/>
              </a:xfrm>
              <a:prstGeom prst="rect">
                <a:avLst/>
              </a:pr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648200" y="164782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工艺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53915" y="19821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精湛的手工技艺，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653915" y="2220278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对完美的极致追求，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53915" y="24584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每一件作品都是艺术品。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001000" y="1428750"/>
              <a:ext cx="3429000" cy="1905000"/>
              <a:chOff x="8001000" y="1428750"/>
              <a:chExt cx="3429000" cy="1905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001000" y="1428750"/>
                <a:ext cx="3429000" cy="1905000"/>
              </a:xfrm>
              <a:prstGeom prst="rect">
                <a:avLst/>
              </a:prstGeom>
              <a:solidFill>
                <a:srgbClr val="D4AF37">
                  <a:alpha val="5000"/>
                </a:srgbClr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8001000" y="1428750"/>
                <a:ext cx="38100" cy="1905000"/>
              </a:xfrm>
              <a:prstGeom prst="rect">
                <a:avLst/>
              </a:pr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67700" y="164782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创新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73415" y="19821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在传承中创新，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73415" y="2220278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将经典与现代融合，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273415" y="24584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创造永恒的美学价值。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762000" y="3619500"/>
            <a:ext cx="10668000" cy="1143000"/>
            <a:chOff x="762000" y="3619500"/>
            <a:chExt cx="10668000" cy="1143000"/>
          </a:xfrm>
        </p:grpSpPr>
        <p:sp>
          <p:nvSpPr>
            <p:cNvPr id="34" name="Rectangle 34"/>
            <p:cNvSpPr/>
            <p:nvPr/>
          </p:nvSpPr>
          <p:spPr>
            <a:xfrm>
              <a:off x="762000" y="3619500"/>
              <a:ext cx="10668000" cy="1143000"/>
            </a:xfrm>
            <a:prstGeom prst="rect">
              <a:avLst/>
            </a:prstGeom>
            <a:solidFill>
              <a:srgbClr val="D4AF37">
                <a:alpha val="3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80854" y="3901440"/>
              <a:ext cx="463029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"奢华不是价格的堆砌，而是对完美的执着"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03105" y="43634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A7A6A"/>
                  </a:solidFill>
                  <a:latin typeface="Georgia"/>
                  <a:ea typeface="SimSun"/>
                  <a:cs typeface="Georgia"/>
                </a:rPr>
                <a:t>— 奢华品牌宣言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A7A6A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A7A6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1A2E"/>
                </a:gs>
                <a:gs pos="100000">
                  <a:srgbClr val="0F0F1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2163425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D4AF37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视觉语言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rgbClr val="D4AF37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62000" y="1428750"/>
            <a:ext cx="8191500" cy="1428750"/>
            <a:chOff x="762000" y="1428750"/>
            <a:chExt cx="8191500" cy="1428750"/>
          </a:xfrm>
        </p:grpSpPr>
        <p:sp>
          <p:nvSpPr>
            <p:cNvPr id="12" name="Rectangle 12"/>
            <p:cNvSpPr/>
            <p:nvPr/>
          </p:nvSpPr>
          <p:spPr>
            <a:xfrm>
              <a:off x="762000" y="1428750"/>
              <a:ext cx="1905000" cy="1428750"/>
            </a:xfrm>
            <a:prstGeom prst="rect">
              <a:avLst/>
            </a:prstGeom>
            <a:solidFill>
              <a:srgbClr val="1A1A2E"/>
            </a:solidFill>
            <a:ln w="9525">
              <a:solidFill>
                <a:srgbClr val="D4AF3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91139" y="17916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4AF37"/>
                  </a:solidFill>
                  <a:latin typeface="Georgia"/>
                  <a:ea typeface="SimSun"/>
                  <a:cs typeface="Georgia"/>
                </a:rPr>
                <a:t>深邃黑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72041" y="2093595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B8A080"/>
                  </a:solidFill>
                  <a:latin typeface="Georgia"/>
                  <a:ea typeface="Georgia"/>
                  <a:cs typeface="Georgia"/>
                </a:rPr>
                <a:t>#1A1A2E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857500" y="1428750"/>
              <a:ext cx="1905000" cy="142875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86639" y="17916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2E"/>
                  </a:solidFill>
                  <a:latin typeface="Georgia"/>
                  <a:ea typeface="SimSun"/>
                  <a:cs typeface="Georgia"/>
                </a:rPr>
                <a:t>奢华金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67541" y="2093595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2E"/>
                  </a:solidFill>
                  <a:latin typeface="Georgia"/>
                  <a:ea typeface="Georgia"/>
                  <a:cs typeface="Georgia"/>
                </a:rPr>
                <a:t>#D4AF37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53000" y="1428750"/>
              <a:ext cx="1905000" cy="1428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82139" y="17916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2E"/>
                  </a:solidFill>
                  <a:latin typeface="Georgia"/>
                  <a:ea typeface="SimSun"/>
                  <a:cs typeface="Georgia"/>
                </a:rPr>
                <a:t>纯净白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3041" y="2093595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2E"/>
                  </a:solidFill>
                  <a:latin typeface="Georgia"/>
                  <a:ea typeface="Georgia"/>
                  <a:cs typeface="Georgia"/>
                </a:rPr>
                <a:t>#FFFFFF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048500" y="1428750"/>
              <a:ext cx="1905000" cy="1428750"/>
            </a:xfrm>
            <a:prstGeom prst="rect">
              <a:avLst/>
            </a:prstGeom>
            <a:solidFill>
              <a:srgbClr val="2A2A3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7648" y="17916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4AF37"/>
                  </a:solidFill>
                  <a:latin typeface="Georgia"/>
                  <a:ea typeface="SimSun"/>
                  <a:cs typeface="Georgia"/>
                </a:rPr>
                <a:t>深灰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58541" y="2093595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B8A080"/>
                  </a:solidFill>
                  <a:latin typeface="Georgia"/>
                  <a:ea typeface="Georgia"/>
                  <a:cs typeface="Georgia"/>
                </a:rPr>
                <a:t>#2A2A3E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3143250"/>
            <a:ext cx="8191500" cy="1905000"/>
            <a:chOff x="762000" y="3143250"/>
            <a:chExt cx="8191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762000" y="3143250"/>
              <a:ext cx="8191500" cy="1905000"/>
            </a:xfrm>
            <a:prstGeom prst="rect">
              <a:avLst/>
            </a:prstGeom>
            <a:solidFill>
              <a:srgbClr val="D4AF37">
                <a:alpha val="3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5355" y="3378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4AF37"/>
                  </a:solidFill>
                  <a:latin typeface="Georgia"/>
                  <a:ea typeface="SimSun"/>
                  <a:cs typeface="Georgia"/>
                </a:rPr>
                <a:t>字体选择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952500" y="3619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D4AF3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8210" y="3613785"/>
              <a:ext cx="13647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Georgia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9165" y="40776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经典衬线字体，传递优雅与权威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9165" y="43634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适用于标题、品牌名称、重要信息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9165" y="4649152"/>
              <a:ext cx="2785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搭配使用：Arial（正文）+ Georgia（标题）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334500" y="1428750"/>
            <a:ext cx="2095500" cy="3619500"/>
            <a:chOff x="9334500" y="1428750"/>
            <a:chExt cx="2095500" cy="3619500"/>
          </a:xfrm>
        </p:grpSpPr>
        <p:sp>
          <p:nvSpPr>
            <p:cNvPr id="33" name="Rectangle 33"/>
            <p:cNvSpPr/>
            <p:nvPr/>
          </p:nvSpPr>
          <p:spPr>
            <a:xfrm>
              <a:off x="9334500" y="1428750"/>
              <a:ext cx="2095500" cy="3619500"/>
            </a:xfrm>
            <a:prstGeom prst="rect">
              <a:avLst/>
            </a:prstGeom>
            <a:solidFill>
              <a:srgbClr val="D4AF37">
                <a:alpha val="5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88880" y="16964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4AF37"/>
                  </a:solidFill>
                  <a:latin typeface="Georgia"/>
                  <a:ea typeface="SimSun"/>
                  <a:cs typeface="Georgia"/>
                </a:rPr>
                <a:t>图像风格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620250" y="2000250"/>
              <a:ext cx="1524000" cy="1143000"/>
            </a:xfrm>
            <a:prstGeom prst="rect">
              <a:avLst/>
            </a:prstGeom>
            <a:solidFill>
              <a:srgbClr val="2A2A3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130790" y="24745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高端摄影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30790" y="27603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质感光影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79784" y="3236595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黑白为主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79784" y="3522345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金色点缀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79784" y="3808095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留白大气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79784" y="4093845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质感纹理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3" name="TextBox 43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A7A6A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A7A6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2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1A2E"/>
                </a:gs>
                <a:gs pos="100000">
                  <a:srgbClr val="0F0F1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2163425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D4AF37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排版艺术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rgbClr val="D4AF37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16280" y="1325880"/>
            <a:ext cx="5103495" cy="2950845"/>
            <a:chOff x="716280" y="1325880"/>
            <a:chExt cx="5103495" cy="2950845"/>
          </a:xfrm>
        </p:grpSpPr>
        <p:grpSp>
          <p:nvGrpSpPr>
            <p:cNvPr id="14" name="Group 14"/>
            <p:cNvGrpSpPr/>
            <p:nvPr/>
          </p:nvGrpSpPr>
          <p:grpSpPr>
            <a:xfrm>
              <a:off x="716280" y="1325880"/>
              <a:ext cx="2361438" cy="731520"/>
              <a:chOff x="716280" y="1325880"/>
              <a:chExt cx="2361438" cy="73152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16280" y="1325880"/>
                <a:ext cx="201168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品牌标题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0570" y="1807845"/>
                <a:ext cx="232714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48px · Georgia · Bold · 品牌名称、主标题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27710" y="2185035"/>
              <a:ext cx="2229993" cy="567690"/>
              <a:chOff x="727710" y="2185035"/>
              <a:chExt cx="2229993" cy="56769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27710" y="2185035"/>
                <a:ext cx="150876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章节标题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0570" y="2569845"/>
                <a:ext cx="22071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36px · Georgia · Bold · 章节、小节标题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39140" y="3044190"/>
              <a:ext cx="2536603" cy="470535"/>
              <a:chOff x="739140" y="3044190"/>
              <a:chExt cx="2536603" cy="470535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739140" y="3044190"/>
                <a:ext cx="1005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段落标题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0570" y="3331845"/>
                <a:ext cx="25251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24px · Georgia · Regular · 段落、内容块标题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44855" y="3854768"/>
              <a:ext cx="5074920" cy="421957"/>
              <a:chOff x="744855" y="3854768"/>
              <a:chExt cx="5074920" cy="421957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44855" y="3854768"/>
                <a:ext cx="507492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正文内容使用优雅的衬线字体，保持良好的可读性与视觉层次。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0570" y="4093845"/>
                <a:ext cx="24051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18px · Georgia · Regular · 正文、说明文字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762000" y="4572000"/>
            <a:ext cx="10668000" cy="1433512"/>
            <a:chOff x="762000" y="4572000"/>
            <a:chExt cx="10668000" cy="1433512"/>
          </a:xfrm>
        </p:grpSpPr>
        <p:sp>
          <p:nvSpPr>
            <p:cNvPr id="25" name="Rectangle 25"/>
            <p:cNvSpPr/>
            <p:nvPr/>
          </p:nvSpPr>
          <p:spPr>
            <a:xfrm>
              <a:off x="762000" y="4572000"/>
              <a:ext cx="10668000" cy="1428750"/>
            </a:xfrm>
            <a:prstGeom prst="rect">
              <a:avLst/>
            </a:prstGeom>
            <a:solidFill>
              <a:srgbClr val="D4AF37">
                <a:alpha val="3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5355" y="48072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4AF37"/>
                  </a:solidFill>
                  <a:latin typeface="Georgia"/>
                  <a:ea typeface="SimSun"/>
                  <a:cs typeface="Georgia"/>
                </a:rPr>
                <a:t>排版规则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952500" y="5048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D4AF3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9165" y="5220652"/>
              <a:ext cx="2890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使用衬线字体（Georgia）作为主要标题字体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9165" y="5506402"/>
              <a:ext cx="2785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保持足够的行间距（1.6-1.8）确保可读性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9165" y="5792152"/>
              <a:ext cx="32050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使用金色（#D4AF37）作为强调色，突出关键信息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2" name="TextBox 32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A7A6A"/>
                  </a:solidFill>
                  <a:latin typeface="Georgia"/>
                  <a:ea typeface="Georgia"/>
                  <a:cs typeface="Georgia"/>
                </a:rPr>
                <a:t>05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A7A6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1A2E"/>
                </a:gs>
                <a:gs pos="100000">
                  <a:srgbClr val="0F0F1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2163425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D4AF37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图像处理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rgbClr val="D4AF37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1428750"/>
            <a:ext cx="10668000" cy="2381250"/>
            <a:chOff x="762000" y="1428750"/>
            <a:chExt cx="10668000" cy="2381250"/>
          </a:xfrm>
        </p:grpSpPr>
        <p:grpSp>
          <p:nvGrpSpPr>
            <p:cNvPr id="16" name="Group 16"/>
            <p:cNvGrpSpPr/>
            <p:nvPr/>
          </p:nvGrpSpPr>
          <p:grpSpPr>
            <a:xfrm>
              <a:off x="762000" y="1428750"/>
              <a:ext cx="3429000" cy="2381250"/>
              <a:chOff x="762000" y="1428750"/>
              <a:chExt cx="3429000" cy="2381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428750"/>
                <a:ext cx="3429000" cy="2381250"/>
              </a:xfrm>
              <a:prstGeom prst="rect">
                <a:avLst/>
              </a:prstGeom>
              <a:solidFill>
                <a:srgbClr val="2A2A3E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73580" y="2186940"/>
                <a:ext cx="1005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黑白摄影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903095" y="25536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经典、永恒、高雅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84972" y="285559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适用于：品牌形象、产品展示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428750"/>
              <a:ext cx="3429000" cy="2381250"/>
              <a:chOff x="4381500" y="1428750"/>
              <a:chExt cx="3429000" cy="23812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381500" y="1428750"/>
                <a:ext cx="3429000" cy="2381250"/>
              </a:xfrm>
              <a:prstGeom prst="rect">
                <a:avLst/>
              </a:prstGeom>
              <a:solidFill>
                <a:srgbClr val="2A2A3E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593080" y="2186940"/>
                <a:ext cx="1005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质感光影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522595" y="25536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细腻、精致、奢华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304472" y="285559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适用于：材质展示、工艺细节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001000" y="1428750"/>
              <a:ext cx="3429000" cy="2381250"/>
              <a:chOff x="8001000" y="1428750"/>
              <a:chExt cx="3429000" cy="2381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001000" y="1428750"/>
                <a:ext cx="3429000" cy="2381250"/>
              </a:xfrm>
              <a:prstGeom prst="rect">
                <a:avLst/>
              </a:prstGeom>
              <a:solidFill>
                <a:srgbClr val="2A2A3E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212580" y="2186940"/>
                <a:ext cx="1005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留白构图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142095" y="25536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简约、大气、高端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923972" y="285559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A7A6A"/>
                    </a:solidFill>
                    <a:latin typeface="Georgia"/>
                    <a:ea typeface="SimSun"/>
                    <a:cs typeface="Georgia"/>
                  </a:rPr>
                  <a:t>适用于：品牌故事、理念传达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762000" y="4095750"/>
            <a:ext cx="10668000" cy="1433512"/>
            <a:chOff x="762000" y="4095750"/>
            <a:chExt cx="10668000" cy="1433512"/>
          </a:xfrm>
        </p:grpSpPr>
        <p:sp>
          <p:nvSpPr>
            <p:cNvPr id="28" name="Rectangle 28"/>
            <p:cNvSpPr/>
            <p:nvPr/>
          </p:nvSpPr>
          <p:spPr>
            <a:xfrm>
              <a:off x="762000" y="4095750"/>
              <a:ext cx="10668000" cy="1428750"/>
            </a:xfrm>
            <a:prstGeom prst="rect">
              <a:avLst/>
            </a:prstGeom>
            <a:solidFill>
              <a:srgbClr val="D4AF37">
                <a:alpha val="3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5355" y="433101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4AF37"/>
                  </a:solidFill>
                  <a:latin typeface="Georgia"/>
                  <a:ea typeface="SimSun"/>
                  <a:cs typeface="Georgia"/>
                </a:rPr>
                <a:t>图像处理技巧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952500" y="45720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9525">
              <a:solidFill>
                <a:srgbClr val="D4AF37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9165" y="474440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使用黑白滤镜增强质感与高级感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9165" y="5030152"/>
              <a:ext cx="32190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添加金色叠加层（opacity: 10-20%）提升奢华感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9165" y="531590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保持足够的留白，让图像呼吸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5" name="TextBox 35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A7A6A"/>
                  </a:solidFill>
                  <a:latin typeface="Georgia"/>
                  <a:ea typeface="Georgia"/>
                  <a:cs typeface="Georgia"/>
                </a:rPr>
                <a:t>06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A7A6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1A2E"/>
                </a:gs>
                <a:gs pos="100000">
                  <a:srgbClr val="0F0F1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2163425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D4AF37"/>
                  </a:solidFill>
                  <a:latin typeface="Georgia"/>
                  <a:ea typeface="Georgia"/>
                  <a:cs typeface="Georgia"/>
                </a:rPr>
                <a:t>05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案例赏析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rgbClr val="D4AF37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762000" y="1428750"/>
            <a:ext cx="10668000" cy="4857750"/>
            <a:chOff x="762000" y="1428750"/>
            <a:chExt cx="10668000" cy="4857750"/>
          </a:xfrm>
        </p:grpSpPr>
        <p:grpSp>
          <p:nvGrpSpPr>
            <p:cNvPr id="20" name="Group 20"/>
            <p:cNvGrpSpPr/>
            <p:nvPr/>
          </p:nvGrpSpPr>
          <p:grpSpPr>
            <a:xfrm>
              <a:off x="762000" y="1428750"/>
              <a:ext cx="5334000" cy="2286000"/>
              <a:chOff x="762000" y="1428750"/>
              <a:chExt cx="5334000" cy="2286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428750"/>
                <a:ext cx="5334000" cy="2286000"/>
              </a:xfrm>
              <a:prstGeom prst="rect">
                <a:avLst/>
              </a:prstGeom>
              <a:solidFill>
                <a:srgbClr val="2A2A3E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1428750"/>
                <a:ext cx="38100" cy="2286000"/>
              </a:xfrm>
              <a:prstGeom prst="rect">
                <a:avLst/>
              </a:pr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28700" y="164782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品牌视觉系统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4415" y="19821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完整的品牌视觉识别系统设计，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4415" y="2220278"/>
                <a:ext cx="24069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包括标志、色彩、字体、图像风格等，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4415" y="24584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确保品牌在所有触点的一致性。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047750" y="2857500"/>
                <a:ext cx="1143000" cy="285750"/>
              </a:xfrm>
              <a:prstGeom prst="rect">
                <a:avLst/>
              </a:prstGeom>
              <a:solidFill>
                <a:srgbClr val="D4AF3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367790" y="295084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查看详情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286500" y="1428750"/>
              <a:ext cx="5143500" cy="2286000"/>
              <a:chOff x="6286500" y="1428750"/>
              <a:chExt cx="5143500" cy="2286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286500" y="1428750"/>
                <a:ext cx="5143500" cy="2286000"/>
              </a:xfrm>
              <a:prstGeom prst="rect">
                <a:avLst/>
              </a:prstGeom>
              <a:solidFill>
                <a:srgbClr val="2A2A3E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286500" y="1428750"/>
                <a:ext cx="38100" cy="2286000"/>
              </a:xfrm>
              <a:prstGeom prst="rect">
                <a:avLst/>
              </a:pr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553200" y="164782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产品包装设计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558915" y="19821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高端产品包装设计，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58915" y="2220278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从材质选择到工艺细节，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58915" y="24584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打造极致的开箱体验。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572250" y="2857500"/>
                <a:ext cx="1143000" cy="285750"/>
              </a:xfrm>
              <a:prstGeom prst="rect">
                <a:avLst/>
              </a:prstGeom>
              <a:solidFill>
                <a:srgbClr val="D4AF3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892290" y="295084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查看详情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62000" y="4000500"/>
              <a:ext cx="5334000" cy="2286000"/>
              <a:chOff x="762000" y="4000500"/>
              <a:chExt cx="5334000" cy="2286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2000" y="4000500"/>
                <a:ext cx="5334000" cy="2286000"/>
              </a:xfrm>
              <a:prstGeom prst="rect">
                <a:avLst/>
              </a:prstGeom>
              <a:solidFill>
                <a:srgbClr val="2A2A3E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762000" y="4000500"/>
                <a:ext cx="38100" cy="2286000"/>
              </a:xfrm>
              <a:prstGeom prst="rect">
                <a:avLst/>
              </a:pr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28700" y="42195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空间设计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34415" y="45539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奢华零售空间设计，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34415" y="4792028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从空间布局到材质选择，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34415" y="50301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营造沉浸式的品牌体验。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047750" y="5429250"/>
                <a:ext cx="1143000" cy="285750"/>
              </a:xfrm>
              <a:prstGeom prst="rect">
                <a:avLst/>
              </a:prstGeom>
              <a:solidFill>
                <a:srgbClr val="D4AF3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367790" y="55225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查看详情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286500" y="4000500"/>
              <a:ext cx="5143500" cy="2286000"/>
              <a:chOff x="6286500" y="4000500"/>
              <a:chExt cx="5143500" cy="22860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286500" y="4000500"/>
                <a:ext cx="5143500" cy="2286000"/>
              </a:xfrm>
              <a:prstGeom prst="rect">
                <a:avLst/>
              </a:prstGeom>
              <a:solidFill>
                <a:srgbClr val="2A2A3E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286500" y="4000500"/>
                <a:ext cx="38100" cy="2286000"/>
              </a:xfrm>
              <a:prstGeom prst="rect">
                <a:avLst/>
              </a:pr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553200" y="42195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数字媒体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558915" y="45539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高端品牌数字媒体设计，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558915" y="4792028"/>
                <a:ext cx="16578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网站、APP、社交媒体等，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558915" y="50301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8A080"/>
                    </a:solidFill>
                    <a:latin typeface="Georgia"/>
                    <a:ea typeface="SimSun"/>
                    <a:cs typeface="Georgia"/>
                  </a:rPr>
                  <a:t>保持一致的奢华体验。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572250" y="5429250"/>
                <a:ext cx="1143000" cy="285750"/>
              </a:xfrm>
              <a:prstGeom prst="rect">
                <a:avLst/>
              </a:prstGeom>
              <a:solidFill>
                <a:srgbClr val="D4AF3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892290" y="55225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4AF37"/>
                    </a:solidFill>
                    <a:latin typeface="Georgia"/>
                    <a:ea typeface="SimSun"/>
                    <a:cs typeface="Georgia"/>
                  </a:rPr>
                  <a:t>查看详情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9" name="TextBox 49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A7A6A"/>
                  </a:solidFill>
                  <a:latin typeface="Georgia"/>
                  <a:ea typeface="Georgia"/>
                  <a:cs typeface="Georgia"/>
                </a:rPr>
                <a:t>07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A7A6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1A2E"/>
                </a:gs>
                <a:gs pos="100000">
                  <a:srgbClr val="0F0F1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2163425" y="0"/>
              <a:ext cx="28575" cy="6858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939290" cy="735330"/>
            <a:chOff x="727710" y="474345"/>
            <a:chExt cx="193929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5329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D4AF37"/>
                  </a:solidFill>
                  <a:latin typeface="Georgia"/>
                  <a:ea typeface="Georgia"/>
                  <a:cs typeface="Georgia"/>
                </a:rPr>
                <a:t>SUMMARY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8688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总结与精髓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D4AF37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62000" y="1428750"/>
            <a:ext cx="5334000" cy="2857500"/>
            <a:chOff x="762000" y="1428750"/>
            <a:chExt cx="5334000" cy="2857500"/>
          </a:xfrm>
        </p:grpSpPr>
        <p:sp>
          <p:nvSpPr>
            <p:cNvPr id="12" name="Rectangle 12"/>
            <p:cNvSpPr/>
            <p:nvPr/>
          </p:nvSpPr>
          <p:spPr>
            <a:xfrm>
              <a:off x="762000" y="1428750"/>
              <a:ext cx="5334000" cy="2857500"/>
            </a:xfrm>
            <a:prstGeom prst="rect">
              <a:avLst/>
            </a:prstGeom>
            <a:solidFill>
              <a:srgbClr val="D4AF37">
                <a:alpha val="5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53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4AF37"/>
                  </a:solidFill>
                  <a:latin typeface="Georgia"/>
                  <a:ea typeface="SimSun"/>
                  <a:cs typeface="Georgia"/>
                </a:rPr>
                <a:t>核心精髓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525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D4AF3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165" y="207740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传承与创新的完美平衡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236315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精湛工艺与极致细节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264890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黑白金三色的奢华表达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29346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衬线字体的优雅与权威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32204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留白与空间的呼吸感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350615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• 质感光影的视觉叙事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1428750"/>
            <a:ext cx="5143500" cy="2857500"/>
            <a:chOff x="6286500" y="1428750"/>
            <a:chExt cx="5143500" cy="28575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428750"/>
              <a:ext cx="5143500" cy="2857500"/>
            </a:xfrm>
            <a:prstGeom prst="rect">
              <a:avLst/>
            </a:prstGeom>
            <a:solidFill>
              <a:srgbClr val="D4AF37">
                <a:alpha val="3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98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4AF37"/>
                  </a:solidFill>
                  <a:latin typeface="Georgia"/>
                  <a:ea typeface="SimSun"/>
                  <a:cs typeface="Georgia"/>
                </a:rPr>
                <a:t>设计原则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4770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D4AF3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3665" y="2077402"/>
              <a:ext cx="17628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1. 少即是多：克制中见奢华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3665" y="2363152"/>
              <a:ext cx="2042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2. 质感优先：材质与工艺的表达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3665" y="2648902"/>
              <a:ext cx="2042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3. 细节至上：每一处都精雕细琢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3665" y="2934652"/>
              <a:ext cx="2042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4. 一致性：品牌触点的统一表达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3665" y="3220402"/>
              <a:ext cx="2182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5. 情感连接：超越功能的价值传递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3665" y="3506152"/>
              <a:ext cx="2182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A080"/>
                  </a:solidFill>
                  <a:latin typeface="Georgia"/>
                  <a:ea typeface="SimSun"/>
                  <a:cs typeface="Georgia"/>
                </a:rPr>
                <a:t>6. 永恒美学：超越潮流的经典设计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4572000"/>
            <a:ext cx="10668000" cy="762000"/>
            <a:chOff x="762000" y="4572000"/>
            <a:chExt cx="10668000" cy="762000"/>
          </a:xfrm>
        </p:grpSpPr>
        <p:sp>
          <p:nvSpPr>
            <p:cNvPr id="32" name="Rectangle 32"/>
            <p:cNvSpPr/>
            <p:nvPr/>
          </p:nvSpPr>
          <p:spPr>
            <a:xfrm>
              <a:off x="762000" y="4572000"/>
              <a:ext cx="10668000" cy="762000"/>
            </a:xfrm>
            <a:prstGeom prst="rect">
              <a:avLst/>
            </a:prstGeom>
            <a:solidFill>
              <a:srgbClr val="D4AF37">
                <a:alpha val="1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872990" y="485394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开启奢华品牌设计之旅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20540" y="5585460"/>
            <a:ext cx="3550920" cy="243840"/>
            <a:chOff x="4320540" y="5585460"/>
            <a:chExt cx="3550920" cy="243840"/>
          </a:xfrm>
        </p:grpSpPr>
        <p:sp>
          <p:nvSpPr>
            <p:cNvPr id="35" name="TextBox 35"/>
            <p:cNvSpPr txBox="1"/>
            <p:nvPr/>
          </p:nvSpPr>
          <p:spPr>
            <a:xfrm>
              <a:off x="4320540" y="5585460"/>
              <a:ext cx="3550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7A6A"/>
                  </a:solidFill>
                  <a:latin typeface="Georgia"/>
                  <a:ea typeface="Georgia"/>
                  <a:cs typeface="Georgia"/>
                </a:rPr>
                <a:t>luxury-design@brand.com | luxury-brand.com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7" name="TextBox 37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A7A6A"/>
                  </a:solidFill>
                  <a:latin typeface="Georgia"/>
                  <a:ea typeface="Georgia"/>
                  <a:cs typeface="Georgia"/>
                </a:rPr>
                <a:t>08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A7A6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1" grpId="0"/>
      <p:bldP spid="34" grpId="0"/>
      <p:bldP spid="3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2026-06-24T01:52:08Z</dcterms:created>
  <dcterms:modified xsi:type="dcterms:W3CDTF">2026-06-24T01:52:08Z</dcterms:modified>
  <cp:category/>
  <cp:contentStatus/>
</cp:coreProperties>
</file>