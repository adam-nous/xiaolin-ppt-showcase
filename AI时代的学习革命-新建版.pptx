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FFFFFF"/>
                </a:solidFill>
              </a:defRPr>
            </a:pPr>
            <a:r>
              <a:t>AI 时代的学习革命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0">
                <a:solidFill>
                  <a:srgbClr val="A8A5A0"/>
                </a:solidFill>
              </a:defRPr>
            </a:pPr>
            <a:r>
              <a:t>将 AI 作为你的学习伙伴，传统学习方式正在被重新定义。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数据洞察 · DATA INSIGHT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2743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667EEA"/>
                </a:solidFill>
              </a:defRPr>
            </a:pPr>
            <a:r>
              <a:t>73%</a:t>
            </a:r>
          </a:p>
          <a:p>
            <a:pPr>
              <a:defRPr sz="3600" b="1">
                <a:solidFill>
                  <a:srgbClr val="667EEA"/>
                </a:solidFill>
              </a:defRPr>
            </a:pPr>
            <a:r>
              <a:t>学习效率提升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0" y="1828800"/>
            <a:ext cx="2743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667EEA"/>
                </a:solidFill>
              </a:defRPr>
            </a:pPr>
            <a:r>
              <a:t>3.2亿</a:t>
            </a:r>
          </a:p>
          <a:p>
            <a:pPr>
              <a:defRPr sz="3600" b="1">
                <a:solidFill>
                  <a:srgbClr val="667EEA"/>
                </a:solidFill>
              </a:defRPr>
            </a:pPr>
            <a:r>
              <a:t>使用 AI 工具的学生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1828800"/>
            <a:ext cx="2743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667EEA"/>
                </a:solidFill>
              </a:defRPr>
            </a:pPr>
            <a:r>
              <a:t>68%</a:t>
            </a:r>
          </a:p>
          <a:p>
            <a:pPr>
              <a:defRPr sz="3600" b="1">
                <a:solidFill>
                  <a:srgbClr val="667EEA"/>
                </a:solidFill>
              </a:defRPr>
            </a:pPr>
            <a:r>
              <a:t>知识留存率提升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2743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667EEA"/>
                </a:solidFill>
              </a:defRPr>
            </a:pPr>
            <a:r>
              <a:t>95%</a:t>
            </a:r>
          </a:p>
          <a:p>
            <a:pPr>
              <a:defRPr sz="3600" b="1">
                <a:solidFill>
                  <a:srgbClr val="667EEA"/>
                </a:solidFill>
              </a:defRPr>
            </a:pPr>
            <a:r>
              <a:t>AI 个性化学习满意度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3657600"/>
            <a:ext cx="2743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667EEA"/>
                </a:solidFill>
              </a:defRPr>
            </a:pPr>
            <a:r>
              <a:t>4.7h</a:t>
            </a:r>
          </a:p>
          <a:p>
            <a:pPr>
              <a:defRPr sz="3600" b="1">
                <a:solidFill>
                  <a:srgbClr val="667EEA"/>
                </a:solidFill>
              </a:defRPr>
            </a:pPr>
            <a:r>
              <a:t>每天平均节省时间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范式对比 · PARADIGM SHIFT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45720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667EEA"/>
                </a:solidFill>
              </a:defRPr>
            </a:pPr>
            <a:r>
              <a:t>01 传统学习 · Linear</a:t>
            </a:r>
          </a:p>
          <a:p>
            <a:pPr>
              <a:defRPr sz="2400" b="1">
                <a:solidFill>
                  <a:srgbClr val="667EEA"/>
                </a:solidFill>
              </a:defRPr>
            </a:pPr>
          </a:p>
          <a:p>
            <a:pPr>
              <a:defRPr sz="2400" b="1">
                <a:solidFill>
                  <a:srgbClr val="667EEA"/>
                </a:solidFill>
              </a:defRPr>
            </a:pPr>
            <a:r>
              <a:t>线性获取统一教材、固定课程</a:t>
            </a:r>
          </a:p>
          <a:p>
            <a:pPr>
              <a:defRPr sz="2400" b="1">
                <a:solidFill>
                  <a:srgbClr val="667EEA"/>
                </a:solidFill>
              </a:defRPr>
            </a:pPr>
          </a:p>
          <a:p>
            <a:pPr>
              <a:defRPr sz="2400" b="1">
                <a:solidFill>
                  <a:srgbClr val="667EEA"/>
                </a:solidFill>
              </a:defRPr>
            </a:pPr>
            <a:r>
              <a:t>• 被动接收信息</a:t>
            </a:r>
          </a:p>
          <a:p>
            <a:pPr>
              <a:defRPr sz="2400" b="1">
                <a:solidFill>
                  <a:srgbClr val="667EEA"/>
                </a:solidFill>
              </a:defRPr>
            </a:pPr>
            <a:r>
              <a:t>• 进度千篇一律</a:t>
            </a:r>
          </a:p>
          <a:p>
            <a:pPr>
              <a:defRPr sz="2400" b="1">
                <a:solidFill>
                  <a:srgbClr val="667EEA"/>
                </a:solidFill>
              </a:defRPr>
            </a:pPr>
            <a:r>
              <a:t>• 千人一面的教学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828800"/>
            <a:ext cx="45720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667EEA"/>
                </a:solidFill>
              </a:defRPr>
            </a:pPr>
            <a:r>
              <a:t>02 AI 学习 · Adaptive</a:t>
            </a:r>
          </a:p>
          <a:p>
            <a:pPr>
              <a:defRPr sz="2400" b="1">
                <a:solidFill>
                  <a:srgbClr val="667EEA"/>
                </a:solidFill>
              </a:defRPr>
            </a:pPr>
          </a:p>
          <a:p>
            <a:pPr>
              <a:defRPr sz="2400" b="1">
                <a:solidFill>
                  <a:srgbClr val="667EEA"/>
                </a:solidFill>
              </a:defRPr>
            </a:pPr>
            <a:r>
              <a:t>自适应路径，实时调整难度</a:t>
            </a:r>
          </a:p>
          <a:p>
            <a:pPr>
              <a:defRPr sz="2400" b="1">
                <a:solidFill>
                  <a:srgbClr val="667EEA"/>
                </a:solidFill>
              </a:defRPr>
            </a:pPr>
          </a:p>
          <a:p>
            <a:pPr>
              <a:defRPr sz="2400" b="1">
                <a:solidFill>
                  <a:srgbClr val="667EEA"/>
                </a:solidFill>
              </a:defRPr>
            </a:pPr>
            <a:r>
              <a:t>• 主动探索与创造</a:t>
            </a:r>
          </a:p>
          <a:p>
            <a:pPr>
              <a:defRPr sz="2400" b="1">
                <a:solidFill>
                  <a:srgbClr val="667EEA"/>
                </a:solidFill>
              </a:defRPr>
            </a:pPr>
            <a:r>
              <a:t>• 实时智能反馈</a:t>
            </a:r>
          </a:p>
          <a:p>
            <a:pPr>
              <a:defRPr sz="2400" b="1">
                <a:solidFill>
                  <a:srgbClr val="667EEA"/>
                </a:solidFill>
              </a:defRPr>
            </a:pPr>
            <a:r>
              <a:t>• 千人千面的个性化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核心能力 · CORE SKILLS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2743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667EEA"/>
                </a:solidFill>
              </a:defRPr>
            </a:pPr>
            <a:r>
              <a:t>01 提问力</a:t>
            </a:r>
          </a:p>
          <a:p>
            <a:pPr>
              <a:defRPr sz="2000" b="1">
                <a:solidFill>
                  <a:srgbClr val="667EEA"/>
                </a:solidFill>
              </a:defRPr>
            </a:pPr>
            <a:r>
              <a:t>问题比答案更重要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0" y="1828800"/>
            <a:ext cx="2743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667EEA"/>
                </a:solidFill>
              </a:defRPr>
            </a:pPr>
            <a:r>
              <a:t>02 筛选力</a:t>
            </a:r>
          </a:p>
          <a:p>
            <a:pPr>
              <a:defRPr sz="2000" b="1">
                <a:solidFill>
                  <a:srgbClr val="667EEA"/>
                </a:solidFill>
              </a:defRPr>
            </a:pPr>
            <a:r>
              <a:t>辨别真伪提取价值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1828800"/>
            <a:ext cx="2743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667EEA"/>
                </a:solidFill>
              </a:defRPr>
            </a:pPr>
            <a:r>
              <a:t>03 建构力</a:t>
            </a:r>
          </a:p>
          <a:p>
            <a:pPr>
              <a:defRPr sz="2000" b="1">
                <a:solidFill>
                  <a:srgbClr val="667EEA"/>
                </a:solidFill>
              </a:defRPr>
            </a:pPr>
            <a:r>
              <a:t>构建自己的知识体系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2743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667EEA"/>
                </a:solidFill>
              </a:defRPr>
            </a:pPr>
            <a:r>
              <a:t>04 对话力</a:t>
            </a:r>
          </a:p>
          <a:p>
            <a:pPr>
              <a:defRPr sz="2000" b="1">
                <a:solidFill>
                  <a:srgbClr val="667EEA"/>
                </a:solidFill>
              </a:defRPr>
            </a:pPr>
            <a:r>
              <a:t>与 AI 高效协作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4114800"/>
            <a:ext cx="2743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667EEA"/>
                </a:solidFill>
              </a:defRPr>
            </a:pPr>
            <a:r>
              <a:t>05 行动力</a:t>
            </a:r>
          </a:p>
          <a:p>
            <a:pPr>
              <a:defRPr sz="2000" b="1">
                <a:solidFill>
                  <a:srgbClr val="667EEA"/>
                </a:solidFill>
              </a:defRPr>
            </a:pPr>
            <a:r>
              <a:t>知道何时用何时不用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4114800"/>
            <a:ext cx="2743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667EEA"/>
                </a:solidFill>
              </a:defRPr>
            </a:pPr>
            <a:r>
              <a:t>06 迁移力</a:t>
            </a:r>
          </a:p>
          <a:p>
            <a:pPr>
              <a:defRPr sz="2000" b="1">
                <a:solidFill>
                  <a:srgbClr val="667EEA"/>
                </a:solidFill>
              </a:defRPr>
            </a:pPr>
            <a:r>
              <a:t>将知识转化为实际成果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方法论 ·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828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667EEA"/>
                </a:solidFill>
              </a:defRPr>
            </a:pPr>
            <a:r>
              <a:t>01</a:t>
            </a:r>
          </a:p>
          <a:p>
            <a:pPr>
              <a:defRPr sz="2800" b="1">
                <a:solidFill>
                  <a:srgbClr val="667EEA"/>
                </a:solidFill>
              </a:defRPr>
            </a:pPr>
            <a:r>
              <a:t>设定目标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1828800"/>
            <a:ext cx="1828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667EEA"/>
                </a:solidFill>
              </a:defRPr>
            </a:pPr>
            <a:r>
              <a:t>02</a:t>
            </a:r>
          </a:p>
          <a:p>
            <a:pPr>
              <a:defRPr sz="2800" b="1">
                <a:solidFill>
                  <a:srgbClr val="667EEA"/>
                </a:solidFill>
              </a:defRPr>
            </a:pPr>
            <a:r>
              <a:t>主动探索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37760" y="1828800"/>
            <a:ext cx="1828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667EEA"/>
                </a:solidFill>
              </a:defRPr>
            </a:pPr>
            <a:r>
              <a:t>03</a:t>
            </a:r>
          </a:p>
          <a:p>
            <a:pPr>
              <a:defRPr sz="2800" b="1">
                <a:solidFill>
                  <a:srgbClr val="667EEA"/>
                </a:solidFill>
              </a:defRPr>
            </a:pPr>
            <a:r>
              <a:t>深度学习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0" y="1828800"/>
            <a:ext cx="1828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667EEA"/>
                </a:solidFill>
              </a:defRPr>
            </a:pPr>
            <a:r>
              <a:t>04</a:t>
            </a:r>
          </a:p>
          <a:p>
            <a:pPr>
              <a:defRPr sz="2800" b="1">
                <a:solidFill>
                  <a:srgbClr val="667EEA"/>
                </a:solidFill>
              </a:defRPr>
            </a:pPr>
            <a:r>
              <a:t>实践验证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0" y="1828800"/>
            <a:ext cx="1828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667EEA"/>
                </a:solidFill>
              </a:defRPr>
            </a:pPr>
            <a:r>
              <a:t>05</a:t>
            </a:r>
          </a:p>
          <a:p>
            <a:pPr>
              <a:defRPr sz="2800" b="1">
                <a:solidFill>
                  <a:srgbClr val="667EEA"/>
                </a:solidFill>
              </a:defRPr>
            </a:pPr>
            <a:r>
              <a:t>复习巩固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工具效率 · TOOL EFFICIENCY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828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667EEA"/>
                </a:solidFill>
              </a:defRPr>
            </a:pPr>
            <a:r>
              <a:t>85%</a:t>
            </a:r>
          </a:p>
          <a:p>
            <a:pPr>
              <a:defRPr sz="4200" b="1">
                <a:solidFill>
                  <a:srgbClr val="667EEA"/>
                </a:solidFill>
              </a:defRPr>
            </a:pPr>
            <a:r>
              <a:t>智能笔记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2286000"/>
            <a:ext cx="1828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667EEA"/>
                </a:solidFill>
              </a:defRPr>
            </a:pPr>
            <a:r>
              <a:t>92%</a:t>
            </a:r>
          </a:p>
          <a:p>
            <a:pPr>
              <a:defRPr sz="4200" b="1">
                <a:solidFill>
                  <a:srgbClr val="667EEA"/>
                </a:solidFill>
              </a:defRPr>
            </a:pPr>
            <a:r>
              <a:t>知识图谱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37760" y="2286000"/>
            <a:ext cx="1828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667EEA"/>
                </a:solidFill>
              </a:defRPr>
            </a:pPr>
            <a:r>
              <a:t>78%</a:t>
            </a:r>
          </a:p>
          <a:p>
            <a:pPr>
              <a:defRPr sz="4200" b="1">
                <a:solidFill>
                  <a:srgbClr val="667EEA"/>
                </a:solidFill>
              </a:defRPr>
            </a:pPr>
            <a:r>
              <a:t>写作优化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0" y="2286000"/>
            <a:ext cx="1828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667EEA"/>
                </a:solidFill>
              </a:defRPr>
            </a:pPr>
            <a:r>
              <a:t>88%</a:t>
            </a:r>
          </a:p>
          <a:p>
            <a:pPr>
              <a:defRPr sz="4200" b="1">
                <a:solidFill>
                  <a:srgbClr val="667EEA"/>
                </a:solidFill>
              </a:defRPr>
            </a:pPr>
            <a:r>
              <a:t>个性化反馈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0" y="2286000"/>
            <a:ext cx="1828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667EEA"/>
                </a:solidFill>
              </a:defRPr>
            </a:pPr>
            <a:r>
              <a:t>95%</a:t>
            </a:r>
          </a:p>
          <a:p>
            <a:pPr>
              <a:defRPr sz="4200" b="1">
                <a:solidFill>
                  <a:srgbClr val="667EEA"/>
                </a:solidFill>
              </a:defRPr>
            </a:pPr>
            <a:r>
              <a:t>资源整合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宣言 · MANIFESTO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91440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FFFFFF"/>
                </a:solidFill>
              </a:defRPr>
            </a:pPr>
            <a:r>
              <a:t>不要问 AI 能帮你学什么</a:t>
            </a:r>
          </a:p>
          <a:p>
            <a:pPr>
              <a:defRPr sz="4200" b="1">
                <a:solidFill>
                  <a:srgbClr val="FFFFFF"/>
                </a:solidFill>
              </a:defRPr>
            </a:pPr>
            <a:r>
              <a:t>要问你为了什么而学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0">
                <a:solidFill>
                  <a:srgbClr val="A8A5A0"/>
                </a:solidFill>
              </a:defRPr>
            </a:pPr>
            <a:r>
              <a:t>AI 是镜子，映照出你的好奇心、创造力，也映照出你的懒惰和逃避。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9144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400" b="1">
                <a:solidFill>
                  <a:srgbClr val="667EEA"/>
                </a:solidFill>
              </a:defRPr>
            </a:pPr>
            <a:r>
              <a:t>Start learning.</a:t>
            </a:r>
          </a:p>
          <a:p>
            <a:pPr>
              <a:defRPr sz="6400" b="1">
                <a:solidFill>
                  <a:srgbClr val="667EEA"/>
                </a:solidFill>
              </a:defRPr>
            </a:pPr>
            <a:r>
              <a:t>Start now.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0">
                <a:solidFill>
                  <a:srgbClr val="A8A5A0"/>
                </a:solidFill>
              </a:defRPr>
            </a:pPr>
            <a:r>
              <a:t>从今天开始，将 AI 作为你的学习伙伴，拥抱变化才是永恒。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67EEA"/>
                </a:solidFill>
              </a:defRPr>
            </a:pPr>
            <a:r>
              <a:t>01 拥抱 AI，但保持独立思考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502920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67EEA"/>
                </a:solidFill>
              </a:defRPr>
            </a:pPr>
            <a:r>
              <a:t>02 学以致用，知行合一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502920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67EEA"/>
                </a:solidFill>
              </a:defRPr>
            </a:pPr>
            <a:r>
              <a:t>03 保持好奇，终身学习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