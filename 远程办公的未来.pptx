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1a2a616504de8e3.jp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ecd7fe3fd45eabe.jp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e889e843e171184.jp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c1c036b8d4793df.jp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81334f81ac2f53c.jp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7888" r="0" b="7888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0A1F3D">
              <a:alpha val="72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3810000" cy="6532245"/>
          </a:xfrm>
          <a:prstGeom prst="rect">
            <a:avLst/>
          </a:prstGeom>
          <a:solidFill>
            <a:srgbClr val="0A1F3D">
              <a:alpha val="45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46772" y="1053941"/>
            <a:ext cx="1236607" cy="167640"/>
            <a:chOff x="846772" y="1053941"/>
            <a:chExt cx="1236607" cy="167640"/>
          </a:xfrm>
        </p:grpSpPr>
        <p:sp>
          <p:nvSpPr>
            <p:cNvPr id="6" name="TextBox 6"/>
            <p:cNvSpPr txBox="1"/>
            <p:nvPr/>
          </p:nvSpPr>
          <p:spPr>
            <a:xfrm>
              <a:off x="846772" y="1053941"/>
              <a:ext cx="123660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REMOTE WORK · FUTURE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7725" y="1395412"/>
            <a:ext cx="1244203" cy="152400"/>
            <a:chOff x="847725" y="1395412"/>
            <a:chExt cx="1244203" cy="152400"/>
          </a:xfrm>
        </p:grpSpPr>
        <p:sp>
          <p:nvSpPr>
            <p:cNvPr id="8" name="TextBox 8"/>
            <p:cNvSpPr txBox="1"/>
            <p:nvPr/>
          </p:nvSpPr>
          <p:spPr>
            <a:xfrm>
              <a:off x="847725" y="1395412"/>
              <a:ext cx="12442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SS · 2026.06.22 · 01 / 08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6290" y="2720340"/>
            <a:ext cx="2810256" cy="975360"/>
            <a:chOff x="796290" y="2720340"/>
            <a:chExt cx="2810256" cy="975360"/>
          </a:xfrm>
        </p:grpSpPr>
        <p:sp>
          <p:nvSpPr>
            <p:cNvPr id="10" name="TextBox 10"/>
            <p:cNvSpPr txBox="1"/>
            <p:nvPr/>
          </p:nvSpPr>
          <p:spPr>
            <a:xfrm>
              <a:off x="796290" y="2720340"/>
              <a:ext cx="281025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远程办公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6290" y="3482340"/>
            <a:ext cx="2138172" cy="975360"/>
            <a:chOff x="796290" y="3482340"/>
            <a:chExt cx="2138172" cy="975360"/>
          </a:xfrm>
        </p:grpSpPr>
        <p:sp>
          <p:nvSpPr>
            <p:cNvPr id="12" name="TextBox 12"/>
            <p:cNvSpPr txBox="1"/>
            <p:nvPr/>
          </p:nvSpPr>
          <p:spPr>
            <a:xfrm>
              <a:off x="796290" y="3482340"/>
              <a:ext cx="213817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B82F6"/>
                  </a:solidFill>
                  <a:latin typeface="Segoe UI"/>
                  <a:ea typeface="Microsoft YaHei UI"/>
                  <a:cs typeface="Segoe UI"/>
                </a:rPr>
                <a:t>的未来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857250" y="4381500"/>
            <a:ext cx="952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842010" y="4728210"/>
            <a:ext cx="3870960" cy="243840"/>
            <a:chOff x="842010" y="4728210"/>
            <a:chExt cx="3870960" cy="243840"/>
          </a:xfrm>
        </p:grpSpPr>
        <p:sp>
          <p:nvSpPr>
            <p:cNvPr id="15" name="TextBox 15"/>
            <p:cNvSpPr txBox="1"/>
            <p:nvPr/>
          </p:nvSpPr>
          <p:spPr>
            <a:xfrm>
              <a:off x="842010" y="4728210"/>
              <a:ext cx="3870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当办公室不再是唯一选项，工作方式正在被重新定义。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47725" y="5634038"/>
            <a:ext cx="769144" cy="152400"/>
            <a:chOff x="847725" y="5634038"/>
            <a:chExt cx="769144" cy="152400"/>
          </a:xfrm>
        </p:grpSpPr>
        <p:sp>
          <p:nvSpPr>
            <p:cNvPr id="17" name="TextBox 17"/>
            <p:cNvSpPr txBox="1"/>
            <p:nvPr/>
          </p:nvSpPr>
          <p:spPr>
            <a:xfrm>
              <a:off x="847725" y="5634038"/>
              <a:ext cx="7691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Reasonix · 2026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62975" y="5634038"/>
            <a:ext cx="1034177" cy="152400"/>
            <a:chOff x="8562975" y="5634038"/>
            <a:chExt cx="1034177" cy="152400"/>
          </a:xfrm>
        </p:grpSpPr>
        <p:sp>
          <p:nvSpPr>
            <p:cNvPr id="19" name="TextBox 19"/>
            <p:cNvSpPr txBox="1"/>
            <p:nvPr/>
          </p:nvSpPr>
          <p:spPr>
            <a:xfrm>
              <a:off x="8562975" y="5634038"/>
              <a:ext cx="103417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→ swipe / arrow keys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982200" y="933450"/>
            <a:ext cx="1181100" cy="1181100"/>
            <a:chOff x="9982200" y="933450"/>
            <a:chExt cx="1181100" cy="1181100"/>
          </a:xfrm>
        </p:grpSpPr>
        <p:sp>
          <p:nvSpPr>
            <p:cNvPr id="21" name="Ellipse 21"/>
            <p:cNvSpPr/>
            <p:nvPr/>
          </p:nvSpPr>
          <p:spPr>
            <a:xfrm>
              <a:off x="9982200" y="933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267950" y="933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553700" y="933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839450" y="933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25200" y="933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982200" y="12192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267950" y="12192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553700" y="12192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839450" y="12192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125200" y="12192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982200" y="15049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267950" y="15049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553700" y="15049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839450" y="15049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125200" y="15049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9982200" y="17907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267950" y="17907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553700" y="17907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839450" y="17907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25200" y="179070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982200" y="2076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267950" y="2076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553700" y="2076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839450" y="2076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125200" y="2076450"/>
              <a:ext cx="38100" cy="38100"/>
            </a:xfrm>
            <a:prstGeom prst="ellipse">
              <a:avLst/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6" grpId="0"/>
      <p:bldP spid="18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F1F3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7250" y="952500"/>
            <a:ext cx="76200" cy="9525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32522" y="1149191"/>
            <a:ext cx="796552" cy="167640"/>
            <a:chOff x="1132522" y="1149191"/>
            <a:chExt cx="796552" cy="167640"/>
          </a:xfrm>
        </p:grpSpPr>
        <p:sp>
          <p:nvSpPr>
            <p:cNvPr id="4" name="TextBox 4"/>
            <p:cNvSpPr txBox="1"/>
            <p:nvPr/>
          </p:nvSpPr>
          <p:spPr>
            <a:xfrm>
              <a:off x="1132522" y="1149191"/>
              <a:ext cx="79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DATA OVERVIEW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8710" y="1565910"/>
            <a:ext cx="3849052" cy="548640"/>
            <a:chOff x="1108710" y="1565910"/>
            <a:chExt cx="3849052" cy="548640"/>
          </a:xfrm>
        </p:grpSpPr>
        <p:sp>
          <p:nvSpPr>
            <p:cNvPr id="6" name="TextBox 6"/>
            <p:cNvSpPr txBox="1"/>
            <p:nvPr/>
          </p:nvSpPr>
          <p:spPr>
            <a:xfrm>
              <a:off x="1108710" y="1565910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远程办公正在加速普及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1143000" y="2047875"/>
            <a:ext cx="28575" cy="285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rcRect l="0" t="21622" r="0" b="21622"/>
          <a:stretch>
            <a:fillRect/>
          </a:stretch>
        </p:blipFill>
        <p:spPr>
          <a:xfrm>
            <a:off x="7143750" y="952500"/>
            <a:ext cx="3524250" cy="133350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7143750" y="952500"/>
            <a:ext cx="3524250" cy="1333500"/>
          </a:xfrm>
          <a:prstGeom prst="rect">
            <a:avLst/>
          </a:prstGeom>
          <a:solidFill>
            <a:srgbClr val="F1F3F5">
              <a:alpha val="30000"/>
            </a:srgbClr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857250" y="2571750"/>
            <a:ext cx="2286000" cy="1714500"/>
            <a:chOff x="857250" y="2571750"/>
            <a:chExt cx="22860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857250" y="2571750"/>
              <a:ext cx="2286000" cy="17145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3475" y="28717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远程办公比例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9660" y="3261360"/>
              <a:ext cx="119461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3B82F6"/>
                  </a:solidFill>
                  <a:latin typeface="Segoe UI"/>
                  <a:ea typeface="Segoe UI"/>
                  <a:cs typeface="Segoe UI"/>
                </a:rPr>
                <a:t>67%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1570" y="39033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企业已支持远程选项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29000" y="2571750"/>
            <a:ext cx="2286000" cy="1714500"/>
            <a:chOff x="3429000" y="2571750"/>
            <a:chExt cx="2286000" cy="1714500"/>
          </a:xfrm>
        </p:grpSpPr>
        <p:sp>
          <p:nvSpPr>
            <p:cNvPr id="16" name="Rectangle 16"/>
            <p:cNvSpPr/>
            <p:nvPr/>
          </p:nvSpPr>
          <p:spPr>
            <a:xfrm>
              <a:off x="3429000" y="2571750"/>
              <a:ext cx="2286000" cy="17145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05225" y="2871788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生产力提升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61410" y="3261360"/>
              <a:ext cx="140044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3B82F6"/>
                  </a:solidFill>
                  <a:latin typeface="Segoe UI"/>
                  <a:ea typeface="Segoe UI"/>
                  <a:cs typeface="Segoe UI"/>
                </a:rPr>
                <a:t>2.8</a:t>
              </a:r>
              <a:r>
                <a:rPr lang="en-US" sz="1800" b="1" dirty="0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03320" y="39033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远程团队平均效率倍数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00750" y="2571750"/>
            <a:ext cx="2286000" cy="1714500"/>
            <a:chOff x="6000750" y="2571750"/>
            <a:chExt cx="2286000" cy="1714500"/>
          </a:xfrm>
        </p:grpSpPr>
        <p:sp>
          <p:nvSpPr>
            <p:cNvPr id="21" name="Rectangle 21"/>
            <p:cNvSpPr/>
            <p:nvPr/>
          </p:nvSpPr>
          <p:spPr>
            <a:xfrm>
              <a:off x="6000750" y="2571750"/>
              <a:ext cx="2286000" cy="17145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6975" y="28717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通勤时间节省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33160" y="3261360"/>
              <a:ext cx="140044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3B82F6"/>
                  </a:solidFill>
                  <a:latin typeface="Segoe UI"/>
                  <a:ea typeface="Segoe UI"/>
                  <a:cs typeface="Segoe UI"/>
                </a:rPr>
                <a:t>4.2</a:t>
              </a:r>
              <a:r>
                <a:rPr lang="en-US" sz="1800" b="1" dirty="0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5070" y="39033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每周人均节省通勤时间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571750"/>
            <a:ext cx="2286000" cy="1714500"/>
            <a:chOff x="8572500" y="2571750"/>
            <a:chExt cx="2286000" cy="1714500"/>
          </a:xfrm>
        </p:grpSpPr>
        <p:sp>
          <p:nvSpPr>
            <p:cNvPr id="26" name="Rectangle 26"/>
            <p:cNvSpPr/>
            <p:nvPr/>
          </p:nvSpPr>
          <p:spPr>
            <a:xfrm>
              <a:off x="8572500" y="2571750"/>
              <a:ext cx="2286000" cy="17145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48725" y="2871788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员工满意度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04910" y="3261360"/>
              <a:ext cx="119461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3B82F6"/>
                  </a:solidFill>
                  <a:latin typeface="Segoe UI"/>
                  <a:ea typeface="Segoe UI"/>
                  <a:cs typeface="Segoe UI"/>
                </a:rPr>
                <a:t>89%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46820" y="39033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偏好混合办公模式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857250" y="4572000"/>
            <a:ext cx="10096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847725" y="4872038"/>
            <a:ext cx="10106025" cy="447674"/>
            <a:chOff x="847725" y="4872038"/>
            <a:chExt cx="10106025" cy="447674"/>
          </a:xfrm>
        </p:grpSpPr>
        <p:sp>
          <p:nvSpPr>
            <p:cNvPr id="32" name="TextBox 32"/>
            <p:cNvSpPr txBox="1"/>
            <p:nvPr/>
          </p:nvSpPr>
          <p:spPr>
            <a:xfrm>
              <a:off x="847725" y="4872038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全球远程办公渗透率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57250" y="5095875"/>
              <a:ext cx="10096500" cy="571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57250" y="5095875"/>
              <a:ext cx="6762750" cy="571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01915" y="5106352"/>
              <a:ext cx="298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B82F6"/>
                  </a:solidFill>
                  <a:latin typeface="Segoe UI"/>
                  <a:ea typeface="Segoe UI"/>
                  <a:cs typeface="Segoe UI"/>
                </a:rPr>
                <a:t>67%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47725" y="5443538"/>
            <a:ext cx="10106025" cy="447674"/>
            <a:chOff x="847725" y="5443538"/>
            <a:chExt cx="10106025" cy="447674"/>
          </a:xfrm>
        </p:grpSpPr>
        <p:sp>
          <p:nvSpPr>
            <p:cNvPr id="37" name="TextBox 37"/>
            <p:cNvSpPr txBox="1"/>
            <p:nvPr/>
          </p:nvSpPr>
          <p:spPr>
            <a:xfrm>
              <a:off x="847725" y="5443538"/>
              <a:ext cx="10191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企业数字化转型完成度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5667375"/>
              <a:ext cx="10096500" cy="571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7250" y="5667375"/>
              <a:ext cx="5048250" cy="571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87415" y="5677852"/>
              <a:ext cx="298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B82F6"/>
                  </a:solidFill>
                  <a:latin typeface="Segoe UI"/>
                  <a:ea typeface="Segoe UI"/>
                  <a:cs typeface="Segoe UI"/>
                </a:rPr>
                <a:t>50%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857250" y="6096000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7725" y="6253162"/>
            <a:ext cx="26093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数据来源：2026 全球远程办公调研报告 · 覆盖 120 个国家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086975" y="6253162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02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9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5" grpId="0"/>
      <p:bldP spid="20" grpId="0"/>
      <p:bldP spid="25" grpId="0"/>
      <p:bldP spid="30" grpId="0"/>
      <p:bldP spid="36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F1F3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7250" y="762000"/>
            <a:ext cx="76200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32522" y="958691"/>
            <a:ext cx="631531" cy="167640"/>
            <a:chOff x="1132522" y="958691"/>
            <a:chExt cx="631531" cy="167640"/>
          </a:xfrm>
        </p:grpSpPr>
        <p:sp>
          <p:nvSpPr>
            <p:cNvPr id="4" name="TextBox 4"/>
            <p:cNvSpPr txBox="1"/>
            <p:nvPr/>
          </p:nvSpPr>
          <p:spPr>
            <a:xfrm>
              <a:off x="1132522" y="958691"/>
              <a:ext cx="631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FIVE TRENDS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2520" y="1217295"/>
            <a:ext cx="2749296" cy="487680"/>
            <a:chOff x="1112520" y="1217295"/>
            <a:chExt cx="2749296" cy="487680"/>
          </a:xfrm>
        </p:grpSpPr>
        <p:sp>
          <p:nvSpPr>
            <p:cNvPr id="6" name="TextBox 6"/>
            <p:cNvSpPr txBox="1"/>
            <p:nvPr/>
          </p:nvSpPr>
          <p:spPr>
            <a:xfrm>
              <a:off x="1112520" y="1217295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远程办公五大趋势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1897380"/>
            <a:ext cx="1809750" cy="3817620"/>
            <a:chOff x="857250" y="1897380"/>
            <a:chExt cx="1809750" cy="3817620"/>
          </a:xfrm>
        </p:grpSpPr>
        <p:sp>
          <p:nvSpPr>
            <p:cNvPr id="8" name="Rectangle 8"/>
            <p:cNvSpPr/>
            <p:nvPr/>
          </p:nvSpPr>
          <p:spPr>
            <a:xfrm>
              <a:off x="857250" y="1905000"/>
              <a:ext cx="1809750" cy="38100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2030" y="1897380"/>
              <a:ext cx="61950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3B82F6">
                      <a:alphaMod val="25000"/>
                    </a:srgbClr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2510" y="2632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混合办公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6320" y="29508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办公室与远程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6320" y="3141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灵活切换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3524250"/>
              <a:ext cx="381000" cy="19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2857500" y="1897380"/>
            <a:ext cx="1809750" cy="3817620"/>
            <a:chOff x="2857500" y="1897380"/>
            <a:chExt cx="1809750" cy="3817620"/>
          </a:xfrm>
        </p:grpSpPr>
        <p:sp>
          <p:nvSpPr>
            <p:cNvPr id="15" name="Rectangle 15"/>
            <p:cNvSpPr/>
            <p:nvPr/>
          </p:nvSpPr>
          <p:spPr>
            <a:xfrm>
              <a:off x="2857500" y="1905000"/>
              <a:ext cx="1809750" cy="38100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02280" y="1897380"/>
              <a:ext cx="61950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3B82F6">
                      <a:alphaMod val="25000"/>
                    </a:srgbClr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2760" y="2632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异步协作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36570" y="29508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跨时区团队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36570" y="31413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无需实时在线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48000" y="3524250"/>
              <a:ext cx="381000" cy="19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857750" y="1897380"/>
            <a:ext cx="1809750" cy="3817620"/>
            <a:chOff x="4857750" y="1897380"/>
            <a:chExt cx="1809750" cy="3817620"/>
          </a:xfrm>
        </p:grpSpPr>
        <p:sp>
          <p:nvSpPr>
            <p:cNvPr id="22" name="Rectangle 22"/>
            <p:cNvSpPr/>
            <p:nvPr/>
          </p:nvSpPr>
          <p:spPr>
            <a:xfrm>
              <a:off x="4857750" y="1905000"/>
              <a:ext cx="1809750" cy="38100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02530" y="1897380"/>
              <a:ext cx="61950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3B82F6">
                      <a:alphaMod val="25000"/>
                    </a:srgbClr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33010" y="2632710"/>
              <a:ext cx="559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AI 协作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6820" y="2950845"/>
              <a:ext cx="640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AI 成为虚拟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6820" y="3141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团队成员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048250" y="3524250"/>
              <a:ext cx="381000" cy="19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858000" y="1897380"/>
            <a:ext cx="1809750" cy="3817620"/>
            <a:chOff x="6858000" y="1897380"/>
            <a:chExt cx="1809750" cy="3817620"/>
          </a:xfrm>
        </p:grpSpPr>
        <p:sp>
          <p:nvSpPr>
            <p:cNvPr id="29" name="Rectangle 29"/>
            <p:cNvSpPr/>
            <p:nvPr/>
          </p:nvSpPr>
          <p:spPr>
            <a:xfrm>
              <a:off x="6858000" y="1905000"/>
              <a:ext cx="1809750" cy="38100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2780" y="1897380"/>
              <a:ext cx="61950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3B82F6">
                      <a:alphaMod val="25000"/>
                    </a:srgbClr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33260" y="2632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数字游民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7070" y="29508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边旅行边工作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37070" y="31413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成为新常态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48500" y="3524250"/>
              <a:ext cx="381000" cy="19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8858250" y="1897380"/>
            <a:ext cx="1809750" cy="3817620"/>
            <a:chOff x="8858250" y="1897380"/>
            <a:chExt cx="1809750" cy="3817620"/>
          </a:xfrm>
        </p:grpSpPr>
        <p:sp>
          <p:nvSpPr>
            <p:cNvPr id="36" name="Rectangle 36"/>
            <p:cNvSpPr/>
            <p:nvPr/>
          </p:nvSpPr>
          <p:spPr>
            <a:xfrm>
              <a:off x="8858250" y="1905000"/>
              <a:ext cx="1809750" cy="38100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03030" y="1897380"/>
              <a:ext cx="61950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3B82F6">
                      <a:alphaMod val="25000"/>
                    </a:srgbClr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33510" y="2632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虚拟办公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37320" y="2950845"/>
              <a:ext cx="6289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VR/AR 打造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320" y="31413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沉浸式空间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48750" y="3524250"/>
              <a:ext cx="381000" cy="19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</p:grpSp>
      <p:sp>
        <p:nvSpPr>
          <p:cNvPr id="43" name="Rectangle 43"/>
          <p:cNvSpPr/>
          <p:nvPr/>
        </p:nvSpPr>
        <p:spPr>
          <a:xfrm>
            <a:off x="857250" y="5905500"/>
            <a:ext cx="9810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086975" y="611028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  <p:bldP spid="21" grpId="0"/>
      <p:bldP spid="28" grpId="0"/>
      <p:bldP spid="35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286500" y="952500"/>
            <a:ext cx="4572000" cy="4572000"/>
            <a:chOff x="6286500" y="952500"/>
            <a:chExt cx="4572000" cy="4572000"/>
          </a:xfrm>
        </p:grpSpPr>
        <p:sp>
          <p:nvSpPr>
            <p:cNvPr id="3" name="Ellipse 3"/>
            <p:cNvSpPr/>
            <p:nvPr/>
          </p:nvSpPr>
          <p:spPr>
            <a:xfrm>
              <a:off x="7429500" y="2095500"/>
              <a:ext cx="2286000" cy="2286000"/>
            </a:xfrm>
            <a:prstGeom prst="ellipse">
              <a:avLst/>
            </a:prstGeom>
            <a:noFill/>
            <a:ln w="9525">
              <a:solidFill>
                <a:srgbClr val="3B82F6">
                  <a:alpha val="6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6858000" y="15240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3B82F6">
                  <a:alpha val="6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6286500" y="952500"/>
              <a:ext cx="4572000" cy="4572000"/>
            </a:xfrm>
            <a:prstGeom prst="ellipse">
              <a:avLst/>
            </a:prstGeom>
            <a:noFill/>
            <a:ln w="9525">
              <a:solidFill>
                <a:srgbClr val="3B82F6">
                  <a:alpha val="6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46772" y="1053941"/>
            <a:ext cx="367498" cy="167640"/>
            <a:chOff x="846772" y="1053941"/>
            <a:chExt cx="367498" cy="167640"/>
          </a:xfrm>
        </p:grpSpPr>
        <p:sp>
          <p:nvSpPr>
            <p:cNvPr id="7" name="TextBox 7"/>
            <p:cNvSpPr txBox="1"/>
            <p:nvPr/>
          </p:nvSpPr>
          <p:spPr>
            <a:xfrm>
              <a:off x="846772" y="10539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QUOTE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86975" y="1062038"/>
            <a:ext cx="354092" cy="152400"/>
            <a:chOff x="10086975" y="1062038"/>
            <a:chExt cx="354092" cy="152400"/>
          </a:xfrm>
        </p:grpSpPr>
        <p:sp>
          <p:nvSpPr>
            <p:cNvPr id="9" name="TextBox 9"/>
            <p:cNvSpPr txBox="1"/>
            <p:nvPr/>
          </p:nvSpPr>
          <p:spPr>
            <a:xfrm>
              <a:off x="10086975" y="1062038"/>
              <a:ext cx="3540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04 / 08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38150" y="1533525"/>
            <a:ext cx="1036796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0" dirty="0">
                <a:solidFill>
                  <a:srgbClr val="3B82F6">
                    <a:alphaMod val="10000"/>
                  </a:srgbClr>
                </a:solidFill>
                <a:latin typeface="Georgia"/>
                <a:ea typeface="Georgia"/>
                <a:cs typeface="Georgia"/>
              </a:rPr>
              <a:t>"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11580" y="2630805"/>
            <a:ext cx="2573655" cy="426720"/>
            <a:chOff x="1211580" y="2630805"/>
            <a:chExt cx="2573655" cy="426720"/>
          </a:xfrm>
        </p:grpSpPr>
        <p:sp>
          <p:nvSpPr>
            <p:cNvPr id="12" name="TextBox 12"/>
            <p:cNvSpPr txBox="1"/>
            <p:nvPr/>
          </p:nvSpPr>
          <p:spPr>
            <a:xfrm>
              <a:off x="1211580" y="2630805"/>
              <a:ext cx="25736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工作不是一个地点，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1580" y="3059430"/>
            <a:ext cx="2013585" cy="426720"/>
            <a:chOff x="1211580" y="3059430"/>
            <a:chExt cx="2013585" cy="426720"/>
          </a:xfrm>
        </p:grpSpPr>
        <p:sp>
          <p:nvSpPr>
            <p:cNvPr id="14" name="TextBox 14"/>
            <p:cNvSpPr txBox="1"/>
            <p:nvPr/>
          </p:nvSpPr>
          <p:spPr>
            <a:xfrm>
              <a:off x="1211580" y="3059430"/>
              <a:ext cx="20135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而是一种状态。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4915" y="3714750"/>
            <a:ext cx="1755886" cy="433388"/>
            <a:chOff x="1224915" y="3714750"/>
            <a:chExt cx="1755886" cy="433388"/>
          </a:xfrm>
        </p:grpSpPr>
        <p:sp>
          <p:nvSpPr>
            <p:cNvPr id="16" name="Line 16"/>
            <p:cNvSpPr/>
            <p:nvPr/>
          </p:nvSpPr>
          <p:spPr>
            <a:xfrm>
              <a:off x="1238250" y="3714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24915" y="3934778"/>
              <a:ext cx="1755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— 2026 全球远程办公白皮书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857250" y="5524500"/>
            <a:ext cx="98107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45820" y="5808345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 UI"/>
                <a:cs typeface="Segoe UI"/>
              </a:rPr>
              <a:t>远程办公的本质不是把人从办公室带走，而是把自由还给工作。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F1F3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7250" y="762000"/>
            <a:ext cx="76200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32522" y="958691"/>
            <a:ext cx="736044" cy="167640"/>
            <a:chOff x="1132522" y="958691"/>
            <a:chExt cx="736044" cy="167640"/>
          </a:xfrm>
        </p:grpSpPr>
        <p:sp>
          <p:nvSpPr>
            <p:cNvPr id="4" name="TextBox 4"/>
            <p:cNvSpPr txBox="1"/>
            <p:nvPr/>
          </p:nvSpPr>
          <p:spPr>
            <a:xfrm>
              <a:off x="1132522" y="958691"/>
              <a:ext cx="7360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PROS vs CONS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2520" y="1217295"/>
            <a:ext cx="1741170" cy="487680"/>
            <a:chOff x="1112520" y="1217295"/>
            <a:chExt cx="1741170" cy="487680"/>
          </a:xfrm>
        </p:grpSpPr>
        <p:sp>
          <p:nvSpPr>
            <p:cNvPr id="6" name="TextBox 6"/>
            <p:cNvSpPr txBox="1"/>
            <p:nvPr/>
          </p:nvSpPr>
          <p:spPr>
            <a:xfrm>
              <a:off x="1112520" y="1217295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优势与挑战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250" y="2000250"/>
            <a:ext cx="4572000" cy="3810000"/>
            <a:chOff x="857250" y="2000250"/>
            <a:chExt cx="4572000" cy="3810000"/>
          </a:xfrm>
        </p:grpSpPr>
        <p:sp>
          <p:nvSpPr>
            <p:cNvPr id="8" name="Rectangle 8"/>
            <p:cNvSpPr/>
            <p:nvPr/>
          </p:nvSpPr>
          <p:spPr>
            <a:xfrm>
              <a:off x="857250" y="2000250"/>
              <a:ext cx="4572000" cy="3810000"/>
            </a:xfrm>
            <a:prstGeom prst="rect">
              <a:avLst/>
            </a:prstGeom>
            <a:solidFill>
              <a:srgbClr val="F1F3F5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2522" y="2292191"/>
              <a:ext cx="6260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3B82F6"/>
                  </a:solidFill>
                  <a:latin typeface="Consolas"/>
                  <a:ea typeface="Consolas"/>
                  <a:cs typeface="Consolas"/>
                </a:rPr>
                <a:t>ADVANTAGES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2045" y="2631758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远程办公的优势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3000375"/>
              <a:ext cx="381000" cy="19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9665" y="3268028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✦ 灵活安排工作时间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9665" y="3553778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✦ 减少通勤时间和成本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9665" y="3839528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✦ 全球人才库可及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9665" y="4125278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✦ 提升员工满意度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9665" y="4411028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✦ 降低办公场地成本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05500" y="2000250"/>
            <a:ext cx="4857750" cy="3810000"/>
            <a:chOff x="5905500" y="2000250"/>
            <a:chExt cx="4857750" cy="3810000"/>
          </a:xfrm>
        </p:grpSpPr>
        <p:sp>
          <p:nvSpPr>
            <p:cNvPr id="18" name="Rectangle 18"/>
            <p:cNvSpPr/>
            <p:nvPr/>
          </p:nvSpPr>
          <p:spPr>
            <a:xfrm>
              <a:off x="5905500" y="2000250"/>
              <a:ext cx="4857750" cy="3810000"/>
            </a:xfrm>
            <a:prstGeom prst="rect">
              <a:avLst/>
            </a:prstGeom>
            <a:solidFill>
              <a:srgbClr val="0A1F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0772" y="2292191"/>
              <a:ext cx="6260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CHALLENGES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70295" y="2631758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需要克服的挑战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3000375"/>
              <a:ext cx="381000" cy="19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77915" y="3268028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✦ 团队沟通效率下降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77915" y="3553778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✦ 企业文化难以传递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77915" y="3839528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✦ 工作与生活边界模糊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77915" y="4125278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✦ 网络安全风险增加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77915" y="4411028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✦ 新员工融入困难</a:t>
              </a:r>
            </a:p>
          </p:txBody>
        </p:sp>
      </p:grpSp>
      <p:sp>
        <p:nvSpPr>
          <p:cNvPr id="28" name="Line 28"/>
          <p:cNvSpPr/>
          <p:nvPr/>
        </p:nvSpPr>
        <p:spPr>
          <a:xfrm>
            <a:off x="5476875" y="38100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3B82F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556885" y="35852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vs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57250" y="6000750"/>
            <a:ext cx="9906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086975" y="62055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7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F1F3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7250" y="762000"/>
            <a:ext cx="76200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132522" y="958691"/>
            <a:ext cx="928568" cy="167640"/>
            <a:chOff x="1132522" y="958691"/>
            <a:chExt cx="928568" cy="167640"/>
          </a:xfrm>
        </p:grpSpPr>
        <p:sp>
          <p:nvSpPr>
            <p:cNvPr id="4" name="TextBox 4"/>
            <p:cNvSpPr txBox="1"/>
            <p:nvPr/>
          </p:nvSpPr>
          <p:spPr>
            <a:xfrm>
              <a:off x="1132522" y="958691"/>
              <a:ext cx="9285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TOOL ECOSYSTEM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2520" y="1217295"/>
            <a:ext cx="2749296" cy="487680"/>
            <a:chOff x="1112520" y="1217295"/>
            <a:chExt cx="2749296" cy="487680"/>
          </a:xfrm>
        </p:grpSpPr>
        <p:sp>
          <p:nvSpPr>
            <p:cNvPr id="6" name="TextBox 6"/>
            <p:cNvSpPr txBox="1"/>
            <p:nvPr/>
          </p:nvSpPr>
          <p:spPr>
            <a:xfrm>
              <a:off x="1112520" y="1217295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远程办公工具生态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857250" y="2000250"/>
            <a:ext cx="180975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2857500" y="2000250"/>
            <a:ext cx="180975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857750" y="2000250"/>
            <a:ext cx="180975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858000" y="2000250"/>
            <a:ext cx="180975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858250" y="2000250"/>
            <a:ext cx="180975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842962" y="2387441"/>
            <a:ext cx="817817" cy="936784"/>
            <a:chOff x="842962" y="2387441"/>
            <a:chExt cx="817817" cy="936784"/>
          </a:xfrm>
        </p:grpSpPr>
        <p:sp>
          <p:nvSpPr>
            <p:cNvPr id="13" name="TextBox 13"/>
            <p:cNvSpPr txBox="1"/>
            <p:nvPr/>
          </p:nvSpPr>
          <p:spPr>
            <a:xfrm>
              <a:off x="846772" y="2387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2640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沟通协作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820" y="2950845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Segoe UI"/>
                  <a:ea typeface="Segoe UI"/>
                  <a:cs typeface="Segoe UI"/>
                </a:rPr>
                <a:t>Slack / Teams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5820" y="3141345"/>
              <a:ext cx="640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 UI"/>
                  <a:cs typeface="Segoe UI"/>
                </a:rPr>
                <a:t>飞书 / 钉钉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651760" y="244221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843212" y="2387441"/>
            <a:ext cx="859822" cy="936784"/>
            <a:chOff x="2843212" y="2387441"/>
            <a:chExt cx="859822" cy="936784"/>
          </a:xfrm>
        </p:grpSpPr>
        <p:sp>
          <p:nvSpPr>
            <p:cNvPr id="19" name="TextBox 19"/>
            <p:cNvSpPr txBox="1"/>
            <p:nvPr/>
          </p:nvSpPr>
          <p:spPr>
            <a:xfrm>
              <a:off x="2847022" y="2387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43212" y="2640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项目管理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46070" y="29508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Segoe UI"/>
                  <a:ea typeface="Segoe UI"/>
                  <a:cs typeface="Segoe UI"/>
                </a:rPr>
                <a:t>Notion / Jira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46070" y="314134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Segoe UI"/>
                  <a:ea typeface="Segoe UI"/>
                  <a:cs typeface="Segoe UI"/>
                </a:rPr>
                <a:t>Linear / Asana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652010" y="244221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843462" y="2387441"/>
            <a:ext cx="883825" cy="936784"/>
            <a:chOff x="4843462" y="2387441"/>
            <a:chExt cx="883825" cy="936784"/>
          </a:xfrm>
        </p:grpSpPr>
        <p:sp>
          <p:nvSpPr>
            <p:cNvPr id="25" name="TextBox 25"/>
            <p:cNvSpPr txBox="1"/>
            <p:nvPr/>
          </p:nvSpPr>
          <p:spPr>
            <a:xfrm>
              <a:off x="4847272" y="2387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43462" y="2640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文档协作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46320" y="2950845"/>
              <a:ext cx="6889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Segoe UI"/>
                  <a:ea typeface="Segoe UI"/>
                  <a:cs typeface="Segoe UI"/>
                </a:rPr>
                <a:t>Google Docs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46320" y="3141345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 UI"/>
                  <a:cs typeface="Segoe UI"/>
                </a:rPr>
                <a:t>语雀 / 飞书文档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652260" y="244221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843712" y="2387441"/>
            <a:ext cx="931831" cy="936784"/>
            <a:chOff x="6843712" y="2387441"/>
            <a:chExt cx="931831" cy="936784"/>
          </a:xfrm>
        </p:grpSpPr>
        <p:sp>
          <p:nvSpPr>
            <p:cNvPr id="31" name="TextBox 31"/>
            <p:cNvSpPr txBox="1"/>
            <p:nvPr/>
          </p:nvSpPr>
          <p:spPr>
            <a:xfrm>
              <a:off x="6847522" y="2387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43712" y="2640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视频会议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46570" y="2950845"/>
              <a:ext cx="9289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 UI"/>
                  <a:cs typeface="Segoe UI"/>
                </a:rPr>
                <a:t>Zoom / 腾讯会议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46570" y="31413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Segoe UI"/>
                  <a:ea typeface="Segoe UI"/>
                  <a:cs typeface="Segoe UI"/>
                </a:rPr>
                <a:t>Google Meet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8652510" y="244221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843962" y="2387441"/>
            <a:ext cx="1027843" cy="936784"/>
            <a:chOff x="8843962" y="2387441"/>
            <a:chExt cx="1027843" cy="936784"/>
          </a:xfrm>
        </p:grpSpPr>
        <p:sp>
          <p:nvSpPr>
            <p:cNvPr id="37" name="TextBox 37"/>
            <p:cNvSpPr txBox="1"/>
            <p:nvPr/>
          </p:nvSpPr>
          <p:spPr>
            <a:xfrm>
              <a:off x="8847772" y="2387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43962" y="2640806"/>
              <a:ext cx="524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AI 助手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46820" y="2950845"/>
              <a:ext cx="1024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Segoe UI"/>
                  <a:ea typeface="Segoe UI"/>
                  <a:cs typeface="Segoe UI"/>
                </a:rPr>
                <a:t>ChatGPT / Copilot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46820" y="3141345"/>
              <a:ext cx="886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Segoe UI"/>
                  <a:ea typeface="Segoe UI"/>
                  <a:cs typeface="Segoe UI"/>
                </a:rPr>
                <a:t>Claude / Gemini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857250" y="3810000"/>
            <a:ext cx="981075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57250" y="3857625"/>
            <a:ext cx="9810750" cy="1143000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857250" y="3857625"/>
            <a:ext cx="47625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1129665" y="4077652"/>
            <a:ext cx="4585335" cy="484823"/>
            <a:chOff x="1129665" y="4077652"/>
            <a:chExt cx="4585335" cy="484823"/>
          </a:xfrm>
        </p:grpSpPr>
        <p:sp>
          <p:nvSpPr>
            <p:cNvPr id="45" name="TextBox 45"/>
            <p:cNvSpPr txBox="1"/>
            <p:nvPr/>
          </p:nvSpPr>
          <p:spPr>
            <a:xfrm>
              <a:off x="1129665" y="4077652"/>
              <a:ext cx="43672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关键洞察：远程办公的核心不是工具本身，而是工具之间的无缝连接。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1570" y="4379595"/>
              <a:ext cx="45834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 UI"/>
                  <a:cs typeface="Segoe UI"/>
                </a:rPr>
                <a:t>最佳实践是建立统一的数字工作台，让信息在工具间自由流动，减少上下文切换成本。</a:t>
              </a:r>
            </a:p>
          </p:txBody>
        </p:sp>
      </p:grpSp>
      <p:pic>
        <p:nvPicPr>
          <p:cNvPr id="48" name="Image 48"/>
          <p:cNvPicPr>
            <a:picLocks noChangeAspect="1"/>
          </p:cNvPicPr>
          <p:nvPr/>
        </p:nvPicPr>
        <p:blipFill>
          <a:blip r:embed="rId2"/>
          <a:srcRect l="0" t="21731" r="0" b="21731"/>
          <a:stretch>
            <a:fillRect/>
          </a:stretch>
        </p:blipFill>
        <p:spPr>
          <a:xfrm>
            <a:off x="857250" y="5238750"/>
            <a:ext cx="1905000" cy="762000"/>
          </a:xfrm>
          <a:prstGeom prst="rect">
            <a:avLst/>
          </a:prstGeom>
        </p:spPr>
      </p:pic>
      <p:sp>
        <p:nvSpPr>
          <p:cNvPr id="49" name="Rectangle 49"/>
          <p:cNvSpPr/>
          <p:nvPr/>
        </p:nvSpPr>
        <p:spPr>
          <a:xfrm>
            <a:off x="857250" y="5238750"/>
            <a:ext cx="1905000" cy="762000"/>
          </a:xfrm>
          <a:prstGeom prst="rect">
            <a:avLst/>
          </a:prstGeom>
          <a:solidFill>
            <a:srgbClr val="0A1F3D">
              <a:alpha val="50000"/>
            </a:srgbClr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57250" y="6143625"/>
            <a:ext cx="9810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086975" y="6253162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9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7" grpId="0"/>
      <p:bldP spid="23" grpId="0"/>
      <p:bldP spid="29" grpId="0"/>
      <p:bldP spid="35" grpId="0"/>
      <p:bldP spid="41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7752" r="0" b="7752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solidFill>
            <a:srgbClr val="0A1F3D">
              <a:alpha val="65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953250" y="1143000"/>
            <a:ext cx="4191000" cy="4191000"/>
            <a:chOff x="6953250" y="1143000"/>
            <a:chExt cx="4191000" cy="4191000"/>
          </a:xfrm>
        </p:grpSpPr>
        <p:sp>
          <p:nvSpPr>
            <p:cNvPr id="5" name="Ellipse 5"/>
            <p:cNvSpPr/>
            <p:nvPr/>
          </p:nvSpPr>
          <p:spPr>
            <a:xfrm>
              <a:off x="7620000" y="1809750"/>
              <a:ext cx="2857500" cy="2857500"/>
            </a:xfrm>
            <a:prstGeom prst="ellipse">
              <a:avLst/>
            </a:prstGeom>
            <a:noFill/>
            <a:ln w="9525">
              <a:solidFill>
                <a:srgbClr val="3B82F6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953250" y="1143000"/>
              <a:ext cx="4191000" cy="4191000"/>
            </a:xfrm>
            <a:prstGeom prst="ellipse">
              <a:avLst/>
            </a:prstGeom>
            <a:noFill/>
            <a:ln w="9525">
              <a:solidFill>
                <a:srgbClr val="3B82F6">
                  <a:alpha val="6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46772" y="1053941"/>
            <a:ext cx="582025" cy="167640"/>
            <a:chOff x="846772" y="1053941"/>
            <a:chExt cx="582025" cy="167640"/>
          </a:xfrm>
        </p:grpSpPr>
        <p:sp>
          <p:nvSpPr>
            <p:cNvPr id="8" name="TextBox 8"/>
            <p:cNvSpPr txBox="1"/>
            <p:nvPr/>
          </p:nvSpPr>
          <p:spPr>
            <a:xfrm>
              <a:off x="846772" y="1053941"/>
              <a:ext cx="582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MANIFESTO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86975" y="1062038"/>
            <a:ext cx="354092" cy="152400"/>
            <a:chOff x="10086975" y="1062038"/>
            <a:chExt cx="354092" cy="152400"/>
          </a:xfrm>
        </p:grpSpPr>
        <p:sp>
          <p:nvSpPr>
            <p:cNvPr id="10" name="TextBox 10"/>
            <p:cNvSpPr txBox="1"/>
            <p:nvPr/>
          </p:nvSpPr>
          <p:spPr>
            <a:xfrm>
              <a:off x="10086975" y="1062038"/>
              <a:ext cx="3540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07 / 08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38150" y="1533525"/>
            <a:ext cx="1036796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0" dirty="0">
                <a:solidFill>
                  <a:srgbClr val="3B82F6">
                    <a:alphaMod val="8000"/>
                  </a:srgbClr>
                </a:solidFill>
                <a:latin typeface="Georgia"/>
                <a:ea typeface="Georgia"/>
                <a:cs typeface="Georgia"/>
              </a:rPr>
              <a:t>"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11530" y="2468880"/>
            <a:ext cx="2491740" cy="731520"/>
            <a:chOff x="811530" y="2468880"/>
            <a:chExt cx="2491740" cy="731520"/>
          </a:xfrm>
        </p:grpSpPr>
        <p:sp>
          <p:nvSpPr>
            <p:cNvPr id="13" name="TextBox 13"/>
            <p:cNvSpPr txBox="1"/>
            <p:nvPr/>
          </p:nvSpPr>
          <p:spPr>
            <a:xfrm>
              <a:off x="811530" y="2468880"/>
              <a:ext cx="249174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1F3F5"/>
                  </a:solidFill>
                  <a:latin typeface="Segoe UI"/>
                  <a:ea typeface="Microsoft YaHei UI"/>
                  <a:cs typeface="Segoe UI"/>
                </a:rPr>
                <a:t>未来已来，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1530" y="3135630"/>
            <a:ext cx="3619881" cy="731520"/>
            <a:chOff x="811530" y="3135630"/>
            <a:chExt cx="3619881" cy="731520"/>
          </a:xfrm>
        </p:grpSpPr>
        <p:sp>
          <p:nvSpPr>
            <p:cNvPr id="15" name="TextBox 15"/>
            <p:cNvSpPr txBox="1"/>
            <p:nvPr/>
          </p:nvSpPr>
          <p:spPr>
            <a:xfrm>
              <a:off x="811530" y="3135630"/>
              <a:ext cx="361988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3B82F6"/>
                  </a:solidFill>
                  <a:latin typeface="Segoe UI"/>
                  <a:ea typeface="Microsoft YaHei UI"/>
                  <a:cs typeface="Segoe UI"/>
                </a:rPr>
                <a:t>只是分布不均。</a:t>
              </a:r>
            </a:p>
          </p:txBody>
        </p:sp>
      </p:grpSp>
      <p:sp>
        <p:nvSpPr>
          <p:cNvPr id="17" name="Rectangle 17"/>
          <p:cNvSpPr/>
          <p:nvPr/>
        </p:nvSpPr>
        <p:spPr>
          <a:xfrm>
            <a:off x="857250" y="3905250"/>
            <a:ext cx="952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42010" y="4251960"/>
            <a:ext cx="4831080" cy="243840"/>
            <a:chOff x="842010" y="4251960"/>
            <a:chExt cx="4831080" cy="243840"/>
          </a:xfrm>
        </p:grpSpPr>
        <p:sp>
          <p:nvSpPr>
            <p:cNvPr id="18" name="TextBox 18"/>
            <p:cNvSpPr txBox="1"/>
            <p:nvPr/>
          </p:nvSpPr>
          <p:spPr>
            <a:xfrm>
              <a:off x="842010" y="4251960"/>
              <a:ext cx="4831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远程办公不是趋势，而是必然。拥抱变化的企业将赢得人才争夺战。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7725" y="5634038"/>
            <a:ext cx="769144" cy="152400"/>
            <a:chOff x="847725" y="5634038"/>
            <a:chExt cx="769144" cy="152400"/>
          </a:xfrm>
        </p:grpSpPr>
        <p:sp>
          <p:nvSpPr>
            <p:cNvPr id="20" name="TextBox 20"/>
            <p:cNvSpPr txBox="1"/>
            <p:nvPr/>
          </p:nvSpPr>
          <p:spPr>
            <a:xfrm>
              <a:off x="847725" y="5634038"/>
              <a:ext cx="7691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Reasonix · 2026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475" y="5634038"/>
            <a:ext cx="529114" cy="152400"/>
            <a:chOff x="9515475" y="5634038"/>
            <a:chExt cx="529114" cy="152400"/>
          </a:xfrm>
        </p:grpSpPr>
        <p:sp>
          <p:nvSpPr>
            <p:cNvPr id="22" name="TextBox 22"/>
            <p:cNvSpPr txBox="1"/>
            <p:nvPr/>
          </p:nvSpPr>
          <p:spPr>
            <a:xfrm>
              <a:off x="9515475" y="5634038"/>
              <a:ext cx="529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MANIFESTO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6" grpId="0"/>
      <p:bldP spid="19" grpId="0"/>
      <p:bldP spid="2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00" cy="6532245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20847" t="0" r="20847" b="0"/>
          <a:stretch>
            <a:fillRect/>
          </a:stretch>
        </p:blipFill>
        <p:spPr>
          <a:xfrm>
            <a:off x="0" y="0"/>
            <a:ext cx="5715000" cy="653224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5715000" cy="6532245"/>
          </a:xfrm>
          <a:prstGeom prst="rect">
            <a:avLst/>
          </a:prstGeom>
          <a:solidFill>
            <a:srgbClr val="0A1F3D">
              <a:alpha val="74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0" y="0"/>
            <a:ext cx="5897880" cy="6532245"/>
          </a:xfrm>
          <a:prstGeom prst="rect">
            <a:avLst/>
          </a:prstGeom>
          <a:solidFill>
            <a:srgbClr val="F1F3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47725" y="1062038"/>
            <a:ext cx="354092" cy="152400"/>
            <a:chOff x="847725" y="1062038"/>
            <a:chExt cx="354092" cy="152400"/>
          </a:xfrm>
        </p:grpSpPr>
        <p:sp>
          <p:nvSpPr>
            <p:cNvPr id="6" name="TextBox 6"/>
            <p:cNvSpPr txBox="1"/>
            <p:nvPr/>
          </p:nvSpPr>
          <p:spPr>
            <a:xfrm>
              <a:off x="847725" y="1062038"/>
              <a:ext cx="3540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08 / 08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3915" y="1363028"/>
            <a:ext cx="558737" cy="213360"/>
            <a:chOff x="843915" y="1363028"/>
            <a:chExt cx="558737" cy="213360"/>
          </a:xfrm>
        </p:grpSpPr>
        <p:sp>
          <p:nvSpPr>
            <p:cNvPr id="8" name="TextBox 8"/>
            <p:cNvSpPr txBox="1"/>
            <p:nvPr/>
          </p:nvSpPr>
          <p:spPr>
            <a:xfrm>
              <a:off x="843915" y="1363028"/>
              <a:ext cx="558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CLOSING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1530" y="2468880"/>
            <a:ext cx="3499866" cy="731520"/>
            <a:chOff x="811530" y="2468880"/>
            <a:chExt cx="3499866" cy="731520"/>
          </a:xfrm>
        </p:grpSpPr>
        <p:sp>
          <p:nvSpPr>
            <p:cNvPr id="10" name="TextBox 10"/>
            <p:cNvSpPr txBox="1"/>
            <p:nvPr/>
          </p:nvSpPr>
          <p:spPr>
            <a:xfrm>
              <a:off x="811530" y="2468880"/>
              <a:ext cx="349986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F1F3F5"/>
                  </a:solidFill>
                  <a:latin typeface="Segoe UI"/>
                  <a:ea typeface="Segoe UI"/>
                  <a:cs typeface="Segoe UI"/>
                </a:rPr>
                <a:t>Start remote.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1530" y="3040380"/>
            <a:ext cx="2838583" cy="731520"/>
            <a:chOff x="811530" y="3040380"/>
            <a:chExt cx="2838583" cy="731520"/>
          </a:xfrm>
        </p:grpSpPr>
        <p:sp>
          <p:nvSpPr>
            <p:cNvPr id="12" name="TextBox 12"/>
            <p:cNvSpPr txBox="1"/>
            <p:nvPr/>
          </p:nvSpPr>
          <p:spPr>
            <a:xfrm>
              <a:off x="811530" y="3040380"/>
              <a:ext cx="283858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3B82F6"/>
                  </a:solidFill>
                  <a:latin typeface="Segoe UI"/>
                  <a:ea typeface="Segoe UI"/>
                  <a:cs typeface="Segoe UI"/>
                </a:rPr>
                <a:t>Start now.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857250" y="3714750"/>
            <a:ext cx="571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843915" y="4077652"/>
            <a:ext cx="2687002" cy="213360"/>
            <a:chOff x="843915" y="4077652"/>
            <a:chExt cx="2687002" cy="213360"/>
          </a:xfrm>
        </p:grpSpPr>
        <p:sp>
          <p:nvSpPr>
            <p:cNvPr id="15" name="TextBox 15"/>
            <p:cNvSpPr txBox="1"/>
            <p:nvPr/>
          </p:nvSpPr>
          <p:spPr>
            <a:xfrm>
              <a:off x="843915" y="40776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Segoe UI"/>
                  <a:ea typeface="Microsoft YaHei UI"/>
                  <a:cs typeface="Segoe UI"/>
                </a:rPr>
                <a:t>从今天开始，重新思考你的团队如何协作。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47725" y="563403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Reasonix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1725" y="5634038"/>
            <a:ext cx="5691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2026.06.22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273165" y="1029652"/>
            <a:ext cx="747760" cy="213360"/>
            <a:chOff x="6273165" y="1029652"/>
            <a:chExt cx="747760" cy="213360"/>
          </a:xfrm>
        </p:grpSpPr>
        <p:sp>
          <p:nvSpPr>
            <p:cNvPr id="19" name="TextBox 19"/>
            <p:cNvSpPr txBox="1"/>
            <p:nvPr/>
          </p:nvSpPr>
          <p:spPr>
            <a:xfrm>
              <a:off x="6273165" y="102965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B82F6"/>
                  </a:solidFill>
                  <a:latin typeface="Consolas"/>
                  <a:ea typeface="Consolas"/>
                  <a:cs typeface="Consolas"/>
                </a:rPr>
                <a:t>TAKEAWAYS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76975" y="1395412"/>
            <a:ext cx="434102" cy="152400"/>
            <a:chOff x="6276975" y="1395412"/>
            <a:chExt cx="434102" cy="152400"/>
          </a:xfrm>
        </p:grpSpPr>
        <p:sp>
          <p:nvSpPr>
            <p:cNvPr id="21" name="TextBox 21"/>
            <p:cNvSpPr txBox="1"/>
            <p:nvPr/>
          </p:nvSpPr>
          <p:spPr>
            <a:xfrm>
              <a:off x="6276975" y="1395412"/>
              <a:ext cx="434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03 RULES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6286500" y="1714500"/>
            <a:ext cx="438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6252210" y="1804035"/>
            <a:ext cx="2417445" cy="662940"/>
            <a:chOff x="6252210" y="1804035"/>
            <a:chExt cx="2417445" cy="662940"/>
          </a:xfrm>
        </p:grpSpPr>
        <p:sp>
          <p:nvSpPr>
            <p:cNvPr id="24" name="TextBox 24"/>
            <p:cNvSpPr txBox="1"/>
            <p:nvPr/>
          </p:nvSpPr>
          <p:spPr>
            <a:xfrm>
              <a:off x="6252210" y="180403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3B82F6">
                      <a:alphaMod val="20000"/>
                    </a:srgbClr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42760" y="1965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信任优于监控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46570" y="228409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 UI"/>
                  <a:cs typeface="Segoe UI"/>
                </a:rPr>
                <a:t>以结果为导向，而非工时为考核。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6286500" y="2667000"/>
            <a:ext cx="438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6252210" y="2756535"/>
            <a:ext cx="3017520" cy="662940"/>
            <a:chOff x="6252210" y="2756535"/>
            <a:chExt cx="3017520" cy="662940"/>
          </a:xfrm>
        </p:grpSpPr>
        <p:sp>
          <p:nvSpPr>
            <p:cNvPr id="29" name="TextBox 29"/>
            <p:cNvSpPr txBox="1"/>
            <p:nvPr/>
          </p:nvSpPr>
          <p:spPr>
            <a:xfrm>
              <a:off x="6252210" y="275653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3B82F6">
                      <a:alphaMod val="20000"/>
                    </a:srgbClr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42760" y="2918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工具服务于人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46570" y="3236595"/>
              <a:ext cx="2423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 UI"/>
                  <a:cs typeface="Segoe UI"/>
                </a:rPr>
                <a:t>选择工具的标准是减少摩擦，而非增加功能。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6286500" y="3619500"/>
            <a:ext cx="438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6252210" y="3709035"/>
            <a:ext cx="2897505" cy="662940"/>
            <a:chOff x="6252210" y="3709035"/>
            <a:chExt cx="2897505" cy="662940"/>
          </a:xfrm>
        </p:grpSpPr>
        <p:sp>
          <p:nvSpPr>
            <p:cNvPr id="34" name="TextBox 34"/>
            <p:cNvSpPr txBox="1"/>
            <p:nvPr/>
          </p:nvSpPr>
          <p:spPr>
            <a:xfrm>
              <a:off x="6252210" y="3709035"/>
              <a:ext cx="4646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3B82F6">
                      <a:alphaMod val="20000"/>
                    </a:srgbClr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42760" y="38709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/>
                  <a:ea typeface="Microsoft YaHei UI"/>
                  <a:cs typeface="Segoe UI"/>
                </a:rPr>
                <a:t>文化是基石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46570" y="4189095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 UI"/>
                  <a:cs typeface="Segoe UI"/>
                </a:rPr>
                <a:t>远程团队需要更强的文化认同感和归属感。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286500" y="4667250"/>
            <a:ext cx="4381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286500" y="5048250"/>
            <a:ext cx="4381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76975" y="5348288"/>
            <a:ext cx="8941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→ 完 · END OF DECK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9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6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3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6" grpId="0"/>
      <p:bldP spid="20" grpId="0"/>
      <p:bldP spid="22" grpId="0"/>
      <p:bldP spid="27" grpId="0"/>
      <p:bldP spid="32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2026-06-22T15:53:30Z</dcterms:created>
  <dcterms:modified xsi:type="dcterms:W3CDTF">2026-06-22T15:53:30Z</dcterms:modified>
  <cp:category/>
  <cp:contentStatus/>
</cp:coreProperties>
</file>