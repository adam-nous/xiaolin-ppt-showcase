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1610975" cy="65341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1B2A4A"/>
                </a:gs>
                <a:gs pos="100000">
                  <a:srgbClr val="0F1A2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C9A96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19900"/>
              <a:ext cx="12192000" cy="38100"/>
            </a:xfrm>
            <a:prstGeom prst="rect">
              <a:avLst/>
            </a:prstGeom>
            <a:solidFill>
              <a:srgbClr val="C9A96E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9618" y="1143000"/>
            <a:ext cx="1123402" cy="473869"/>
            <a:chOff x="749618" y="1143000"/>
            <a:chExt cx="1123402" cy="473869"/>
          </a:xfrm>
        </p:grpSpPr>
        <p:sp>
          <p:nvSpPr>
            <p:cNvPr id="6" name="Rectangle 6"/>
            <p:cNvSpPr/>
            <p:nvPr/>
          </p:nvSpPr>
          <p:spPr>
            <a:xfrm>
              <a:off x="762000" y="1143000"/>
              <a:ext cx="571500" cy="28575"/>
            </a:xfrm>
            <a:prstGeom prst="rect">
              <a:avLst/>
            </a:prstGeom>
            <a:solidFill>
              <a:srgbClr val="C9A96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49618" y="1418749"/>
              <a:ext cx="11234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75" dirty="0">
                  <a:solidFill>
                    <a:srgbClr val="C9A96E"/>
                  </a:solidFill>
                  <a:latin typeface="Georgia"/>
                  <a:ea typeface="Georgia"/>
                  <a:cs typeface="Georgia"/>
                </a:rPr>
                <a:t>TOP · CONSULTING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01040" y="2339340"/>
            <a:ext cx="1466088" cy="2499360"/>
            <a:chOff x="701040" y="2339340"/>
            <a:chExt cx="1466088" cy="2499360"/>
          </a:xfrm>
        </p:grpSpPr>
        <p:sp>
          <p:nvSpPr>
            <p:cNvPr id="9" name="TextBox 9"/>
            <p:cNvSpPr txBox="1"/>
            <p:nvPr/>
          </p:nvSpPr>
          <p:spPr>
            <a:xfrm>
              <a:off x="701040" y="2339340"/>
              <a:ext cx="146608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战略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1040" y="3101340"/>
              <a:ext cx="146608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咨询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1040" y="3863340"/>
              <a:ext cx="146608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方案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44855" y="4762500"/>
            <a:ext cx="2194560" cy="671512"/>
            <a:chOff x="744855" y="4762500"/>
            <a:chExt cx="2194560" cy="671512"/>
          </a:xfrm>
        </p:grpSpPr>
        <p:sp>
          <p:nvSpPr>
            <p:cNvPr id="13" name="Line 13"/>
            <p:cNvSpPr/>
            <p:nvPr/>
          </p:nvSpPr>
          <p:spPr>
            <a:xfrm>
              <a:off x="762000" y="4762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4288">
              <a:solidFill>
                <a:srgbClr val="C9A96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4855" y="49025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0B4D0"/>
                  </a:solidFill>
                  <a:latin typeface="Arial"/>
                  <a:ea typeface="Microsoft YaHei"/>
                  <a:cs typeface="Arial"/>
                </a:rPr>
                <a:t>企业战略规划与数字化转型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8665" y="5220652"/>
              <a:ext cx="12168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8BB8"/>
                  </a:solidFill>
                  <a:latin typeface="Arial"/>
                  <a:ea typeface="Microsoft YaHei"/>
                  <a:cs typeface="Arial"/>
                </a:rPr>
                <a:t>2026 年度战略报告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25000" y="3810000"/>
            <a:ext cx="1905000" cy="1905000"/>
            <a:chOff x="9525000" y="3810000"/>
            <a:chExt cx="1905000" cy="1905000"/>
          </a:xfrm>
        </p:grpSpPr>
        <p:sp>
          <p:nvSpPr>
            <p:cNvPr id="17" name="Rectangle 17"/>
            <p:cNvSpPr/>
            <p:nvPr/>
          </p:nvSpPr>
          <p:spPr>
            <a:xfrm>
              <a:off x="9525000" y="3810000"/>
              <a:ext cx="1905000" cy="1905000"/>
            </a:xfrm>
            <a:prstGeom prst="rect">
              <a:avLst/>
            </a:prstGeom>
            <a:noFill/>
            <a:ln w="19050">
              <a:solidFill>
                <a:srgbClr val="C9A96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200994" y="4274820"/>
              <a:ext cx="553012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5400" b="1" dirty="0">
                  <a:solidFill>
                    <a:srgbClr val="C9A96E"/>
                  </a:solidFill>
                  <a:latin typeface="Georgia"/>
                  <a:ea typeface="Georgia"/>
                  <a:cs typeface="Georgia"/>
                </a:rPr>
                <a:t>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156126" y="5220652"/>
              <a:ext cx="6427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A0B4D0"/>
                  </a:solidFill>
                  <a:latin typeface="Arial"/>
                  <a:ea typeface="Arial"/>
                  <a:cs typeface="Arial"/>
                </a:rPr>
                <a:t>STRATEGY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21" name="TextBox 21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6B8BB8"/>
                  </a:solidFill>
                  <a:latin typeface="Georgia"/>
                  <a:ea typeface="Georgia"/>
                  <a:cs typeface="Georgia"/>
                </a:rPr>
                <a:t>01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6B8BB8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1B2A4A"/>
                </a:gs>
                <a:gs pos="100000">
                  <a:srgbClr val="0F1A2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C9A96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19900"/>
              <a:ext cx="12192000" cy="38100"/>
            </a:xfrm>
            <a:prstGeom prst="rect">
              <a:avLst/>
            </a:prstGeom>
            <a:solidFill>
              <a:srgbClr val="C9A96E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50570" y="664845"/>
            <a:ext cx="1916430" cy="201930"/>
            <a:chOff x="750570" y="664845"/>
            <a:chExt cx="1916430" cy="201930"/>
          </a:xfrm>
        </p:grpSpPr>
        <p:sp>
          <p:nvSpPr>
            <p:cNvPr id="6" name="TextBox 6"/>
            <p:cNvSpPr txBox="1"/>
            <p:nvPr/>
          </p:nvSpPr>
          <p:spPr>
            <a:xfrm>
              <a:off x="750570" y="664845"/>
              <a:ext cx="11329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9A96E"/>
                  </a:solidFill>
                  <a:latin typeface="Georgia"/>
                  <a:ea typeface="Georgia"/>
                  <a:cs typeface="Georgia"/>
                </a:rPr>
                <a:t>TABLE OF CONTENTS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572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C9A96E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27710" y="1232535"/>
            <a:ext cx="5939790" cy="4391977"/>
            <a:chOff x="727710" y="1232535"/>
            <a:chExt cx="5939790" cy="4391977"/>
          </a:xfrm>
        </p:grpSpPr>
        <p:grpSp>
          <p:nvGrpSpPr>
            <p:cNvPr id="13" name="Group 13"/>
            <p:cNvGrpSpPr/>
            <p:nvPr/>
          </p:nvGrpSpPr>
          <p:grpSpPr>
            <a:xfrm>
              <a:off x="727710" y="1232535"/>
              <a:ext cx="5939790" cy="681990"/>
              <a:chOff x="727710" y="1232535"/>
              <a:chExt cx="5939790" cy="681990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727710" y="1232535"/>
                <a:ext cx="46463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dirty="0">
                    <a:solidFill>
                      <a:srgbClr val="C9A96E"/>
                    </a:solidFill>
                    <a:latin typeface="Georgia"/>
                    <a:ea typeface="Georgia"/>
                    <a:cs typeface="Georgia"/>
                  </a:rPr>
                  <a:t>01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885950" y="12668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执行摘要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891665" y="16011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8BB8"/>
                    </a:solidFill>
                    <a:latin typeface="Arial"/>
                    <a:ea typeface="Microsoft YaHei"/>
                    <a:cs typeface="Arial"/>
                  </a:rPr>
                  <a:t>核心发现、关键建议、预期成果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762000" y="190500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4762">
                <a:solidFill>
                  <a:srgbClr val="C9A96E">
                    <a:alpha val="30000"/>
                  </a:srgbClr>
                </a:solidFill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727710" y="2185035"/>
              <a:ext cx="5939790" cy="681990"/>
              <a:chOff x="727710" y="2185035"/>
              <a:chExt cx="5939790" cy="681990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727710" y="2185035"/>
                <a:ext cx="46463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dirty="0">
                    <a:solidFill>
                      <a:srgbClr val="C9A96E"/>
                    </a:solidFill>
                    <a:latin typeface="Georgia"/>
                    <a:ea typeface="Georgia"/>
                    <a:cs typeface="Georgia"/>
                  </a:rPr>
                  <a:t>02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885950" y="22193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市场分析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891665" y="25536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8BB8"/>
                    </a:solidFill>
                    <a:latin typeface="Arial"/>
                    <a:ea typeface="Microsoft YaHei"/>
                    <a:cs typeface="Arial"/>
                  </a:rPr>
                  <a:t>行业趋势、竞争格局、市场机会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762000" y="285750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4762">
                <a:solidFill>
                  <a:srgbClr val="C9A96E">
                    <a:alpha val="30000"/>
                  </a:srgbClr>
                </a:solidFill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727710" y="3137535"/>
              <a:ext cx="5939790" cy="681990"/>
              <a:chOff x="727710" y="3137535"/>
              <a:chExt cx="5939790" cy="681990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727710" y="3137535"/>
                <a:ext cx="46463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dirty="0">
                    <a:solidFill>
                      <a:srgbClr val="C9A96E"/>
                    </a:solidFill>
                    <a:latin typeface="Georgia"/>
                    <a:ea typeface="Georgia"/>
                    <a:cs typeface="Georgia"/>
                  </a:rPr>
                  <a:t>03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885950" y="31718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战略框架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891665" y="35061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8BB8"/>
                    </a:solidFill>
                    <a:latin typeface="Arial"/>
                    <a:ea typeface="Microsoft YaHei"/>
                    <a:cs typeface="Arial"/>
                  </a:rPr>
                  <a:t>战略方向、核心能力、资源配置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762000" y="381000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4762">
                <a:solidFill>
                  <a:srgbClr val="C9A96E">
                    <a:alpha val="30000"/>
                  </a:srgbClr>
                </a:solidFill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727710" y="4090035"/>
              <a:ext cx="5939790" cy="681990"/>
              <a:chOff x="727710" y="4090035"/>
              <a:chExt cx="5939790" cy="681990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727710" y="4090035"/>
                <a:ext cx="46463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dirty="0">
                    <a:solidFill>
                      <a:srgbClr val="C9A96E"/>
                    </a:solidFill>
                    <a:latin typeface="Georgia"/>
                    <a:ea typeface="Georgia"/>
                    <a:cs typeface="Georgia"/>
                  </a:rPr>
                  <a:t>04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885950" y="41243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实施路径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891665" y="4458652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8BB8"/>
                    </a:solidFill>
                    <a:latin typeface="Arial"/>
                    <a:ea typeface="Microsoft YaHei"/>
                    <a:cs typeface="Arial"/>
                  </a:rPr>
                  <a:t>阶段规划、里程碑、资源配置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762000" y="4762500"/>
                <a:ext cx="5905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9525">
                    <a:moveTo>
                      <a:pt x="0" y="0"/>
                    </a:moveTo>
                    <a:lnTo>
                      <a:pt x="5905500" y="0"/>
                    </a:lnTo>
                  </a:path>
                </a:pathLst>
              </a:custGeom>
              <a:noFill/>
              <a:ln w="4762">
                <a:solidFill>
                  <a:srgbClr val="C9A96E">
                    <a:alpha val="30000"/>
                  </a:srgbClr>
                </a:solidFill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727710" y="5042535"/>
              <a:ext cx="3290887" cy="581977"/>
              <a:chOff x="727710" y="5042535"/>
              <a:chExt cx="3290887" cy="581977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727710" y="5042535"/>
                <a:ext cx="46463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dirty="0">
                    <a:solidFill>
                      <a:srgbClr val="C9A96E"/>
                    </a:solidFill>
                    <a:latin typeface="Georgia"/>
                    <a:ea typeface="Georgia"/>
                    <a:cs typeface="Georgia"/>
                  </a:rPr>
                  <a:t>05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885950" y="507682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财务预测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891665" y="5411152"/>
                <a:ext cx="2126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8BB8"/>
                    </a:solidFill>
                    <a:latin typeface="Arial"/>
                    <a:ea typeface="Microsoft YaHei"/>
                    <a:cs typeface="Arial"/>
                  </a:rPr>
                  <a:t>投资回报、风险评估、敏感性分析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7620000" y="1143000"/>
            <a:ext cx="3810000" cy="4762500"/>
            <a:chOff x="7620000" y="1143000"/>
            <a:chExt cx="3810000" cy="4762500"/>
          </a:xfrm>
        </p:grpSpPr>
        <p:sp>
          <p:nvSpPr>
            <p:cNvPr id="34" name="Rectangle 34"/>
            <p:cNvSpPr/>
            <p:nvPr/>
          </p:nvSpPr>
          <p:spPr>
            <a:xfrm>
              <a:off x="7620000" y="1143000"/>
              <a:ext cx="3810000" cy="4762500"/>
            </a:xfrm>
            <a:prstGeom prst="rect">
              <a:avLst/>
            </a:prstGeom>
            <a:solidFill>
              <a:srgbClr val="C9A96E">
                <a:alpha val="5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750618" y="1885950"/>
              <a:ext cx="1548765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0" dirty="0">
                  <a:solidFill>
                    <a:srgbClr val="C9A96E">
                      <a:alphaMod val="10000"/>
                    </a:srgbClr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93708" y="3489960"/>
              <a:ext cx="8625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A0B4D0"/>
                  </a:solidFill>
                  <a:latin typeface="Arial"/>
                  <a:ea typeface="Arial"/>
                  <a:cs typeface="Arial"/>
                </a:rPr>
                <a:t>5 SECTIONS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8096250" y="38100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4762">
              <a:solidFill>
                <a:srgbClr val="C9A96E">
                  <a:alpha val="30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259634" y="4077652"/>
              <a:ext cx="5307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6B8BB8"/>
                  </a:solidFill>
                  <a:latin typeface="Arial"/>
                  <a:ea typeface="Arial"/>
                  <a:cs typeface="Arial"/>
                </a:rPr>
                <a:t>8 PAGES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0" name="TextBox 40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6B8BB8"/>
                  </a:solidFill>
                  <a:latin typeface="Georgia"/>
                  <a:ea typeface="Georgia"/>
                  <a:cs typeface="Georgia"/>
                </a:rPr>
                <a:t>02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6B8BB8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1B2A4A"/>
                </a:gs>
                <a:gs pos="100000">
                  <a:srgbClr val="0F1A2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C9A96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19900"/>
              <a:ext cx="12192000" cy="38100"/>
            </a:xfrm>
            <a:prstGeom prst="rect">
              <a:avLst/>
            </a:prstGeom>
            <a:solidFill>
              <a:srgbClr val="C9A96E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74345"/>
            <a:ext cx="2129790" cy="735330"/>
            <a:chOff x="727710" y="474345"/>
            <a:chExt cx="2129790" cy="735330"/>
          </a:xfrm>
        </p:grpSpPr>
        <p:sp>
          <p:nvSpPr>
            <p:cNvPr id="6" name="TextBox 6"/>
            <p:cNvSpPr txBox="1"/>
            <p:nvPr/>
          </p:nvSpPr>
          <p:spPr>
            <a:xfrm>
              <a:off x="750570" y="474345"/>
              <a:ext cx="11329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9A96E"/>
                  </a:solidFill>
                  <a:latin typeface="Georgia"/>
                  <a:ea typeface="Georgia"/>
                  <a:cs typeface="Georgia"/>
                </a:rPr>
                <a:t>EXECUTIVE SUMMARY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7710" y="661035"/>
              <a:ext cx="15087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执行摘要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1095375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rgbClr val="C9A96E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762000" y="1428750"/>
            <a:ext cx="5334000" cy="1905000"/>
            <a:chOff x="762000" y="1428750"/>
            <a:chExt cx="5334000" cy="1905000"/>
          </a:xfrm>
        </p:grpSpPr>
        <p:sp>
          <p:nvSpPr>
            <p:cNvPr id="10" name="Rectangle 10"/>
            <p:cNvSpPr/>
            <p:nvPr/>
          </p:nvSpPr>
          <p:spPr>
            <a:xfrm>
              <a:off x="762000" y="1428750"/>
              <a:ext cx="5334000" cy="1905000"/>
            </a:xfrm>
            <a:prstGeom prst="rect">
              <a:avLst/>
            </a:prstGeom>
            <a:solidFill>
              <a:srgbClr val="C9A96E">
                <a:alpha val="10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5355" y="16640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核心发现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52500" y="1905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C9A96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165" y="2077402"/>
              <a:ext cx="15668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市场规模预计增长 25%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9165" y="2363152"/>
              <a:ext cx="1685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数字化转型是核心驱动力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9165" y="264890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客户需求向个性化转变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9165" y="293465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竞争格局正在重塑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1428750"/>
            <a:ext cx="5143500" cy="1905000"/>
            <a:chOff x="6286500" y="1428750"/>
            <a:chExt cx="5143500" cy="1905000"/>
          </a:xfrm>
        </p:grpSpPr>
        <p:sp>
          <p:nvSpPr>
            <p:cNvPr id="18" name="Rectangle 18"/>
            <p:cNvSpPr/>
            <p:nvPr/>
          </p:nvSpPr>
          <p:spPr>
            <a:xfrm>
              <a:off x="6286500" y="1428750"/>
              <a:ext cx="5143500" cy="1905000"/>
            </a:xfrm>
            <a:prstGeom prst="rect">
              <a:avLst/>
            </a:prstGeom>
            <a:solidFill>
              <a:srgbClr val="C9A96E">
                <a:alpha val="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59855" y="16640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关键建议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477000" y="1905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C9A96E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63665" y="207740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加速数字化转型投入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3665" y="2363152"/>
              <a:ext cx="1685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构建数据驱动的决策体系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3665" y="2648902"/>
              <a:ext cx="1685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优化组织架构与人才战略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3665" y="293465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建立战略合作生态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3619500"/>
            <a:ext cx="10668000" cy="1143000"/>
            <a:chOff x="762000" y="3619500"/>
            <a:chExt cx="10668000" cy="1143000"/>
          </a:xfrm>
        </p:grpSpPr>
        <p:sp>
          <p:nvSpPr>
            <p:cNvPr id="26" name="Rectangle 26"/>
            <p:cNvSpPr/>
            <p:nvPr/>
          </p:nvSpPr>
          <p:spPr>
            <a:xfrm>
              <a:off x="762000" y="3619500"/>
              <a:ext cx="10668000" cy="1143000"/>
            </a:xfrm>
            <a:prstGeom prst="rect">
              <a:avLst/>
            </a:prstGeom>
            <a:solidFill>
              <a:srgbClr val="C9A96E">
                <a:alpha val="8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5355" y="38547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预期成果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952500" y="40957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C9A96E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39165" y="4268152"/>
              <a:ext cx="40801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3 年内收入增长 40% | 运营效率提升 30% | 客户满意度达到 95%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2000" y="5048250"/>
            <a:ext cx="10668000" cy="952500"/>
            <a:chOff x="762000" y="5048250"/>
            <a:chExt cx="10668000" cy="952500"/>
          </a:xfrm>
        </p:grpSpPr>
        <p:sp>
          <p:nvSpPr>
            <p:cNvPr id="31" name="Rectangle 31"/>
            <p:cNvSpPr/>
            <p:nvPr/>
          </p:nvSpPr>
          <p:spPr>
            <a:xfrm>
              <a:off x="762000" y="5048250"/>
              <a:ext cx="3429000" cy="952500"/>
            </a:xfrm>
            <a:prstGeom prst="rect">
              <a:avLst/>
            </a:prstGeom>
            <a:solidFill>
              <a:srgbClr val="C9A96E">
                <a:alpha val="15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010156" y="5137785"/>
              <a:ext cx="93268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$50M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43112" y="56016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0B4D0"/>
                  </a:solidFill>
                  <a:latin typeface="Arial"/>
                  <a:ea typeface="Microsoft YaHei"/>
                  <a:cs typeface="Arial"/>
                </a:rPr>
                <a:t>预计投资规模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381500" y="5048250"/>
              <a:ext cx="3429000" cy="952500"/>
            </a:xfrm>
            <a:prstGeom prst="rect">
              <a:avLst/>
            </a:prstGeom>
            <a:solidFill>
              <a:srgbClr val="C9A96E">
                <a:alpha val="1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449634" y="5137785"/>
              <a:ext cx="129273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18 个月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02630" y="56016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0B4D0"/>
                  </a:solidFill>
                  <a:latin typeface="Arial"/>
                  <a:ea typeface="Microsoft YaHei"/>
                  <a:cs typeface="Arial"/>
                </a:rPr>
                <a:t>实施周期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001000" y="5048250"/>
              <a:ext cx="3429000" cy="952500"/>
            </a:xfrm>
            <a:prstGeom prst="rect">
              <a:avLst/>
            </a:prstGeom>
            <a:solidFill>
              <a:srgbClr val="C9A96E">
                <a:alpha val="5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285160" y="5137785"/>
              <a:ext cx="86067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3.5x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52121" y="56016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0B4D0"/>
                  </a:solidFill>
                  <a:latin typeface="Arial"/>
                  <a:ea typeface="Microsoft YaHei"/>
                  <a:cs typeface="Arial"/>
                </a:rPr>
                <a:t>投资回报率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1" name="TextBox 41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6B8BB8"/>
                  </a:solidFill>
                  <a:latin typeface="Georgia"/>
                  <a:ea typeface="Georgia"/>
                  <a:cs typeface="Georgia"/>
                </a:rPr>
                <a:t>03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6B8BB8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5" grpId="0"/>
      <p:bldP spid="30" grpId="0"/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1B2A4A"/>
                </a:gs>
                <a:gs pos="100000">
                  <a:srgbClr val="0F1A2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C9A96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19900"/>
              <a:ext cx="12192000" cy="38100"/>
            </a:xfrm>
            <a:prstGeom prst="rect">
              <a:avLst/>
            </a:prstGeom>
            <a:solidFill>
              <a:srgbClr val="C9A96E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74345"/>
            <a:ext cx="1939290" cy="735330"/>
            <a:chOff x="727710" y="474345"/>
            <a:chExt cx="1939290" cy="735330"/>
          </a:xfrm>
        </p:grpSpPr>
        <p:sp>
          <p:nvSpPr>
            <p:cNvPr id="6" name="TextBox 6"/>
            <p:cNvSpPr txBox="1"/>
            <p:nvPr/>
          </p:nvSpPr>
          <p:spPr>
            <a:xfrm>
              <a:off x="750570" y="474345"/>
              <a:ext cx="9769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9A96E"/>
                  </a:solidFill>
                  <a:latin typeface="Georgia"/>
                  <a:ea typeface="Georgia"/>
                  <a:cs typeface="Georgia"/>
                </a:rPr>
                <a:t>MARKET ANALYSIS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7710" y="661035"/>
              <a:ext cx="15087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市场分析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109537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C9A96E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62000" y="1428750"/>
            <a:ext cx="3429000" cy="1905000"/>
            <a:chOff x="762000" y="1428750"/>
            <a:chExt cx="3429000" cy="1905000"/>
          </a:xfrm>
        </p:grpSpPr>
        <p:sp>
          <p:nvSpPr>
            <p:cNvPr id="10" name="Rectangle 10"/>
            <p:cNvSpPr/>
            <p:nvPr/>
          </p:nvSpPr>
          <p:spPr>
            <a:xfrm>
              <a:off x="762000" y="1428750"/>
              <a:ext cx="3429000" cy="1905000"/>
            </a:xfrm>
            <a:prstGeom prst="rect">
              <a:avLst/>
            </a:prstGeom>
            <a:solidFill>
              <a:srgbClr val="C9A96E">
                <a:alpha val="10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5355" y="16640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市场规模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70697" y="2087880"/>
              <a:ext cx="141160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$500B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98082" y="2648902"/>
              <a:ext cx="13568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0B4D0"/>
                  </a:solidFill>
                  <a:latin typeface="Arial"/>
                  <a:ea typeface="Microsoft YaHei"/>
                  <a:cs typeface="Arial"/>
                </a:rPr>
                <a:t>2026 年预计市场规模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37624" y="2934652"/>
              <a:ext cx="6777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9A96E"/>
                  </a:solidFill>
                  <a:latin typeface="Arial"/>
                  <a:ea typeface="Arial"/>
                  <a:cs typeface="Arial"/>
                </a:rPr>
                <a:t>↑ 25% YoY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81500" y="1428750"/>
            <a:ext cx="3429000" cy="1905000"/>
            <a:chOff x="4381500" y="1428750"/>
            <a:chExt cx="3429000" cy="1905000"/>
          </a:xfrm>
        </p:grpSpPr>
        <p:sp>
          <p:nvSpPr>
            <p:cNvPr id="16" name="Rectangle 16"/>
            <p:cNvSpPr/>
            <p:nvPr/>
          </p:nvSpPr>
          <p:spPr>
            <a:xfrm>
              <a:off x="4381500" y="1428750"/>
              <a:ext cx="3429000" cy="1905000"/>
            </a:xfrm>
            <a:prstGeom prst="rect">
              <a:avLst/>
            </a:prstGeom>
            <a:solidFill>
              <a:srgbClr val="C9A96E">
                <a:alpha val="5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54855" y="16640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增长趋势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762500" y="2095500"/>
              <a:ext cx="381000" cy="762000"/>
            </a:xfrm>
            <a:prstGeom prst="rect">
              <a:avLst/>
            </a:prstGeom>
            <a:solidFill>
              <a:srgbClr val="C9A96E">
                <a:alpha val="30000"/>
              </a:srgbClr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0" y="2286000"/>
              <a:ext cx="381000" cy="571500"/>
            </a:xfrm>
            <a:prstGeom prst="rect">
              <a:avLst/>
            </a:prstGeom>
            <a:solidFill>
              <a:srgbClr val="C9A96E">
                <a:alpha val="40000"/>
              </a:srgbClr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905500" y="2190750"/>
              <a:ext cx="381000" cy="666750"/>
            </a:xfrm>
            <a:prstGeom prst="rect">
              <a:avLst/>
            </a:prstGeom>
            <a:solidFill>
              <a:srgbClr val="C9A96E">
                <a:alpha val="50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77000" y="2000250"/>
              <a:ext cx="381000" cy="857250"/>
            </a:xfrm>
            <a:prstGeom prst="rect">
              <a:avLst/>
            </a:prstGeom>
            <a:solidFill>
              <a:srgbClr val="C9A96E">
                <a:alpha val="60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048500" y="1809750"/>
              <a:ext cx="381000" cy="1047750"/>
            </a:xfrm>
            <a:prstGeom prst="rect">
              <a:avLst/>
            </a:prstGeom>
            <a:solidFill>
              <a:srgbClr val="C9A96E">
                <a:alpha val="8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475494" y="3046095"/>
              <a:ext cx="12410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A0B4D0"/>
                  </a:solidFill>
                  <a:latin typeface="Arial"/>
                  <a:ea typeface="Arial"/>
                  <a:cs typeface="Arial"/>
                </a:rPr>
                <a:t>2022-2026 CAGR: 25%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001000" y="1428750"/>
            <a:ext cx="3429000" cy="1905000"/>
            <a:chOff x="8001000" y="1428750"/>
            <a:chExt cx="3429000" cy="1905000"/>
          </a:xfrm>
        </p:grpSpPr>
        <p:sp>
          <p:nvSpPr>
            <p:cNvPr id="25" name="Rectangle 25"/>
            <p:cNvSpPr/>
            <p:nvPr/>
          </p:nvSpPr>
          <p:spPr>
            <a:xfrm>
              <a:off x="8001000" y="1428750"/>
              <a:ext cx="3429000" cy="1905000"/>
            </a:xfrm>
            <a:prstGeom prst="rect">
              <a:avLst/>
            </a:prstGeom>
            <a:solidFill>
              <a:srgbClr val="C9A96E">
                <a:alpha val="8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74355" y="16640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竞争格局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9144000" y="2000250"/>
              <a:ext cx="1143000" cy="1143000"/>
            </a:xfrm>
            <a:prstGeom prst="ellipse">
              <a:avLst/>
            </a:prstGeom>
            <a:noFill/>
            <a:ln w="9525">
              <a:solidFill>
                <a:srgbClr val="C9A96E">
                  <a:alpha val="30000"/>
                </a:srgbClr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334500" y="2190750"/>
              <a:ext cx="762000" cy="762000"/>
            </a:xfrm>
            <a:prstGeom prst="ellipse">
              <a:avLst/>
            </a:prstGeom>
            <a:noFill/>
            <a:ln w="9525">
              <a:solidFill>
                <a:srgbClr val="C9A96E">
                  <a:alpha val="50000"/>
                </a:srgbClr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9525000" y="2381250"/>
              <a:ext cx="381000" cy="381000"/>
            </a:xfrm>
            <a:prstGeom prst="ellipse">
              <a:avLst/>
            </a:prstGeom>
            <a:solidFill>
              <a:srgbClr val="C9A96E">
                <a:alpha val="8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93019" y="3141345"/>
              <a:ext cx="844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0B4D0"/>
                  </a:solidFill>
                  <a:latin typeface="Arial"/>
                  <a:ea typeface="Microsoft YaHei"/>
                  <a:cs typeface="Arial"/>
                </a:rPr>
                <a:t>市场集中度: 高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3619500"/>
            <a:ext cx="10668000" cy="1433512"/>
            <a:chOff x="762000" y="3619500"/>
            <a:chExt cx="10668000" cy="1433512"/>
          </a:xfrm>
        </p:grpSpPr>
        <p:sp>
          <p:nvSpPr>
            <p:cNvPr id="32" name="Rectangle 32"/>
            <p:cNvSpPr/>
            <p:nvPr/>
          </p:nvSpPr>
          <p:spPr>
            <a:xfrm>
              <a:off x="762000" y="3619500"/>
              <a:ext cx="10668000" cy="1428750"/>
            </a:xfrm>
            <a:prstGeom prst="rect">
              <a:avLst/>
            </a:prstGeom>
            <a:solidFill>
              <a:srgbClr val="C9A96E">
                <a:alpha val="5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5355" y="385476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市场驱动因素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52500" y="40957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C9A96E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39165" y="4268152"/>
              <a:ext cx="26099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数字化转型加速：企业 IT 支出增长 30%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9165" y="4553902"/>
              <a:ext cx="27710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AI 技术普及：生成式 AI 采用率提升至 60%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9165" y="4839652"/>
              <a:ext cx="23789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可持续发展：ESG 合规要求日益严格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39" name="TextBox 39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6B8BB8"/>
                  </a:solidFill>
                  <a:latin typeface="Georgia"/>
                  <a:ea typeface="Georgia"/>
                  <a:cs typeface="Georgia"/>
                </a:rPr>
                <a:t>04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6B8BB8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31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1B2A4A"/>
                </a:gs>
                <a:gs pos="100000">
                  <a:srgbClr val="0F1A2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C9A96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19900"/>
              <a:ext cx="12192000" cy="38100"/>
            </a:xfrm>
            <a:prstGeom prst="rect">
              <a:avLst/>
            </a:prstGeom>
            <a:solidFill>
              <a:srgbClr val="C9A96E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74345"/>
            <a:ext cx="2129790" cy="735330"/>
            <a:chOff x="727710" y="474345"/>
            <a:chExt cx="2129790" cy="735330"/>
          </a:xfrm>
        </p:grpSpPr>
        <p:sp>
          <p:nvSpPr>
            <p:cNvPr id="6" name="TextBox 6"/>
            <p:cNvSpPr txBox="1"/>
            <p:nvPr/>
          </p:nvSpPr>
          <p:spPr>
            <a:xfrm>
              <a:off x="750570" y="474345"/>
              <a:ext cx="12890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9A96E"/>
                  </a:solidFill>
                  <a:latin typeface="Georgia"/>
                  <a:ea typeface="Georgia"/>
                  <a:cs typeface="Georgia"/>
                </a:rPr>
                <a:t>STRATEGIC FRAMEWORK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7710" y="661035"/>
              <a:ext cx="15087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战略框架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1095375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solidFill>
                <a:srgbClr val="C9A96E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143000" y="1428750"/>
            <a:ext cx="10287000" cy="2381250"/>
            <a:chOff x="1143000" y="1428750"/>
            <a:chExt cx="10287000" cy="2381250"/>
          </a:xfrm>
        </p:grpSpPr>
        <p:grpSp>
          <p:nvGrpSpPr>
            <p:cNvPr id="12" name="Group 12"/>
            <p:cNvGrpSpPr/>
            <p:nvPr/>
          </p:nvGrpSpPr>
          <p:grpSpPr>
            <a:xfrm>
              <a:off x="4191000" y="1428750"/>
              <a:ext cx="3810000" cy="762000"/>
              <a:chOff x="4191000" y="1428750"/>
              <a:chExt cx="3810000" cy="762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4191000" y="1428750"/>
                <a:ext cx="3810000" cy="762000"/>
              </a:xfrm>
              <a:prstGeom prst="rect">
                <a:avLst/>
              </a:prstGeom>
              <a:solidFill>
                <a:srgbClr val="C9A96E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5473065" y="1710690"/>
                <a:ext cx="124587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愿景与使命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143000" y="2667000"/>
              <a:ext cx="10287000" cy="1143000"/>
              <a:chOff x="1143000" y="2667000"/>
              <a:chExt cx="10287000" cy="1143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143000" y="2667000"/>
                <a:ext cx="2286000" cy="1143000"/>
              </a:xfrm>
              <a:prstGeom prst="rect">
                <a:avLst/>
              </a:prstGeom>
              <a:solidFill>
                <a:srgbClr val="C9A96E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818799" y="2997518"/>
                <a:ext cx="9344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数字化转型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883569" y="332374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A0B4D0"/>
                    </a:solidFill>
                    <a:latin typeface="Arial"/>
                    <a:ea typeface="Microsoft YaHei"/>
                    <a:cs typeface="Arial"/>
                  </a:rPr>
                  <a:t>技术驱动创新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3810000" y="2667000"/>
                <a:ext cx="2286000" cy="1143000"/>
              </a:xfrm>
              <a:prstGeom prst="rect">
                <a:avLst/>
              </a:prstGeom>
              <a:solidFill>
                <a:srgbClr val="C9A96E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575810" y="299751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客户体验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550569" y="332374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A0B4D0"/>
                    </a:solidFill>
                    <a:latin typeface="Arial"/>
                    <a:ea typeface="Microsoft YaHei"/>
                    <a:cs typeface="Arial"/>
                  </a:rPr>
                  <a:t>以客户为中心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6477000" y="2667000"/>
                <a:ext cx="2286000" cy="1143000"/>
              </a:xfrm>
              <a:prstGeom prst="rect">
                <a:avLst/>
              </a:prstGeom>
              <a:solidFill>
                <a:srgbClr val="C9A96E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242810" y="299751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运营卓越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152561" y="332374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A0B4D0"/>
                    </a:solidFill>
                    <a:latin typeface="Arial"/>
                    <a:ea typeface="Microsoft YaHei"/>
                    <a:cs typeface="Arial"/>
                  </a:rPr>
                  <a:t>效率与质量并重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9144000" y="2667000"/>
                <a:ext cx="2286000" cy="1143000"/>
              </a:xfrm>
              <a:prstGeom prst="rect">
                <a:avLst/>
              </a:prstGeom>
              <a:solidFill>
                <a:srgbClr val="C9A96E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909810" y="299751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人才发展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884569" y="332374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A0B4D0"/>
                    </a:solidFill>
                    <a:latin typeface="Arial"/>
                    <a:ea typeface="Microsoft YaHei"/>
                    <a:cs typeface="Arial"/>
                  </a:rPr>
                  <a:t>构建核心团队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2286000" y="2190750"/>
              <a:ext cx="8001000" cy="476250"/>
              <a:chOff x="2286000" y="2190750"/>
              <a:chExt cx="8001000" cy="476250"/>
            </a:xfrm>
          </p:grpSpPr>
          <p:sp>
            <p:nvSpPr>
              <p:cNvPr id="26" name="Line 26"/>
              <p:cNvSpPr/>
              <p:nvPr/>
            </p:nvSpPr>
            <p:spPr>
              <a:xfrm>
                <a:off x="2286000" y="2190750"/>
                <a:ext cx="3810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476250">
                    <a:moveTo>
                      <a:pt x="3810000" y="0"/>
                    </a:moveTo>
                    <a:lnTo>
                      <a:pt x="0" y="476250"/>
                    </a:lnTo>
                  </a:path>
                </a:pathLst>
              </a:custGeom>
              <a:noFill/>
              <a:ln w="9525">
                <a:solidFill>
                  <a:srgbClr val="C9A96E">
                    <a:alpha val="50000"/>
                  </a:srgbClr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4953000" y="2190750"/>
                <a:ext cx="1143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476250">
                    <a:moveTo>
                      <a:pt x="1143000" y="0"/>
                    </a:moveTo>
                    <a:lnTo>
                      <a:pt x="0" y="476250"/>
                    </a:lnTo>
                  </a:path>
                </a:pathLst>
              </a:custGeom>
              <a:noFill/>
              <a:ln w="9525">
                <a:solidFill>
                  <a:srgbClr val="C9A96E">
                    <a:alpha val="50000"/>
                  </a:srgbClr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6096000" y="2190750"/>
                <a:ext cx="1524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476250">
                    <a:moveTo>
                      <a:pt x="0" y="0"/>
                    </a:moveTo>
                    <a:lnTo>
                      <a:pt x="1524000" y="476250"/>
                    </a:lnTo>
                  </a:path>
                </a:pathLst>
              </a:custGeom>
              <a:noFill/>
              <a:ln w="9525">
                <a:solidFill>
                  <a:srgbClr val="C9A96E">
                    <a:alpha val="50000"/>
                  </a:srgbClr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6096000" y="2190750"/>
                <a:ext cx="4191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476250">
                    <a:moveTo>
                      <a:pt x="0" y="0"/>
                    </a:moveTo>
                    <a:lnTo>
                      <a:pt x="4191000" y="476250"/>
                    </a:lnTo>
                  </a:path>
                </a:pathLst>
              </a:custGeom>
              <a:noFill/>
              <a:ln w="9525">
                <a:solidFill>
                  <a:srgbClr val="C9A96E">
                    <a:alpha val="50000"/>
                  </a:srgbClr>
                </a:solidFill>
              </a:ln>
            </p:spPr>
          </p:sp>
        </p:grpSp>
      </p:grpSp>
      <p:grpSp>
        <p:nvGrpSpPr>
          <p:cNvPr id="38" name="Group 38"/>
          <p:cNvGrpSpPr/>
          <p:nvPr/>
        </p:nvGrpSpPr>
        <p:grpSpPr>
          <a:xfrm>
            <a:off x="762000" y="4191000"/>
            <a:ext cx="10668000" cy="1433512"/>
            <a:chOff x="762000" y="4191000"/>
            <a:chExt cx="10668000" cy="1433512"/>
          </a:xfrm>
        </p:grpSpPr>
        <p:sp>
          <p:nvSpPr>
            <p:cNvPr id="32" name="Rectangle 32"/>
            <p:cNvSpPr/>
            <p:nvPr/>
          </p:nvSpPr>
          <p:spPr>
            <a:xfrm>
              <a:off x="762000" y="4191000"/>
              <a:ext cx="10668000" cy="1428750"/>
            </a:xfrm>
            <a:prstGeom prst="rect">
              <a:avLst/>
            </a:prstGeom>
            <a:solidFill>
              <a:srgbClr val="C9A96E">
                <a:alpha val="5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5355" y="442626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核心能力建设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52500" y="46672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C9A96E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39165" y="4839652"/>
              <a:ext cx="23859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数据分析能力：建立企业级数据平台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9165" y="5125402"/>
              <a:ext cx="24699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AI 应用能力：构建 AI 中台，赋能业务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9165" y="5411152"/>
              <a:ext cx="29460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敏捷组织能力：打造扁平化、快速响应的组织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39" name="TextBox 39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6B8BB8"/>
                  </a:solidFill>
                  <a:latin typeface="Georgia"/>
                  <a:ea typeface="Georgia"/>
                  <a:cs typeface="Georgia"/>
                </a:rPr>
                <a:t>05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6B8BB8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1B2A4A"/>
                </a:gs>
                <a:gs pos="100000">
                  <a:srgbClr val="0F1A2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C9A96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19900"/>
              <a:ext cx="12192000" cy="38100"/>
            </a:xfrm>
            <a:prstGeom prst="rect">
              <a:avLst/>
            </a:prstGeom>
            <a:solidFill>
              <a:srgbClr val="C9A96E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74345"/>
            <a:ext cx="1653540" cy="735330"/>
            <a:chOff x="727710" y="474345"/>
            <a:chExt cx="1653540" cy="735330"/>
          </a:xfrm>
        </p:grpSpPr>
        <p:sp>
          <p:nvSpPr>
            <p:cNvPr id="6" name="TextBox 6"/>
            <p:cNvSpPr txBox="1"/>
            <p:nvPr/>
          </p:nvSpPr>
          <p:spPr>
            <a:xfrm>
              <a:off x="750570" y="474345"/>
              <a:ext cx="9589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9A96E"/>
                  </a:solidFill>
                  <a:latin typeface="Georgia"/>
                  <a:ea typeface="Georgia"/>
                  <a:cs typeface="Georgia"/>
                </a:rPr>
                <a:t>IMPLEMENTATION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7710" y="661035"/>
              <a:ext cx="15087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实施路径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1095375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19050">
              <a:solidFill>
                <a:srgbClr val="C9A96E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62000" y="1428750"/>
            <a:ext cx="10668000" cy="1905000"/>
            <a:chOff x="762000" y="1428750"/>
            <a:chExt cx="10668000" cy="1905000"/>
          </a:xfrm>
        </p:grpSpPr>
        <p:grpSp>
          <p:nvGrpSpPr>
            <p:cNvPr id="17" name="Group 17"/>
            <p:cNvGrpSpPr/>
            <p:nvPr/>
          </p:nvGrpSpPr>
          <p:grpSpPr>
            <a:xfrm>
              <a:off x="762000" y="1428750"/>
              <a:ext cx="2667000" cy="1905000"/>
              <a:chOff x="762000" y="1428750"/>
              <a:chExt cx="2667000" cy="1905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762000" y="1428750"/>
                <a:ext cx="2667000" cy="1905000"/>
              </a:xfrm>
              <a:prstGeom prst="rect">
                <a:avLst/>
              </a:prstGeom>
              <a:solidFill>
                <a:srgbClr val="C9A96E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718310" y="166401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C9A96E"/>
                    </a:solidFill>
                    <a:latin typeface="Georgia"/>
                    <a:ea typeface="SimSun"/>
                    <a:cs typeface="Georgia"/>
                  </a:rPr>
                  <a:t>第一阶段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598581" y="1901190"/>
                <a:ext cx="99383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0-6 个月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823085" y="22759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A0B4D0"/>
                    </a:solidFill>
                    <a:latin typeface="Arial"/>
                    <a:ea typeface="Microsoft YaHei"/>
                    <a:cs typeface="Arial"/>
                  </a:rPr>
                  <a:t>基础建设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41070" y="2569845"/>
                <a:ext cx="8449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• 数据平台搭建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1070" y="2760345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• 团队组建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41070" y="2950845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• 流程优化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3619500" y="1428750"/>
              <a:ext cx="2667000" cy="1905000"/>
              <a:chOff x="3619500" y="1428750"/>
              <a:chExt cx="2667000" cy="19050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3619500" y="1428750"/>
                <a:ext cx="2667000" cy="1905000"/>
              </a:xfrm>
              <a:prstGeom prst="rect">
                <a:avLst/>
              </a:prstGeom>
              <a:solidFill>
                <a:srgbClr val="C9A96E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575810" y="166401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C9A96E"/>
                    </a:solidFill>
                    <a:latin typeface="Georgia"/>
                    <a:ea typeface="SimSun"/>
                    <a:cs typeface="Georgia"/>
                  </a:rPr>
                  <a:t>第二阶段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390072" y="1901190"/>
                <a:ext cx="112585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6-12 个月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680585" y="22759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A0B4D0"/>
                    </a:solidFill>
                    <a:latin typeface="Arial"/>
                    <a:ea typeface="Microsoft YaHei"/>
                    <a:cs typeface="Arial"/>
                  </a:rPr>
                  <a:t>能力建设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798570" y="256984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• AI 应用开发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798570" y="2760345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• 产品迭代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798570" y="2950845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• 市场拓展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477000" y="1428750"/>
              <a:ext cx="2667000" cy="1905000"/>
              <a:chOff x="6477000" y="1428750"/>
              <a:chExt cx="2667000" cy="19050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6477000" y="1428750"/>
                <a:ext cx="2667000" cy="1905000"/>
              </a:xfrm>
              <a:prstGeom prst="rect">
                <a:avLst/>
              </a:prstGeom>
              <a:solidFill>
                <a:srgbClr val="C9A96E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433310" y="1664018"/>
                <a:ext cx="75438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C9A96E"/>
                    </a:solidFill>
                    <a:latin typeface="Georgia"/>
                    <a:ea typeface="SimSun"/>
                    <a:cs typeface="Georgia"/>
                  </a:rPr>
                  <a:t>第三阶段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181564" y="1901190"/>
                <a:ext cx="125787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Georgia"/>
                    <a:ea typeface="SimSun"/>
                    <a:cs typeface="Georgia"/>
                  </a:rPr>
                  <a:t>12-18 个月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538085" y="22759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A0B4D0"/>
                    </a:solidFill>
                    <a:latin typeface="Arial"/>
                    <a:ea typeface="Microsoft YaHei"/>
                    <a:cs typeface="Arial"/>
                  </a:rPr>
                  <a:t>规模扩展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656070" y="2569845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• 全面推广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656070" y="2760345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• 生态构建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656070" y="2950845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• 持续优化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9334500" y="1428750"/>
              <a:ext cx="2095500" cy="1905000"/>
              <a:chOff x="9334500" y="1428750"/>
              <a:chExt cx="2095500" cy="19050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9334500" y="1428750"/>
                <a:ext cx="2095500" cy="1905000"/>
              </a:xfrm>
              <a:prstGeom prst="rect">
                <a:avLst/>
              </a:prstGeom>
              <a:solidFill>
                <a:srgbClr val="C9A96E">
                  <a:alpha val="8000"/>
                </a:srgbClr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9915049" y="1664018"/>
                <a:ext cx="9344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C9A96E"/>
                    </a:solidFill>
                    <a:latin typeface="Georgia"/>
                    <a:ea typeface="SimSun"/>
                    <a:cs typeface="Georgia"/>
                  </a:rPr>
                  <a:t>关键里程碑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970068" y="1990249"/>
                <a:ext cx="82436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A0B4D0"/>
                    </a:solidFill>
                    <a:latin typeface="Arial"/>
                    <a:ea typeface="Microsoft YaHei"/>
                    <a:cs typeface="Arial"/>
                  </a:rPr>
                  <a:t>M3: 平台上线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875806" y="2275999"/>
                <a:ext cx="101288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A0B4D0"/>
                    </a:solidFill>
                    <a:latin typeface="Arial"/>
                    <a:ea typeface="Microsoft YaHei"/>
                    <a:cs typeface="Arial"/>
                  </a:rPr>
                  <a:t>M6: 首个 AI 应用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869305" y="2561749"/>
                <a:ext cx="10258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A0B4D0"/>
                    </a:solidFill>
                    <a:latin typeface="Arial"/>
                    <a:ea typeface="Microsoft YaHei"/>
                    <a:cs typeface="Arial"/>
                  </a:rPr>
                  <a:t>M12: 全面数字化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934313" y="2847499"/>
                <a:ext cx="8958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A0B4D0"/>
                    </a:solidFill>
                    <a:latin typeface="Arial"/>
                    <a:ea typeface="Microsoft YaHei"/>
                    <a:cs typeface="Arial"/>
                  </a:rPr>
                  <a:t>M18: 生态成熟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762000" y="3619500"/>
            <a:ext cx="10668000" cy="1433512"/>
            <a:chOff x="762000" y="3619500"/>
            <a:chExt cx="10668000" cy="1433512"/>
          </a:xfrm>
        </p:grpSpPr>
        <p:sp>
          <p:nvSpPr>
            <p:cNvPr id="42" name="Rectangle 42"/>
            <p:cNvSpPr/>
            <p:nvPr/>
          </p:nvSpPr>
          <p:spPr>
            <a:xfrm>
              <a:off x="762000" y="3619500"/>
              <a:ext cx="10668000" cy="1428750"/>
            </a:xfrm>
            <a:prstGeom prst="rect">
              <a:avLst/>
            </a:prstGeom>
            <a:solidFill>
              <a:srgbClr val="C9A96E">
                <a:alpha val="5000"/>
              </a:srgb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5355" y="38547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资源配置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952500" y="40957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C9A96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39165" y="4268152"/>
              <a:ext cx="20639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人力资源：组建 50 人专项团队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9165" y="4553902"/>
              <a:ext cx="20639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技术投入：$20M 技术基础设施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9165" y="483965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培训预算：$5M 人才发展计划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9" name="TextBox 49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6B8BB8"/>
                  </a:solidFill>
                  <a:latin typeface="Georgia"/>
                  <a:ea typeface="Georgia"/>
                  <a:cs typeface="Georgia"/>
                </a:rPr>
                <a:t>06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6B8BB8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1B2A4A"/>
                </a:gs>
                <a:gs pos="100000">
                  <a:srgbClr val="0F1A2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C9A96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19900"/>
              <a:ext cx="12192000" cy="38100"/>
            </a:xfrm>
            <a:prstGeom prst="rect">
              <a:avLst/>
            </a:prstGeom>
            <a:solidFill>
              <a:srgbClr val="C9A96E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74345"/>
            <a:ext cx="1939290" cy="735330"/>
            <a:chOff x="727710" y="474345"/>
            <a:chExt cx="1939290" cy="735330"/>
          </a:xfrm>
        </p:grpSpPr>
        <p:sp>
          <p:nvSpPr>
            <p:cNvPr id="6" name="TextBox 6"/>
            <p:cNvSpPr txBox="1"/>
            <p:nvPr/>
          </p:nvSpPr>
          <p:spPr>
            <a:xfrm>
              <a:off x="750570" y="474345"/>
              <a:ext cx="12710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9A96E"/>
                  </a:solidFill>
                  <a:latin typeface="Georgia"/>
                  <a:ea typeface="Georgia"/>
                  <a:cs typeface="Georgia"/>
                </a:rPr>
                <a:t>FINANCIAL PROJECTION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7710" y="661035"/>
              <a:ext cx="15087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财务预测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109537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C9A96E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762000" y="1428750"/>
            <a:ext cx="10668000" cy="1428750"/>
            <a:chOff x="762000" y="1428750"/>
            <a:chExt cx="10668000" cy="1428750"/>
          </a:xfrm>
        </p:grpSpPr>
        <p:sp>
          <p:nvSpPr>
            <p:cNvPr id="10" name="Rectangle 10"/>
            <p:cNvSpPr/>
            <p:nvPr/>
          </p:nvSpPr>
          <p:spPr>
            <a:xfrm>
              <a:off x="762000" y="1428750"/>
              <a:ext cx="2476500" cy="1428750"/>
            </a:xfrm>
            <a:prstGeom prst="rect">
              <a:avLst/>
            </a:prstGeom>
            <a:solidFill>
              <a:srgbClr val="C9A96E">
                <a:alpha val="15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34894" y="1613535"/>
              <a:ext cx="113071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$175M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77364" y="2077402"/>
              <a:ext cx="845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0B4D0"/>
                  </a:solidFill>
                  <a:latin typeface="Arial"/>
                  <a:ea typeface="Microsoft YaHei"/>
                  <a:cs typeface="Arial"/>
                </a:rPr>
                <a:t>3 年累计收入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36871" y="23631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9A96E"/>
                  </a:solidFill>
                  <a:latin typeface="Arial"/>
                  <a:ea typeface="Microsoft YaHei"/>
                  <a:cs typeface="Arial"/>
                </a:rPr>
                <a:t>↑ 40% 增长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29000" y="1428750"/>
              <a:ext cx="2476500" cy="1428750"/>
            </a:xfrm>
            <a:prstGeom prst="rect">
              <a:avLst/>
            </a:prstGeom>
            <a:solidFill>
              <a:srgbClr val="C9A96E">
                <a:alpha val="10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299918" y="1613535"/>
              <a:ext cx="73466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35%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43889" y="207740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0B4D0"/>
                  </a:solidFill>
                  <a:latin typeface="Arial"/>
                  <a:ea typeface="Microsoft YaHei"/>
                  <a:cs typeface="Arial"/>
                </a:rPr>
                <a:t>毛利率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73880" y="23631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9A96E"/>
                  </a:solidFill>
                  <a:latin typeface="Arial"/>
                  <a:ea typeface="Microsoft YaHei"/>
                  <a:cs typeface="Arial"/>
                </a:rPr>
                <a:t>持续优化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0" y="1428750"/>
              <a:ext cx="2476500" cy="1428750"/>
            </a:xfrm>
            <a:prstGeom prst="rect">
              <a:avLst/>
            </a:prstGeom>
            <a:solidFill>
              <a:srgbClr val="C9A96E">
                <a:alpha val="1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03910" y="1613535"/>
              <a:ext cx="86067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3.5x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70871" y="20774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0B4D0"/>
                  </a:solidFill>
                  <a:latin typeface="Arial"/>
                  <a:ea typeface="Microsoft YaHei"/>
                  <a:cs typeface="Arial"/>
                </a:rPr>
                <a:t>投资回报率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42868" y="2363152"/>
              <a:ext cx="7827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9A96E"/>
                  </a:solidFill>
                  <a:latin typeface="Arial"/>
                  <a:ea typeface="Microsoft YaHei"/>
                  <a:cs typeface="Arial"/>
                </a:rPr>
                <a:t>18 个月回收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763000" y="1428750"/>
              <a:ext cx="2667000" cy="1428750"/>
            </a:xfrm>
            <a:prstGeom prst="rect">
              <a:avLst/>
            </a:prstGeom>
            <a:solidFill>
              <a:srgbClr val="C9A96E">
                <a:alpha val="1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630156" y="1613535"/>
              <a:ext cx="93268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dirty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$50M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33121" y="20774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0B4D0"/>
                  </a:solidFill>
                  <a:latin typeface="Arial"/>
                  <a:ea typeface="Microsoft YaHei"/>
                  <a:cs typeface="Arial"/>
                </a:rPr>
                <a:t>总投资规模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33121" y="23631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9A96E"/>
                  </a:solidFill>
                  <a:latin typeface="Arial"/>
                  <a:ea typeface="Microsoft YaHei"/>
                  <a:cs typeface="Arial"/>
                </a:rPr>
                <a:t>分阶段投入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3143250"/>
            <a:ext cx="10668000" cy="1905000"/>
            <a:chOff x="762000" y="3143250"/>
            <a:chExt cx="10668000" cy="1905000"/>
          </a:xfrm>
        </p:grpSpPr>
        <p:sp>
          <p:nvSpPr>
            <p:cNvPr id="27" name="Rectangle 27"/>
            <p:cNvSpPr/>
            <p:nvPr/>
          </p:nvSpPr>
          <p:spPr>
            <a:xfrm>
              <a:off x="762000" y="3143250"/>
              <a:ext cx="10668000" cy="1905000"/>
            </a:xfrm>
            <a:prstGeom prst="rect">
              <a:avLst/>
            </a:prstGeom>
            <a:solidFill>
              <a:srgbClr val="C9A96E">
                <a:alpha val="5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5355" y="33785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收入预测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52500" y="3619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C9A96E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428750" y="3810000"/>
              <a:ext cx="1428750" cy="952500"/>
            </a:xfrm>
            <a:prstGeom prst="rect">
              <a:avLst/>
            </a:prstGeom>
            <a:solidFill>
              <a:srgbClr val="C9A96E">
                <a:alpha val="20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333750" y="3619500"/>
              <a:ext cx="1428750" cy="1143000"/>
            </a:xfrm>
            <a:prstGeom prst="rect">
              <a:avLst/>
            </a:prstGeom>
            <a:solidFill>
              <a:srgbClr val="C9A96E">
                <a:alpha val="30000"/>
              </a:srgb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238750" y="3429000"/>
              <a:ext cx="1428750" cy="1333500"/>
            </a:xfrm>
            <a:prstGeom prst="rect">
              <a:avLst/>
            </a:prstGeom>
            <a:solidFill>
              <a:srgbClr val="C9A96E">
                <a:alpha val="40000"/>
              </a:srgbClr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143750" y="3238500"/>
              <a:ext cx="1428750" cy="1524000"/>
            </a:xfrm>
            <a:prstGeom prst="rect">
              <a:avLst/>
            </a:prstGeom>
            <a:solidFill>
              <a:srgbClr val="C9A96E">
                <a:alpha val="6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870662" y="4855845"/>
              <a:ext cx="5449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A0B4D0"/>
                  </a:solidFill>
                  <a:latin typeface="Arial"/>
                  <a:ea typeface="Arial"/>
                  <a:cs typeface="Arial"/>
                </a:rPr>
                <a:t>Y1: $30M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75662" y="4855845"/>
              <a:ext cx="5449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A0B4D0"/>
                  </a:solidFill>
                  <a:latin typeface="Arial"/>
                  <a:ea typeface="Arial"/>
                  <a:cs typeface="Arial"/>
                </a:rPr>
                <a:t>Y2: $50M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80662" y="4855845"/>
              <a:ext cx="5449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A0B4D0"/>
                  </a:solidFill>
                  <a:latin typeface="Arial"/>
                  <a:ea typeface="Arial"/>
                  <a:cs typeface="Arial"/>
                </a:rPr>
                <a:t>Y3: $70M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85662" y="4855845"/>
              <a:ext cx="5449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A0B4D0"/>
                  </a:solidFill>
                  <a:latin typeface="Arial"/>
                  <a:ea typeface="Arial"/>
                  <a:cs typeface="Arial"/>
                </a:rPr>
                <a:t>Y4: $95M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2000" y="5334000"/>
            <a:ext cx="10668000" cy="766762"/>
            <a:chOff x="762000" y="5334000"/>
            <a:chExt cx="10668000" cy="766762"/>
          </a:xfrm>
        </p:grpSpPr>
        <p:sp>
          <p:nvSpPr>
            <p:cNvPr id="39" name="Rectangle 39"/>
            <p:cNvSpPr/>
            <p:nvPr/>
          </p:nvSpPr>
          <p:spPr>
            <a:xfrm>
              <a:off x="762000" y="5334000"/>
              <a:ext cx="10668000" cy="762000"/>
            </a:xfrm>
            <a:prstGeom prst="rect">
              <a:avLst/>
            </a:prstGeom>
            <a:solidFill>
              <a:srgbClr val="C9A96E">
                <a:alpha val="8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5355" y="55692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风险评估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952500" y="58102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C9A96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39165" y="5887402"/>
              <a:ext cx="48992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市场风险：竞争加剧 | 技术风险：AI 落地不确定性 | 执行风险：组织变革阻力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44" name="TextBox 44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6B8BB8"/>
                  </a:solidFill>
                  <a:latin typeface="Georgia"/>
                  <a:ea typeface="Georgia"/>
                  <a:cs typeface="Georgia"/>
                </a:rPr>
                <a:t>07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6B8BB8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8" grpId="0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612880" cy="6532245"/>
            </a:xfrm>
            <a:prstGeom prst="rect">
              <a:avLst/>
            </a:prstGeom>
            <a:gradFill>
              <a:gsLst>
                <a:gs pos="0">
                  <a:srgbClr val="1B2A4A"/>
                </a:gs>
                <a:gs pos="100000">
                  <a:srgbClr val="0F1A2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C9A96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19900"/>
              <a:ext cx="12192000" cy="38100"/>
            </a:xfrm>
            <a:prstGeom prst="rect">
              <a:avLst/>
            </a:prstGeom>
            <a:solidFill>
              <a:srgbClr val="C9A96E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74345"/>
            <a:ext cx="1939290" cy="735330"/>
            <a:chOff x="727710" y="474345"/>
            <a:chExt cx="1939290" cy="735330"/>
          </a:xfrm>
        </p:grpSpPr>
        <p:sp>
          <p:nvSpPr>
            <p:cNvPr id="6" name="TextBox 6"/>
            <p:cNvSpPr txBox="1"/>
            <p:nvPr/>
          </p:nvSpPr>
          <p:spPr>
            <a:xfrm>
              <a:off x="750570" y="474345"/>
              <a:ext cx="5329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C9A96E"/>
                  </a:solidFill>
                  <a:latin typeface="Georgia"/>
                  <a:ea typeface="Georgia"/>
                  <a:cs typeface="Georgia"/>
                </a:rPr>
                <a:t>SUMMARY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7710" y="661035"/>
              <a:ext cx="18688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总结与建议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109537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C9A96E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762000" y="1428750"/>
            <a:ext cx="5334000" cy="2857500"/>
            <a:chOff x="762000" y="1428750"/>
            <a:chExt cx="5334000" cy="2857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428750"/>
              <a:ext cx="5334000" cy="2857500"/>
            </a:xfrm>
            <a:prstGeom prst="rect">
              <a:avLst/>
            </a:prstGeom>
            <a:solidFill>
              <a:srgbClr val="C9A96E">
                <a:alpha val="10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5355" y="16640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核心建议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52500" y="1905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C9A96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165" y="2077402"/>
              <a:ext cx="1965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立即启动数字化转型第一阶段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9165" y="236315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组建跨部门专项团队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9165" y="264890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优先投资数据基础设施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9165" y="2934652"/>
              <a:ext cx="146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建立 AI 应用试点项目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9165" y="3220402"/>
              <a:ext cx="1685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制定详细的人才发展计划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9165" y="350615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• 建立战略合作伙伴关系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1428750"/>
            <a:ext cx="5143500" cy="2857500"/>
            <a:chOff x="6286500" y="1428750"/>
            <a:chExt cx="5143500" cy="2857500"/>
          </a:xfrm>
        </p:grpSpPr>
        <p:sp>
          <p:nvSpPr>
            <p:cNvPr id="20" name="Rectangle 20"/>
            <p:cNvSpPr/>
            <p:nvPr/>
          </p:nvSpPr>
          <p:spPr>
            <a:xfrm>
              <a:off x="6286500" y="1428750"/>
              <a:ext cx="5143500" cy="2857500"/>
            </a:xfrm>
            <a:prstGeom prst="rect">
              <a:avLst/>
            </a:prstGeom>
            <a:solidFill>
              <a:srgbClr val="C9A96E">
                <a:alpha val="5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59855" y="1664018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A96E"/>
                  </a:solidFill>
                  <a:latin typeface="Georgia"/>
                  <a:ea typeface="SimSun"/>
                  <a:cs typeface="Georgia"/>
                </a:rPr>
                <a:t>下一步行动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477000" y="19050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C9A96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63665" y="2077402"/>
              <a:ext cx="14828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1. 成立项目指导委员会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3665" y="2363152"/>
              <a:ext cx="1342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2. 完成详细实施方案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3665" y="2648902"/>
              <a:ext cx="1342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3. 启动第一阶段投资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3665" y="2934652"/>
              <a:ext cx="1342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4. 招聘核心团队成员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3665" y="3220402"/>
              <a:ext cx="1342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5. 建立合作伙伴关系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3665" y="3506152"/>
              <a:ext cx="1342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6. 启动数据平台建设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62000" y="4572000"/>
            <a:ext cx="10668000" cy="952500"/>
            <a:chOff x="762000" y="4572000"/>
            <a:chExt cx="10668000" cy="952500"/>
          </a:xfrm>
        </p:grpSpPr>
        <p:sp>
          <p:nvSpPr>
            <p:cNvPr id="30" name="Rectangle 30"/>
            <p:cNvSpPr/>
            <p:nvPr/>
          </p:nvSpPr>
          <p:spPr>
            <a:xfrm>
              <a:off x="762000" y="4572000"/>
              <a:ext cx="10668000" cy="952500"/>
            </a:xfrm>
            <a:prstGeom prst="rect">
              <a:avLst/>
            </a:prstGeom>
            <a:solidFill>
              <a:srgbClr val="C9A96E">
                <a:alpha val="15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113020" y="4853940"/>
              <a:ext cx="19659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Georgia"/>
                  <a:ea typeface="SimSun"/>
                  <a:cs typeface="Georgia"/>
                </a:rPr>
                <a:t>开启战略转型之旅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28553" y="5204460"/>
              <a:ext cx="33348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A0B4D0"/>
                  </a:solidFill>
                  <a:latin typeface="Arial"/>
                  <a:ea typeface="Arial"/>
                  <a:cs typeface="Arial"/>
                </a:rPr>
                <a:t>strategy@consulting.com | consulting.com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6521291"/>
            <a:ext cx="10678477" cy="167640"/>
            <a:chOff x="762000" y="6521291"/>
            <a:chExt cx="10678477" cy="167640"/>
          </a:xfrm>
        </p:grpSpPr>
        <p:sp>
          <p:nvSpPr>
            <p:cNvPr id="34" name="TextBox 34"/>
            <p:cNvSpPr txBox="1"/>
            <p:nvPr/>
          </p:nvSpPr>
          <p:spPr>
            <a:xfrm>
              <a:off x="11298507" y="65212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5" dirty="0">
                  <a:solidFill>
                    <a:srgbClr val="6B8BB8"/>
                  </a:solidFill>
                  <a:latin typeface="Georgia"/>
                  <a:ea typeface="Georgia"/>
                  <a:cs typeface="Georgia"/>
                </a:rPr>
                <a:t>08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762000" y="66103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4762">
              <a:solidFill>
                <a:srgbClr val="6B8BB8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9" grpId="0"/>
      <p:bldP spid="3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2026-06-24T01:52:07Z</dcterms:created>
  <dcterms:modified xsi:type="dcterms:W3CDTF">2026-06-24T01:52:07Z</dcterms:modified>
  <cp:category/>
  <cp:contentStatus/>
</cp:coreProperties>
</file>