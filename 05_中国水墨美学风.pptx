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1610975" cy="65341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F5F0E8"/>
                </a:gs>
                <a:gs pos="100000">
                  <a:srgbClr val="E8DFD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12115800" y="0"/>
              <a:ext cx="76200" cy="68580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-476250" y="952500"/>
            <a:ext cx="11906250" cy="5238750"/>
            <a:chOff x="-476250" y="952500"/>
            <a:chExt cx="11906250" cy="5238750"/>
          </a:xfrm>
        </p:grpSpPr>
        <p:sp>
          <p:nvSpPr>
            <p:cNvPr id="8" name="Ellipse 8"/>
            <p:cNvSpPr/>
            <p:nvPr/>
          </p:nvSpPr>
          <p:spPr>
            <a:xfrm>
              <a:off x="5715000" y="952500"/>
              <a:ext cx="5715000" cy="3810000"/>
            </a:xfrm>
            <a:prstGeom prst="ellipse">
              <a:avLst/>
            </a:prstGeom>
            <a:solidFill>
              <a:srgbClr val="2C2C2C">
                <a:alpha val="3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-476250" y="3333750"/>
              <a:ext cx="4762500" cy="2857500"/>
            </a:xfrm>
            <a:prstGeom prst="ellipse">
              <a:avLst/>
            </a:prstGeom>
            <a:solidFill>
              <a:srgbClr val="2C2C2C">
                <a:alpha val="2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48665" y="1143000"/>
            <a:ext cx="747760" cy="481012"/>
            <a:chOff x="748665" y="1143000"/>
            <a:chExt cx="747760" cy="481012"/>
          </a:xfrm>
        </p:grpSpPr>
        <p:sp>
          <p:nvSpPr>
            <p:cNvPr id="11" name="Rectangle 11"/>
            <p:cNvSpPr/>
            <p:nvPr/>
          </p:nvSpPr>
          <p:spPr>
            <a:xfrm>
              <a:off x="762000" y="1143000"/>
              <a:ext cx="571500" cy="28575"/>
            </a:xfrm>
            <a:prstGeom prst="rect">
              <a:avLst/>
            </a:prstGeom>
            <a:solidFill>
              <a:srgbClr val="8B45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8665" y="1410652"/>
              <a:ext cx="747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4513"/>
                  </a:solidFill>
                  <a:latin typeface="Times New Roman"/>
                  <a:ea typeface="SimSun"/>
                  <a:cs typeface="Times New Roman"/>
                </a:rPr>
                <a:t>水墨 · 美学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93420" y="2274570"/>
            <a:ext cx="1649349" cy="2811780"/>
            <a:chOff x="693420" y="2274570"/>
            <a:chExt cx="1649349" cy="2811780"/>
          </a:xfrm>
        </p:grpSpPr>
        <p:sp>
          <p:nvSpPr>
            <p:cNvPr id="14" name="TextBox 14"/>
            <p:cNvSpPr txBox="1"/>
            <p:nvPr/>
          </p:nvSpPr>
          <p:spPr>
            <a:xfrm>
              <a:off x="693420" y="2274570"/>
              <a:ext cx="1649349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2C2C2C"/>
                  </a:solidFill>
                  <a:latin typeface="Times New Roman"/>
                  <a:ea typeface="SimSun"/>
                  <a:cs typeface="Times New Roman"/>
                </a:rPr>
                <a:t>东方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3420" y="3131820"/>
              <a:ext cx="1649349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2C2C2C"/>
                  </a:solidFill>
                  <a:latin typeface="Times New Roman"/>
                  <a:ea typeface="SimSun"/>
                  <a:cs typeface="Times New Roman"/>
                </a:rPr>
                <a:t>美学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3420" y="3989070"/>
              <a:ext cx="1649349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8B4513"/>
                  </a:solidFill>
                  <a:latin typeface="Times New Roman"/>
                  <a:ea typeface="SimSun"/>
                  <a:cs typeface="Times New Roman"/>
                </a:rPr>
                <a:t>意境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44855" y="4953000"/>
            <a:ext cx="2194560" cy="671512"/>
            <a:chOff x="744855" y="4953000"/>
            <a:chExt cx="2194560" cy="671512"/>
          </a:xfrm>
        </p:grpSpPr>
        <p:sp>
          <p:nvSpPr>
            <p:cNvPr id="18" name="Line 18"/>
            <p:cNvSpPr/>
            <p:nvPr/>
          </p:nvSpPr>
          <p:spPr>
            <a:xfrm>
              <a:off x="762000" y="49530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9525">
              <a:solidFill>
                <a:srgbClr val="2C2C2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4855" y="50930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A4A4A"/>
                  </a:solidFill>
                  <a:latin typeface="Segoe UI"/>
                  <a:ea typeface="Microsoft YaHei"/>
                  <a:cs typeface="Segoe UI"/>
                </a:rPr>
                <a:t>传统水墨与现代设计的融合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8665" y="5411152"/>
              <a:ext cx="12168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2026 年度文化传承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25000" y="3810000"/>
            <a:ext cx="1143000" cy="1209675"/>
            <a:chOff x="9525000" y="3810000"/>
            <a:chExt cx="1143000" cy="1209675"/>
          </a:xfrm>
        </p:grpSpPr>
        <p:sp>
          <p:nvSpPr>
            <p:cNvPr id="22" name="Rectangle 22"/>
            <p:cNvSpPr/>
            <p:nvPr/>
          </p:nvSpPr>
          <p:spPr>
            <a:xfrm>
              <a:off x="9525000" y="3810000"/>
              <a:ext cx="1143000" cy="1143000"/>
            </a:xfrm>
            <a:prstGeom prst="rect">
              <a:avLst/>
            </a:prstGeom>
            <a:solidFill>
              <a:srgbClr val="C41E3A">
                <a:alpha val="8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873186" y="4090035"/>
              <a:ext cx="44662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73186" y="4471035"/>
              <a:ext cx="44662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韵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26" name="TextBox 26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8B8B8B"/>
                  </a:solidFill>
                  <a:latin typeface="Times New Roman"/>
                  <a:ea typeface="Times New Roman"/>
                  <a:cs typeface="Times New Roman"/>
                </a:rPr>
                <a:t>01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8B8B8B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7" grpId="0"/>
      <p:bldP spid="21" grpId="0"/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F5F0E8"/>
                </a:gs>
                <a:gs pos="100000">
                  <a:srgbClr val="E8DFD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12115800" y="0"/>
              <a:ext cx="76200" cy="68580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50570" y="664845"/>
            <a:ext cx="582930" cy="201930"/>
            <a:chOff x="750570" y="664845"/>
            <a:chExt cx="582930" cy="201930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664845"/>
              <a:ext cx="2628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4513"/>
                  </a:solidFill>
                  <a:latin typeface="Times New Roman"/>
                  <a:ea typeface="SimSun"/>
                  <a:cs typeface="Times New Roman"/>
                </a:rPr>
                <a:t>目录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762000" y="8572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9525">
              <a:solidFill>
                <a:srgbClr val="8B4513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727710" y="1232535"/>
            <a:ext cx="5939790" cy="4384834"/>
            <a:chOff x="727710" y="1232535"/>
            <a:chExt cx="5939790" cy="4384834"/>
          </a:xfrm>
        </p:grpSpPr>
        <p:grpSp>
          <p:nvGrpSpPr>
            <p:cNvPr id="15" name="Group 15"/>
            <p:cNvGrpSpPr/>
            <p:nvPr/>
          </p:nvGrpSpPr>
          <p:grpSpPr>
            <a:xfrm>
              <a:off x="727710" y="1232535"/>
              <a:ext cx="5939790" cy="681990"/>
              <a:chOff x="727710" y="1232535"/>
              <a:chExt cx="5939790" cy="681990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727710" y="1232535"/>
                <a:ext cx="428625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壹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885950" y="12668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2C2C2C"/>
                    </a:solidFill>
                    <a:latin typeface="Segoe UI"/>
                    <a:ea typeface="Microsoft YaHei"/>
                    <a:cs typeface="Segoe UI"/>
                  </a:rPr>
                  <a:t>水墨之道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892618" y="16092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B6B"/>
                    </a:solidFill>
                    <a:latin typeface="Segoe UI"/>
                    <a:ea typeface="Microsoft YaHei"/>
                    <a:cs typeface="Segoe UI"/>
                  </a:rPr>
                  <a:t>传统水墨艺术的核心理念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762000" y="1905000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4762">
                <a:solidFill>
                  <a:srgbClr val="2C2C2C">
                    <a:alpha val="30000"/>
                  </a:srgbClr>
                </a:solidFill>
              </a:ln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727710" y="2185035"/>
              <a:ext cx="5939790" cy="681990"/>
              <a:chOff x="727710" y="2185035"/>
              <a:chExt cx="5939790" cy="68199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727710" y="2185035"/>
                <a:ext cx="428625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贰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885950" y="22193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2C2C2C"/>
                    </a:solidFill>
                    <a:latin typeface="Segoe UI"/>
                    <a:ea typeface="Microsoft YaHei"/>
                    <a:cs typeface="Segoe UI"/>
                  </a:rPr>
                  <a:t>笔墨技法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892618" y="256174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B6B"/>
                    </a:solidFill>
                    <a:latin typeface="Segoe UI"/>
                    <a:ea typeface="Microsoft YaHei"/>
                    <a:cs typeface="Segoe UI"/>
                  </a:rPr>
                  <a:t>运笔、用墨、构图要诀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762000" y="2857500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4762">
                <a:solidFill>
                  <a:srgbClr val="2C2C2C">
                    <a:alpha val="30000"/>
                  </a:srgbClr>
                </a:solidFill>
              </a:ln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727710" y="3137535"/>
              <a:ext cx="5939790" cy="681990"/>
              <a:chOff x="727710" y="3137535"/>
              <a:chExt cx="5939790" cy="681990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27710" y="3137535"/>
                <a:ext cx="428625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叁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885950" y="31718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2C2C2C"/>
                    </a:solidFill>
                    <a:latin typeface="Segoe UI"/>
                    <a:ea typeface="Microsoft YaHei"/>
                    <a:cs typeface="Segoe UI"/>
                  </a:rPr>
                  <a:t>意境营造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892618" y="35142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B6B"/>
                    </a:solidFill>
                    <a:latin typeface="Segoe UI"/>
                    <a:ea typeface="Microsoft YaHei"/>
                    <a:cs typeface="Segoe UI"/>
                  </a:rPr>
                  <a:t>虚实相生、留白之美</a:t>
                </a:r>
              </a:p>
            </p:txBody>
          </p:sp>
          <p:sp>
            <p:nvSpPr>
              <p:cNvPr id="24" name="Line 24"/>
              <p:cNvSpPr/>
              <p:nvPr/>
            </p:nvSpPr>
            <p:spPr>
              <a:xfrm>
                <a:off x="762000" y="3810000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4762">
                <a:solidFill>
                  <a:srgbClr val="2C2C2C">
                    <a:alpha val="30000"/>
                  </a:srgbClr>
                </a:solidFill>
              </a:ln>
            </p:spPr>
          </p:sp>
        </p:grpSp>
        <p:grpSp>
          <p:nvGrpSpPr>
            <p:cNvPr id="30" name="Group 30"/>
            <p:cNvGrpSpPr/>
            <p:nvPr/>
          </p:nvGrpSpPr>
          <p:grpSpPr>
            <a:xfrm>
              <a:off x="727710" y="4090035"/>
              <a:ext cx="5939790" cy="681990"/>
              <a:chOff x="727710" y="4090035"/>
              <a:chExt cx="5939790" cy="681990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727710" y="4090035"/>
                <a:ext cx="428625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肆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885950" y="41243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2C2C2C"/>
                    </a:solidFill>
                    <a:latin typeface="Segoe UI"/>
                    <a:ea typeface="Microsoft YaHei"/>
                    <a:cs typeface="Segoe UI"/>
                  </a:rPr>
                  <a:t>现代融合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892618" y="44667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B6B"/>
                    </a:solidFill>
                    <a:latin typeface="Segoe UI"/>
                    <a:ea typeface="Microsoft YaHei"/>
                    <a:cs typeface="Segoe UI"/>
                  </a:rPr>
                  <a:t>传统美学与当代设计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762000" y="4762500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4762">
                <a:solidFill>
                  <a:srgbClr val="2C2C2C">
                    <a:alpha val="30000"/>
                  </a:srgbClr>
                </a:solidFill>
              </a:ln>
            </p:spPr>
          </p:sp>
        </p:grpSp>
        <p:grpSp>
          <p:nvGrpSpPr>
            <p:cNvPr id="34" name="Group 34"/>
            <p:cNvGrpSpPr/>
            <p:nvPr/>
          </p:nvGrpSpPr>
          <p:grpSpPr>
            <a:xfrm>
              <a:off x="727710" y="5042535"/>
              <a:ext cx="2359819" cy="574834"/>
              <a:chOff x="727710" y="5042535"/>
              <a:chExt cx="2359819" cy="574834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727710" y="5042535"/>
                <a:ext cx="428625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伍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885950" y="50768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2C2C2C"/>
                    </a:solidFill>
                    <a:latin typeface="Segoe UI"/>
                    <a:ea typeface="Microsoft YaHei"/>
                    <a:cs typeface="Segoe UI"/>
                  </a:rPr>
                  <a:t>作品赏析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892618" y="54192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B6B"/>
                    </a:solidFill>
                    <a:latin typeface="Segoe UI"/>
                    <a:ea typeface="Microsoft YaHei"/>
                    <a:cs typeface="Segoe UI"/>
                  </a:rPr>
                  <a:t>经典与当代水墨作品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7620000" y="1143000"/>
            <a:ext cx="3810000" cy="4762500"/>
            <a:chOff x="7620000" y="1143000"/>
            <a:chExt cx="3810000" cy="4762500"/>
          </a:xfrm>
        </p:grpSpPr>
        <p:sp>
          <p:nvSpPr>
            <p:cNvPr id="36" name="Rectangle 36"/>
            <p:cNvSpPr/>
            <p:nvPr/>
          </p:nvSpPr>
          <p:spPr>
            <a:xfrm>
              <a:off x="7620000" y="1143000"/>
              <a:ext cx="3810000" cy="4762500"/>
            </a:xfrm>
            <a:prstGeom prst="rect">
              <a:avLst/>
            </a:prstGeom>
            <a:solidFill>
              <a:srgbClr val="2C2C2C">
                <a:alpha val="5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10550" y="1885950"/>
              <a:ext cx="26289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dirty="0">
                  <a:solidFill>
                    <a:srgbClr val="2C2C2C">
                      <a:alphaMod val="10000"/>
                    </a:srgbClr>
                  </a:solidFill>
                  <a:latin typeface="Times New Roman"/>
                  <a:ea typeface="SimSun"/>
                  <a:cs typeface="Times New Roman"/>
                </a:rPr>
                <a:t>目录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81732" y="3489960"/>
              <a:ext cx="4865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5 章节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096250" y="38100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4762">
              <a:solidFill>
                <a:srgbClr val="2C2C2C">
                  <a:alpha val="30000"/>
                </a:srgbClr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82149" y="4077652"/>
              <a:ext cx="285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8B8B"/>
                  </a:solidFill>
                  <a:latin typeface="Segoe UI"/>
                  <a:ea typeface="Microsoft YaHei"/>
                  <a:cs typeface="Segoe UI"/>
                </a:rPr>
                <a:t>8 页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2" name="TextBox 42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8B8B8B"/>
                  </a:solidFill>
                  <a:latin typeface="Times New Roman"/>
                  <a:ea typeface="Times New Roman"/>
                  <a:cs typeface="Times New Roman"/>
                </a:rPr>
                <a:t>02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8B8B8B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F5F0E8"/>
                </a:gs>
                <a:gs pos="100000">
                  <a:srgbClr val="E8DFD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12115800" y="0"/>
              <a:ext cx="76200" cy="68580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27710" y="474345"/>
            <a:ext cx="1653540" cy="735330"/>
            <a:chOff x="727710" y="474345"/>
            <a:chExt cx="1653540" cy="735330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474345"/>
              <a:ext cx="1428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4513"/>
                  </a:solidFill>
                  <a:latin typeface="Times New Roman"/>
                  <a:ea typeface="SimSun"/>
                  <a:cs typeface="Times New Roman"/>
                </a:rPr>
                <a:t>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7710" y="661035"/>
              <a:ext cx="15087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2C2C2C"/>
                  </a:solidFill>
                  <a:latin typeface="Times New Roman"/>
                  <a:ea typeface="SimSun"/>
                  <a:cs typeface="Times New Roman"/>
                </a:rPr>
                <a:t>水墨之道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1095375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9525">
              <a:solidFill>
                <a:srgbClr val="8B4513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62000" y="1428750"/>
            <a:ext cx="10668000" cy="1905000"/>
            <a:chOff x="762000" y="1428750"/>
            <a:chExt cx="10668000" cy="1905000"/>
          </a:xfrm>
        </p:grpSpPr>
        <p:grpSp>
          <p:nvGrpSpPr>
            <p:cNvPr id="18" name="Group 18"/>
            <p:cNvGrpSpPr/>
            <p:nvPr/>
          </p:nvGrpSpPr>
          <p:grpSpPr>
            <a:xfrm>
              <a:off x="762000" y="1428750"/>
              <a:ext cx="3429000" cy="1905000"/>
              <a:chOff x="762000" y="1428750"/>
              <a:chExt cx="3429000" cy="1905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62000" y="1428750"/>
                <a:ext cx="3429000" cy="19050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762000" y="1428750"/>
                <a:ext cx="38100" cy="1905000"/>
              </a:xfrm>
              <a:prstGeom prst="rect">
                <a:avLst/>
              </a:prstGeom>
              <a:solidFill>
                <a:srgbClr val="8B4513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28700" y="16478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气韵生动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34415" y="198215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水墨艺术的灵魂所在，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34415" y="2220278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通过笔墨的浓淡干湿，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34415" y="245840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表现万物的生机与神韵。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381500" y="1428750"/>
              <a:ext cx="3429000" cy="1905000"/>
              <a:chOff x="4381500" y="1428750"/>
              <a:chExt cx="3429000" cy="1905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381500" y="1428750"/>
                <a:ext cx="3429000" cy="19050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4381500" y="1428750"/>
                <a:ext cx="38100" cy="1905000"/>
              </a:xfrm>
              <a:prstGeom prst="rect">
                <a:avLst/>
              </a:prstGeom>
              <a:solidFill>
                <a:srgbClr val="2C2C2C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648200" y="16478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骨法用笔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653915" y="19821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以书法入画，讲究笔力、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653915" y="2220278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笔势、笔意，通过线条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653915" y="245840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表现物象的质感与精神。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8001000" y="1428750"/>
              <a:ext cx="3429000" cy="1905000"/>
              <a:chOff x="8001000" y="1428750"/>
              <a:chExt cx="3429000" cy="19050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8001000" y="1428750"/>
                <a:ext cx="3429000" cy="19050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8001000" y="1428750"/>
                <a:ext cx="38100" cy="1905000"/>
              </a:xfrm>
              <a:prstGeom prst="rect">
                <a:avLst/>
              </a:prstGeom>
              <a:solidFill>
                <a:srgbClr val="8B4513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267700" y="16478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应物象形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273415" y="198215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师法自然，以形写神，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73415" y="2220278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不求形似，但求神似，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273415" y="24584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达到形神兼备的境界。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762000" y="3619500"/>
            <a:ext cx="10668000" cy="1143000"/>
            <a:chOff x="762000" y="3619500"/>
            <a:chExt cx="10668000" cy="1143000"/>
          </a:xfrm>
        </p:grpSpPr>
        <p:sp>
          <p:nvSpPr>
            <p:cNvPr id="34" name="Rectangle 34"/>
            <p:cNvSpPr/>
            <p:nvPr/>
          </p:nvSpPr>
          <p:spPr>
            <a:xfrm>
              <a:off x="762000" y="3619500"/>
              <a:ext cx="10668000" cy="1143000"/>
            </a:xfrm>
            <a:prstGeom prst="rect">
              <a:avLst/>
            </a:prstGeom>
            <a:solidFill>
              <a:srgbClr val="2C2C2C">
                <a:alpha val="5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860988" y="3901440"/>
              <a:ext cx="247002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C2C2C"/>
                  </a:solidFill>
                  <a:latin typeface="Times New Roman"/>
                  <a:ea typeface="SimSun"/>
                  <a:cs typeface="Times New Roman"/>
                </a:rPr>
                <a:t>"外师造化，中得心源"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32621" y="43634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— 唐 · 张璪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33500" y="5143500"/>
            <a:ext cx="4857750" cy="1238250"/>
            <a:chOff x="1333500" y="5143500"/>
            <a:chExt cx="4857750" cy="1238250"/>
          </a:xfrm>
        </p:grpSpPr>
        <p:sp>
          <p:nvSpPr>
            <p:cNvPr id="38" name="Ellipse 38"/>
            <p:cNvSpPr/>
            <p:nvPr/>
          </p:nvSpPr>
          <p:spPr>
            <a:xfrm>
              <a:off x="1333500" y="5143500"/>
              <a:ext cx="1143000" cy="1143000"/>
            </a:xfrm>
            <a:prstGeom prst="ellipse">
              <a:avLst/>
            </a:prstGeom>
            <a:solidFill>
              <a:srgbClr val="2C2C2C">
                <a:alpha val="3000"/>
              </a:srgb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429000" y="5143500"/>
              <a:ext cx="762000" cy="762000"/>
            </a:xfrm>
            <a:prstGeom prst="ellipse">
              <a:avLst/>
            </a:prstGeom>
            <a:solidFill>
              <a:srgbClr val="2C2C2C">
                <a:alpha val="2000"/>
              </a:srgb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5238750" y="5429250"/>
              <a:ext cx="952500" cy="952500"/>
            </a:xfrm>
            <a:prstGeom prst="ellipse">
              <a:avLst/>
            </a:prstGeom>
            <a:solidFill>
              <a:srgbClr val="2C2C2C">
                <a:alpha val="4000"/>
              </a:srgbClr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2" name="TextBox 42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8B8B8B"/>
                  </a:solidFill>
                  <a:latin typeface="Times New Roman"/>
                  <a:ea typeface="Times New Roman"/>
                  <a:cs typeface="Times New Roman"/>
                </a:rPr>
                <a:t>03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8B8B8B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7" grpId="0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F5F0E8"/>
                </a:gs>
                <a:gs pos="100000">
                  <a:srgbClr val="E8DFD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12115800" y="0"/>
              <a:ext cx="76200" cy="68580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27710" y="474345"/>
            <a:ext cx="1653540" cy="735330"/>
            <a:chOff x="727710" y="474345"/>
            <a:chExt cx="1653540" cy="735330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474345"/>
              <a:ext cx="1428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4513"/>
                  </a:solidFill>
                  <a:latin typeface="Times New Roman"/>
                  <a:ea typeface="SimSun"/>
                  <a:cs typeface="Times New Roman"/>
                </a:rPr>
                <a:t>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7710" y="661035"/>
              <a:ext cx="15087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2C2C2C"/>
                  </a:solidFill>
                  <a:latin typeface="Times New Roman"/>
                  <a:ea typeface="SimSun"/>
                  <a:cs typeface="Times New Roman"/>
                </a:rPr>
                <a:t>笔墨技法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1095375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9525">
              <a:solidFill>
                <a:srgbClr val="8B4513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762000" y="1428750"/>
            <a:ext cx="10668000" cy="1905000"/>
            <a:chOff x="762000" y="1428750"/>
            <a:chExt cx="10668000" cy="1905000"/>
          </a:xfrm>
        </p:grpSpPr>
        <p:grpSp>
          <p:nvGrpSpPr>
            <p:cNvPr id="19" name="Group 19"/>
            <p:cNvGrpSpPr/>
            <p:nvPr/>
          </p:nvGrpSpPr>
          <p:grpSpPr>
            <a:xfrm>
              <a:off x="762000" y="1428750"/>
              <a:ext cx="5334000" cy="1905000"/>
              <a:chOff x="762000" y="1428750"/>
              <a:chExt cx="5334000" cy="1905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62000" y="1428750"/>
                <a:ext cx="5334000" cy="19050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29640" y="1615440"/>
                <a:ext cx="10058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运笔之法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952500" y="1905000"/>
                <a:ext cx="142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9525">
                    <a:moveTo>
                      <a:pt x="0" y="0"/>
                    </a:moveTo>
                    <a:lnTo>
                      <a:pt x="1428750" y="0"/>
                    </a:lnTo>
                  </a:path>
                </a:pathLst>
              </a:custGeom>
              <a:noFill/>
              <a:ln w="9525">
                <a:solidFill>
                  <a:srgbClr val="8B4513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939165" y="2077402"/>
                <a:ext cx="16858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• 中锋用笔：线条圆润饱满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9165" y="2315528"/>
                <a:ext cx="16858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• 侧锋用笔：变化丰富多姿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39165" y="2553652"/>
                <a:ext cx="1405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• 逆锋用笔：苍劲有力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39165" y="2791778"/>
                <a:ext cx="1405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• 拖锋用笔：流畅自然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286500" y="1428750"/>
              <a:ext cx="5143500" cy="1905000"/>
              <a:chOff x="6286500" y="1428750"/>
              <a:chExt cx="5143500" cy="1905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286500" y="1428750"/>
                <a:ext cx="5143500" cy="19050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454140" y="1615440"/>
                <a:ext cx="10058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用墨之道</a:t>
                </a: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6477000" y="1905000"/>
                <a:ext cx="142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9525">
                    <a:moveTo>
                      <a:pt x="0" y="0"/>
                    </a:moveTo>
                    <a:lnTo>
                      <a:pt x="1428750" y="0"/>
                    </a:lnTo>
                  </a:path>
                </a:pathLst>
              </a:custGeom>
              <a:noFill/>
              <a:ln w="9525">
                <a:solidFill>
                  <a:srgbClr val="8B4513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463665" y="2077402"/>
                <a:ext cx="11258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• 焦墨：浓重深沉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63665" y="2315528"/>
                <a:ext cx="11258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• 浓墨：厚重饱满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463665" y="2553652"/>
                <a:ext cx="11258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• 重墨：沉稳有力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63665" y="2791778"/>
                <a:ext cx="11258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• 淡墨：清雅空灵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463665" y="3029902"/>
                <a:ext cx="11258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• 清墨：淡远悠长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762000" y="3619500"/>
            <a:ext cx="10668000" cy="1905000"/>
            <a:chOff x="762000" y="3619500"/>
            <a:chExt cx="10668000" cy="1905000"/>
          </a:xfrm>
        </p:grpSpPr>
        <p:sp>
          <p:nvSpPr>
            <p:cNvPr id="30" name="Rectangle 30"/>
            <p:cNvSpPr/>
            <p:nvPr/>
          </p:nvSpPr>
          <p:spPr>
            <a:xfrm>
              <a:off x="762000" y="3619500"/>
              <a:ext cx="10668000" cy="1905000"/>
            </a:xfrm>
            <a:prstGeom prst="rect">
              <a:avLst/>
            </a:prstGeom>
            <a:solidFill>
              <a:srgbClr val="2C2C2C">
                <a:alpha val="3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18810" y="38547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C2C2C"/>
                  </a:solidFill>
                  <a:latin typeface="Times New Roman"/>
                  <a:ea typeface="SimSun"/>
                  <a:cs typeface="Times New Roman"/>
                </a:rPr>
                <a:t>墨分五色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905000" y="4286250"/>
              <a:ext cx="952500" cy="762000"/>
            </a:xfrm>
            <a:prstGeom prst="rect">
              <a:avLst/>
            </a:prstGeom>
            <a:solidFill>
              <a:srgbClr val="2C2C2C">
                <a:alpha val="90000"/>
              </a:srgbClr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333750" y="4286250"/>
              <a:ext cx="952500" cy="762000"/>
            </a:xfrm>
            <a:prstGeom prst="rect">
              <a:avLst/>
            </a:prstGeom>
            <a:solidFill>
              <a:srgbClr val="2C2C2C">
                <a:alpha val="70000"/>
              </a:srgbClr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762500" y="4286250"/>
              <a:ext cx="952500" cy="762000"/>
            </a:xfrm>
            <a:prstGeom prst="rect">
              <a:avLst/>
            </a:prstGeom>
            <a:solidFill>
              <a:srgbClr val="2C2C2C">
                <a:alpha val="50000"/>
              </a:srgbClr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191250" y="4286250"/>
              <a:ext cx="952500" cy="762000"/>
            </a:xfrm>
            <a:prstGeom prst="rect">
              <a:avLst/>
            </a:prstGeom>
            <a:solidFill>
              <a:srgbClr val="2C2C2C">
                <a:alpha val="30000"/>
              </a:srgbClr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20000" y="4286250"/>
              <a:ext cx="952500" cy="762000"/>
            </a:xfrm>
            <a:prstGeom prst="rect">
              <a:avLst/>
            </a:prstGeom>
            <a:solidFill>
              <a:srgbClr val="2C2C2C">
                <a:alpha val="1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309812" y="5141595"/>
              <a:ext cx="1428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38562" y="5141595"/>
              <a:ext cx="1428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浓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167312" y="5141595"/>
              <a:ext cx="1428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96062" y="5141595"/>
              <a:ext cx="1428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24812" y="5141595"/>
              <a:ext cx="1428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清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3" name="TextBox 43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8B8B8B"/>
                  </a:solidFill>
                  <a:latin typeface="Times New Roman"/>
                  <a:ea typeface="Times New Roman"/>
                  <a:cs typeface="Times New Roman"/>
                </a:rPr>
                <a:t>04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8B8B8B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F5F0E8"/>
                </a:gs>
                <a:gs pos="100000">
                  <a:srgbClr val="E8DFD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12115800" y="0"/>
              <a:ext cx="76200" cy="68580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27710" y="474345"/>
            <a:ext cx="1653540" cy="735330"/>
            <a:chOff x="727710" y="474345"/>
            <a:chExt cx="1653540" cy="735330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474345"/>
              <a:ext cx="1428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4513"/>
                  </a:solidFill>
                  <a:latin typeface="Times New Roman"/>
                  <a:ea typeface="SimSun"/>
                  <a:cs typeface="Times New Roman"/>
                </a:rPr>
                <a:t>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7710" y="661035"/>
              <a:ext cx="15087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2C2C2C"/>
                  </a:solidFill>
                  <a:latin typeface="Times New Roman"/>
                  <a:ea typeface="SimSun"/>
                  <a:cs typeface="Times New Roman"/>
                </a:rPr>
                <a:t>意境营造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1095375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9525">
              <a:solidFill>
                <a:srgbClr val="8B4513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762000" y="1428750"/>
            <a:ext cx="10668000" cy="2381250"/>
            <a:chOff x="762000" y="1428750"/>
            <a:chExt cx="10668000" cy="2381250"/>
          </a:xfrm>
        </p:grpSpPr>
        <p:grpSp>
          <p:nvGrpSpPr>
            <p:cNvPr id="21" name="Group 21"/>
            <p:cNvGrpSpPr/>
            <p:nvPr/>
          </p:nvGrpSpPr>
          <p:grpSpPr>
            <a:xfrm>
              <a:off x="762000" y="1428750"/>
              <a:ext cx="3429000" cy="2381250"/>
              <a:chOff x="762000" y="1428750"/>
              <a:chExt cx="3429000" cy="23812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62000" y="1428750"/>
                <a:ext cx="3429000" cy="238125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29640" y="1615440"/>
                <a:ext cx="10058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虚实相生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952500" y="1905000"/>
                <a:ext cx="142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9525">
                    <a:moveTo>
                      <a:pt x="0" y="0"/>
                    </a:moveTo>
                    <a:lnTo>
                      <a:pt x="1428750" y="0"/>
                    </a:lnTo>
                  </a:path>
                </a:pathLst>
              </a:custGeom>
              <a:noFill/>
              <a:ln w="9525">
                <a:solidFill>
                  <a:srgbClr val="8B4513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939165" y="20774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虚与实的对比与统一，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9165" y="2315528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是水墨艺术的核心美学。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39165" y="255365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虚处不空，实处不塞，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39165" y="2791778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虚实相生，气韵流转。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952500" y="3143250"/>
                <a:ext cx="3048000" cy="381000"/>
              </a:xfrm>
              <a:prstGeom prst="rect">
                <a:avLst/>
              </a:prstGeom>
              <a:solidFill>
                <a:srgbClr val="2C2C2C">
                  <a:alpha val="5000"/>
                </a:srgb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141220" y="3251835"/>
                <a:ext cx="6705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计白当黑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4381500" y="1428750"/>
              <a:ext cx="3429000" cy="2381250"/>
              <a:chOff x="4381500" y="1428750"/>
              <a:chExt cx="3429000" cy="2381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4381500" y="1428750"/>
                <a:ext cx="3429000" cy="238125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549140" y="1615440"/>
                <a:ext cx="10058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留白之美</a:t>
                </a:r>
              </a:p>
            </p:txBody>
          </p:sp>
          <p:sp>
            <p:nvSpPr>
              <p:cNvPr id="24" name="Line 24"/>
              <p:cNvSpPr/>
              <p:nvPr/>
            </p:nvSpPr>
            <p:spPr>
              <a:xfrm>
                <a:off x="4572000" y="1905000"/>
                <a:ext cx="142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9525">
                    <a:moveTo>
                      <a:pt x="0" y="0"/>
                    </a:moveTo>
                    <a:lnTo>
                      <a:pt x="1428750" y="0"/>
                    </a:lnTo>
                  </a:path>
                </a:pathLst>
              </a:custGeom>
              <a:noFill/>
              <a:ln w="9525">
                <a:solidFill>
                  <a:srgbClr val="8B4513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558665" y="207740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留白不是空白，而是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558665" y="2315528"/>
                <a:ext cx="17068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意境的延伸与想象的空间。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558665" y="255365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以无胜有，以少胜多，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558665" y="2791778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给观者以无限遐想。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4572000" y="3143250"/>
                <a:ext cx="3048000" cy="381000"/>
              </a:xfrm>
              <a:prstGeom prst="rect">
                <a:avLst/>
              </a:prstGeom>
              <a:solidFill>
                <a:srgbClr val="2C2C2C">
                  <a:alpha val="5000"/>
                </a:srgbClr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5520690" y="3251835"/>
                <a:ext cx="11506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此处无声胜有声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8001000" y="1428750"/>
              <a:ext cx="3429000" cy="2381250"/>
              <a:chOff x="8001000" y="1428750"/>
              <a:chExt cx="3429000" cy="23812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8001000" y="1428750"/>
                <a:ext cx="3429000" cy="238125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168640" y="1615440"/>
                <a:ext cx="10058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气韵生动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8191500" y="1905000"/>
                <a:ext cx="142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9525">
                    <a:moveTo>
                      <a:pt x="0" y="0"/>
                    </a:moveTo>
                    <a:lnTo>
                      <a:pt x="1428750" y="0"/>
                    </a:lnTo>
                  </a:path>
                </a:pathLst>
              </a:custGeom>
              <a:noFill/>
              <a:ln w="9525">
                <a:solidFill>
                  <a:srgbClr val="8B4513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178165" y="207740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气韵是水墨艺术的灵魂，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178165" y="2315528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是生命力的体现。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178165" y="25536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通过笔墨的节奏与韵律，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78165" y="2791778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表现万物的生机与神韵。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8191500" y="3143250"/>
                <a:ext cx="3048000" cy="381000"/>
              </a:xfrm>
              <a:prstGeom prst="rect">
                <a:avLst/>
              </a:prstGeom>
              <a:solidFill>
                <a:srgbClr val="2C2C2C">
                  <a:alpha val="5000"/>
                </a:srgbClr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9380220" y="3251835"/>
                <a:ext cx="6705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生生不息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762000" y="4095750"/>
            <a:ext cx="10668000" cy="952500"/>
            <a:chOff x="762000" y="4095750"/>
            <a:chExt cx="10668000" cy="952500"/>
          </a:xfrm>
        </p:grpSpPr>
        <p:sp>
          <p:nvSpPr>
            <p:cNvPr id="43" name="Rectangle 43"/>
            <p:cNvSpPr/>
            <p:nvPr/>
          </p:nvSpPr>
          <p:spPr>
            <a:xfrm>
              <a:off x="762000" y="4095750"/>
              <a:ext cx="10668000" cy="952500"/>
            </a:xfrm>
            <a:prstGeom prst="rect">
              <a:avLst/>
            </a:prstGeom>
            <a:solidFill>
              <a:srgbClr val="2C2C2C">
                <a:alpha val="5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066699" y="4410075"/>
              <a:ext cx="40586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C2C2C"/>
                  </a:solidFill>
                  <a:latin typeface="Times New Roman"/>
                  <a:ea typeface="SimSun"/>
                  <a:cs typeface="Times New Roman"/>
                </a:rPr>
                <a:t>"山不在高，有仙则名；水不在深，有龙则灵"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62612" y="47444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— 唐 · 刘禹锡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7" name="TextBox 47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8B8B8B"/>
                  </a:solidFill>
                  <a:latin typeface="Times New Roman"/>
                  <a:ea typeface="Times New Roman"/>
                  <a:cs typeface="Times New Roman"/>
                </a:rPr>
                <a:t>05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8B8B8B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F5F0E8"/>
                </a:gs>
                <a:gs pos="100000">
                  <a:srgbClr val="E8DFD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12115800" y="0"/>
              <a:ext cx="76200" cy="68580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27710" y="474345"/>
            <a:ext cx="1653540" cy="735330"/>
            <a:chOff x="727710" y="474345"/>
            <a:chExt cx="1653540" cy="735330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474345"/>
              <a:ext cx="1428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4513"/>
                  </a:solidFill>
                  <a:latin typeface="Times New Roman"/>
                  <a:ea typeface="SimSun"/>
                  <a:cs typeface="Times New Roman"/>
                </a:rPr>
                <a:t>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7710" y="661035"/>
              <a:ext cx="15087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2C2C2C"/>
                  </a:solidFill>
                  <a:latin typeface="Times New Roman"/>
                  <a:ea typeface="SimSun"/>
                  <a:cs typeface="Times New Roman"/>
                </a:rPr>
                <a:t>现代融合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1095375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9525">
              <a:solidFill>
                <a:srgbClr val="8B4513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762000" y="1428750"/>
            <a:ext cx="10668000" cy="3714750"/>
            <a:chOff x="762000" y="1428750"/>
            <a:chExt cx="10668000" cy="3714750"/>
          </a:xfrm>
        </p:grpSpPr>
        <p:grpSp>
          <p:nvGrpSpPr>
            <p:cNvPr id="18" name="Group 18"/>
            <p:cNvGrpSpPr/>
            <p:nvPr/>
          </p:nvGrpSpPr>
          <p:grpSpPr>
            <a:xfrm>
              <a:off x="762000" y="1428750"/>
              <a:ext cx="5334000" cy="1714500"/>
              <a:chOff x="762000" y="1428750"/>
              <a:chExt cx="5334000" cy="1714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62000" y="1428750"/>
                <a:ext cx="5334000" cy="17145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762000" y="1428750"/>
                <a:ext cx="38100" cy="1714500"/>
              </a:xfrm>
              <a:prstGeom prst="rect">
                <a:avLst/>
              </a:prstGeom>
              <a:solidFill>
                <a:srgbClr val="8B4513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28700" y="16478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平面设计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34415" y="1982152"/>
                <a:ext cx="25469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水墨元素在海报、包装、品牌中的应用，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34415" y="2220278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传统笔墨与现代排版的结合，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34415" y="245840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创造独特的东方美学视觉语言。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286500" y="1428750"/>
              <a:ext cx="5143500" cy="1714500"/>
              <a:chOff x="6286500" y="1428750"/>
              <a:chExt cx="5143500" cy="1714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286500" y="1428750"/>
                <a:ext cx="5143500" cy="17145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6286500" y="1428750"/>
                <a:ext cx="38100" cy="1714500"/>
              </a:xfrm>
              <a:prstGeom prst="rect">
                <a:avLst/>
              </a:prstGeom>
              <a:solidFill>
                <a:srgbClr val="2C2C2C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553200" y="16478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数字媒体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558915" y="1982152"/>
                <a:ext cx="2126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水墨动画、交互设计、数字艺术，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558915" y="2220278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将传统水墨的意境与现代技术结合，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558915" y="2458402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创造沉浸式的东方美学体验。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62000" y="3429000"/>
              <a:ext cx="5334000" cy="1714500"/>
              <a:chOff x="762000" y="3429000"/>
              <a:chExt cx="5334000" cy="1714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62000" y="3429000"/>
                <a:ext cx="5334000" cy="17145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762000" y="3429000"/>
                <a:ext cx="38100" cy="1714500"/>
              </a:xfrm>
              <a:prstGeom prst="rect">
                <a:avLst/>
              </a:prstGeom>
              <a:solidFill>
                <a:srgbClr val="8B4513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28700" y="364807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空间设计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34415" y="3982402"/>
                <a:ext cx="26870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水墨元素在室内设计、建筑设计中的应用，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34415" y="4220528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通过留白、意境、气韵的营造，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034415" y="44586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创造具有东方意境的现代空间。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286500" y="3429000"/>
              <a:ext cx="5143500" cy="1714500"/>
              <a:chOff x="6286500" y="3429000"/>
              <a:chExt cx="5143500" cy="17145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286500" y="3429000"/>
                <a:ext cx="5143500" cy="17145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6286500" y="3429000"/>
                <a:ext cx="38100" cy="1714500"/>
              </a:xfrm>
              <a:prstGeom prst="rect">
                <a:avLst/>
              </a:prstGeom>
              <a:solidFill>
                <a:srgbClr val="2C2C2C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553200" y="364807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产品设计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558915" y="398240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水墨美学在产品设计中的应用，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558915" y="4220528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从材质、形态、色彩等方面，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558915" y="44586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创造具有东方韵味的现代产品。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1" name="TextBox 41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8B8B8B"/>
                  </a:solidFill>
                  <a:latin typeface="Times New Roman"/>
                  <a:ea typeface="Times New Roman"/>
                  <a:cs typeface="Times New Roman"/>
                </a:rPr>
                <a:t>06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8B8B8B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F5F0E8"/>
                </a:gs>
                <a:gs pos="100000">
                  <a:srgbClr val="E8DFD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12115800" y="0"/>
              <a:ext cx="76200" cy="68580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27710" y="474345"/>
            <a:ext cx="1653540" cy="735330"/>
            <a:chOff x="727710" y="474345"/>
            <a:chExt cx="1653540" cy="735330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474345"/>
              <a:ext cx="1428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4513"/>
                  </a:solidFill>
                  <a:latin typeface="Times New Roman"/>
                  <a:ea typeface="SimSun"/>
                  <a:cs typeface="Times New Roman"/>
                </a:rPr>
                <a:t>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7710" y="661035"/>
              <a:ext cx="15087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2C2C2C"/>
                  </a:solidFill>
                  <a:latin typeface="Times New Roman"/>
                  <a:ea typeface="SimSun"/>
                  <a:cs typeface="Times New Roman"/>
                </a:rPr>
                <a:t>作品赏析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1095375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9525">
              <a:solidFill>
                <a:srgbClr val="8B4513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762000" y="1428750"/>
            <a:ext cx="10668000" cy="2521744"/>
            <a:chOff x="762000" y="1428750"/>
            <a:chExt cx="10668000" cy="2521744"/>
          </a:xfrm>
        </p:grpSpPr>
        <p:grpSp>
          <p:nvGrpSpPr>
            <p:cNvPr id="17" name="Group 17"/>
            <p:cNvGrpSpPr/>
            <p:nvPr/>
          </p:nvGrpSpPr>
          <p:grpSpPr>
            <a:xfrm>
              <a:off x="762000" y="1428750"/>
              <a:ext cx="3429000" cy="2521744"/>
              <a:chOff x="762000" y="1428750"/>
              <a:chExt cx="3429000" cy="2521744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62000" y="1428750"/>
                <a:ext cx="3429000" cy="238125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762000" y="1428750"/>
                <a:ext cx="3429000" cy="1905000"/>
              </a:xfrm>
              <a:prstGeom prst="rect">
                <a:avLst/>
              </a:prstGeom>
              <a:solidFill>
                <a:srgbClr val="2C2C2C">
                  <a:alpha val="5000"/>
                </a:srgbClr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950720" y="1992630"/>
                <a:ext cx="1051560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600" dirty="0">
                    <a:solidFill>
                      <a:srgbClr val="2C2C2C">
                        <a:alphaMod val="10000"/>
                      </a:srgbClr>
                    </a:solidFill>
                    <a:latin typeface="Times New Roman"/>
                    <a:ea typeface="SimSun"/>
                    <a:cs typeface="Times New Roman"/>
                  </a:rPr>
                  <a:t>山水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35355" y="3473768"/>
                <a:ext cx="129444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《千里江山图》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40118" y="3752374"/>
                <a:ext cx="82436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B6B"/>
                    </a:solidFill>
                    <a:latin typeface="Segoe UI"/>
                    <a:ea typeface="Microsoft YaHei"/>
                    <a:cs typeface="Segoe UI"/>
                  </a:rPr>
                  <a:t>北宋 · 王希孟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4381500" y="1428750"/>
              <a:ext cx="3429000" cy="2521744"/>
              <a:chOff x="4381500" y="1428750"/>
              <a:chExt cx="3429000" cy="2521744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4381500" y="1428750"/>
                <a:ext cx="3429000" cy="238125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4381500" y="1428750"/>
                <a:ext cx="3429000" cy="1905000"/>
              </a:xfrm>
              <a:prstGeom prst="rect">
                <a:avLst/>
              </a:prstGeom>
              <a:solidFill>
                <a:srgbClr val="2C2C2C">
                  <a:alpha val="5000"/>
                </a:srgb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5570220" y="1992630"/>
                <a:ext cx="1051560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600" dirty="0">
                    <a:solidFill>
                      <a:srgbClr val="2C2C2C">
                        <a:alphaMod val="10000"/>
                      </a:srgbClr>
                    </a:solidFill>
                    <a:latin typeface="Times New Roman"/>
                    <a:ea typeface="SimSun"/>
                    <a:cs typeface="Times New Roman"/>
                  </a:rPr>
                  <a:t>花鸟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554855" y="3473768"/>
                <a:ext cx="129444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《写生珍禽图》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559618" y="3752374"/>
                <a:ext cx="6943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B6B"/>
                    </a:solidFill>
                    <a:latin typeface="Segoe UI"/>
                    <a:ea typeface="Microsoft YaHei"/>
                    <a:cs typeface="Segoe UI"/>
                  </a:rPr>
                  <a:t>五代 · 黄筌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01000" y="1428750"/>
              <a:ext cx="3429000" cy="2521744"/>
              <a:chOff x="8001000" y="1428750"/>
              <a:chExt cx="3429000" cy="2521744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8001000" y="1428750"/>
                <a:ext cx="3429000" cy="238125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8001000" y="1428750"/>
                <a:ext cx="3429000" cy="1905000"/>
              </a:xfrm>
              <a:prstGeom prst="rect">
                <a:avLst/>
              </a:prstGeom>
              <a:solidFill>
                <a:srgbClr val="2C2C2C">
                  <a:alpha val="5000"/>
                </a:srgbClr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189720" y="1992630"/>
                <a:ext cx="1051560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600" dirty="0">
                    <a:solidFill>
                      <a:srgbClr val="2C2C2C">
                        <a:alphaMod val="10000"/>
                      </a:srgbClr>
                    </a:solidFill>
                    <a:latin typeface="Times New Roman"/>
                    <a:ea typeface="SimSun"/>
                    <a:cs typeface="Times New Roman"/>
                  </a:rPr>
                  <a:t>人物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174355" y="3473768"/>
                <a:ext cx="147447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2C2C2C"/>
                    </a:solidFill>
                    <a:latin typeface="Times New Roman"/>
                    <a:ea typeface="SimSun"/>
                    <a:cs typeface="Times New Roman"/>
                  </a:rPr>
                  <a:t>《韩熙载夜宴图》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79118" y="3752374"/>
                <a:ext cx="82436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B6B"/>
                    </a:solidFill>
                    <a:latin typeface="Segoe UI"/>
                    <a:ea typeface="Microsoft YaHei"/>
                    <a:cs typeface="Segoe UI"/>
                  </a:rPr>
                  <a:t>五代 · 顾闳中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762000" y="4095750"/>
            <a:ext cx="10668000" cy="1428750"/>
            <a:chOff x="762000" y="4095750"/>
            <a:chExt cx="10668000" cy="1428750"/>
          </a:xfrm>
        </p:grpSpPr>
        <p:sp>
          <p:nvSpPr>
            <p:cNvPr id="31" name="Rectangle 31"/>
            <p:cNvSpPr/>
            <p:nvPr/>
          </p:nvSpPr>
          <p:spPr>
            <a:xfrm>
              <a:off x="762000" y="4095750"/>
              <a:ext cx="10668000" cy="1428750"/>
            </a:xfrm>
            <a:prstGeom prst="rect">
              <a:avLst/>
            </a:prstGeom>
            <a:solidFill>
              <a:srgbClr val="2C2C2C">
                <a:alpha val="3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5355" y="43310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C2C2C"/>
                  </a:solidFill>
                  <a:latin typeface="Times New Roman"/>
                  <a:ea typeface="SimSun"/>
                  <a:cs typeface="Times New Roman"/>
                </a:rPr>
                <a:t>当代水墨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952500" y="4572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8B451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9165" y="4744402"/>
              <a:ext cx="33660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4A4A"/>
                  </a:solidFill>
                  <a:latin typeface="Segoe UI"/>
                  <a:ea typeface="Microsoft YaHei"/>
                  <a:cs typeface="Segoe UI"/>
                </a:rPr>
                <a:t>• 吴冠中：将水墨与油画融合，创造独特的点线面美学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9165" y="4982528"/>
              <a:ext cx="30860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4A4A"/>
                  </a:solidFill>
                  <a:latin typeface="Segoe UI"/>
                  <a:ea typeface="Microsoft YaHei"/>
                  <a:cs typeface="Segoe UI"/>
                </a:rPr>
                <a:t>• 赵无极：抽象水墨，将东方意境与西方抽象结合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9165" y="5220652"/>
              <a:ext cx="26660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4A4A"/>
                  </a:solidFill>
                  <a:latin typeface="Segoe UI"/>
                  <a:ea typeface="Microsoft YaHei"/>
                  <a:cs typeface="Segoe UI"/>
                </a:rPr>
                <a:t>• 刘国松：水墨创新，开拓现代水墨新境界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38" name="TextBox 38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8B8B8B"/>
                  </a:solidFill>
                  <a:latin typeface="Times New Roman"/>
                  <a:ea typeface="Times New Roman"/>
                  <a:cs typeface="Times New Roman"/>
                </a:rPr>
                <a:t>07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8B8B8B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F5F0E8"/>
                </a:gs>
                <a:gs pos="100000">
                  <a:srgbClr val="E8DFD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12115800" y="0"/>
              <a:ext cx="76200" cy="68580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27710" y="474345"/>
            <a:ext cx="1939290" cy="735330"/>
            <a:chOff x="727710" y="474345"/>
            <a:chExt cx="1939290" cy="735330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474345"/>
              <a:ext cx="2628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4513"/>
                  </a:solidFill>
                  <a:latin typeface="Times New Roman"/>
                  <a:ea typeface="SimSun"/>
                  <a:cs typeface="Times New Roman"/>
                </a:rPr>
                <a:t>总结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7710" y="661035"/>
              <a:ext cx="18688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2C2C2C"/>
                  </a:solidFill>
                  <a:latin typeface="Times New Roman"/>
                  <a:ea typeface="SimSun"/>
                  <a:cs typeface="Times New Roman"/>
                </a:rPr>
                <a:t>传承与创新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109537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8B4513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62000" y="1428750"/>
            <a:ext cx="5334000" cy="2857500"/>
            <a:chOff x="762000" y="1428750"/>
            <a:chExt cx="5334000" cy="2857500"/>
          </a:xfrm>
        </p:grpSpPr>
        <p:sp>
          <p:nvSpPr>
            <p:cNvPr id="12" name="Rectangle 12"/>
            <p:cNvSpPr/>
            <p:nvPr/>
          </p:nvSpPr>
          <p:spPr>
            <a:xfrm>
              <a:off x="762000" y="1428750"/>
              <a:ext cx="5334000" cy="2857500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450" y="164782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C2C2C"/>
                  </a:solidFill>
                  <a:latin typeface="Times New Roman"/>
                  <a:ea typeface="SimSun"/>
                  <a:cs typeface="Times New Roman"/>
                </a:rPr>
                <a:t>核心要义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952500" y="1905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8B451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165" y="2077402"/>
              <a:ext cx="18258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4A4A"/>
                  </a:solidFill>
                  <a:latin typeface="Segoe UI"/>
                  <a:ea typeface="Microsoft YaHei"/>
                  <a:cs typeface="Segoe UI"/>
                </a:rPr>
                <a:t>• 气韵生动是水墨艺术的灵魂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9165" y="2363152"/>
              <a:ext cx="18258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4A4A"/>
                  </a:solidFill>
                  <a:latin typeface="Segoe UI"/>
                  <a:ea typeface="Microsoft YaHei"/>
                  <a:cs typeface="Segoe UI"/>
                </a:rPr>
                <a:t>• 虚实相生是意境营造的核心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9165" y="2648902"/>
              <a:ext cx="18258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4A4A"/>
                  </a:solidFill>
                  <a:latin typeface="Segoe UI"/>
                  <a:ea typeface="Microsoft YaHei"/>
                  <a:cs typeface="Segoe UI"/>
                </a:rPr>
                <a:t>• 留白之美是东方美学的精髓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9165" y="2934652"/>
              <a:ext cx="1685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4A4A"/>
                  </a:solidFill>
                  <a:latin typeface="Segoe UI"/>
                  <a:ea typeface="Microsoft YaHei"/>
                  <a:cs typeface="Segoe UI"/>
                </a:rPr>
                <a:t>• 笔墨技法是表现力的基础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9165" y="3220402"/>
              <a:ext cx="1965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4A4A"/>
                  </a:solidFill>
                  <a:latin typeface="Segoe UI"/>
                  <a:ea typeface="Microsoft YaHei"/>
                  <a:cs typeface="Segoe UI"/>
                </a:rPr>
                <a:t>• 传统与现代的融合是发展方向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9165" y="3506152"/>
              <a:ext cx="18258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4A4A"/>
                  </a:solidFill>
                  <a:latin typeface="Segoe UI"/>
                  <a:ea typeface="Microsoft YaHei"/>
                  <a:cs typeface="Segoe UI"/>
                </a:rPr>
                <a:t>• 传承与创新并重是时代使命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86500" y="1428750"/>
            <a:ext cx="5143500" cy="2857500"/>
            <a:chOff x="6286500" y="1428750"/>
            <a:chExt cx="5143500" cy="2857500"/>
          </a:xfrm>
        </p:grpSpPr>
        <p:sp>
          <p:nvSpPr>
            <p:cNvPr id="22" name="Rectangle 22"/>
            <p:cNvSpPr/>
            <p:nvPr/>
          </p:nvSpPr>
          <p:spPr>
            <a:xfrm>
              <a:off x="6286500" y="1428750"/>
              <a:ext cx="5143500" cy="2857500"/>
            </a:xfrm>
            <a:prstGeom prst="rect">
              <a:avLst/>
            </a:prstGeom>
            <a:solidFill>
              <a:srgbClr val="2C2C2C">
                <a:alpha val="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57950" y="164782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C2C2C"/>
                  </a:solidFill>
                  <a:latin typeface="Times New Roman"/>
                  <a:ea typeface="SimSun"/>
                  <a:cs typeface="Times New Roman"/>
                </a:rPr>
                <a:t>未来展望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477000" y="1905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8B451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63665" y="207740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4A4A"/>
                  </a:solidFill>
                  <a:latin typeface="Segoe UI"/>
                  <a:ea typeface="Microsoft YaHei"/>
                  <a:cs typeface="Segoe UI"/>
                </a:rPr>
                <a:t>• 数字水墨艺术的发展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3665" y="2363152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4A4A"/>
                  </a:solidFill>
                  <a:latin typeface="Segoe UI"/>
                  <a:ea typeface="Microsoft YaHei"/>
                  <a:cs typeface="Segoe UI"/>
                </a:rPr>
                <a:t>• 水墨美学的国际化传播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3665" y="264890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4A4A"/>
                  </a:solidFill>
                  <a:latin typeface="Segoe UI"/>
                  <a:ea typeface="Microsoft YaHei"/>
                  <a:cs typeface="Segoe UI"/>
                </a:rPr>
                <a:t>• 传统技法的创新应用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3665" y="2934652"/>
              <a:ext cx="1125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4A4A"/>
                  </a:solidFill>
                  <a:latin typeface="Segoe UI"/>
                  <a:ea typeface="Microsoft YaHei"/>
                  <a:cs typeface="Segoe UI"/>
                </a:rPr>
                <a:t>• 跨领域融合设计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3665" y="322040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4A4A"/>
                  </a:solidFill>
                  <a:latin typeface="Segoe UI"/>
                  <a:ea typeface="Microsoft YaHei"/>
                  <a:cs typeface="Segoe UI"/>
                </a:rPr>
                <a:t>• 文化自信与美学复兴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3665" y="350615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4A4A"/>
                  </a:solidFill>
                  <a:latin typeface="Segoe UI"/>
                  <a:ea typeface="Microsoft YaHei"/>
                  <a:cs typeface="Segoe UI"/>
                </a:rPr>
                <a:t>• 新时代的东方美学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2000" y="4572000"/>
            <a:ext cx="10668000" cy="952500"/>
            <a:chOff x="762000" y="4572000"/>
            <a:chExt cx="10668000" cy="952500"/>
          </a:xfrm>
        </p:grpSpPr>
        <p:sp>
          <p:nvSpPr>
            <p:cNvPr id="32" name="Rectangle 32"/>
            <p:cNvSpPr/>
            <p:nvPr/>
          </p:nvSpPr>
          <p:spPr>
            <a:xfrm>
              <a:off x="762000" y="4572000"/>
              <a:ext cx="10668000" cy="952500"/>
            </a:xfrm>
            <a:prstGeom prst="rect">
              <a:avLst/>
            </a:prstGeom>
            <a:solidFill>
              <a:srgbClr val="2C2C2C">
                <a:alpha val="5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21034" y="4853940"/>
              <a:ext cx="174993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C2C2C"/>
                  </a:solidFill>
                  <a:latin typeface="Times New Roman"/>
                  <a:ea typeface="SimSun"/>
                  <a:cs typeface="Times New Roman"/>
                </a:rPr>
                <a:t>"笔墨当随时代"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32621" y="52206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B6B"/>
                  </a:solidFill>
                  <a:latin typeface="Segoe UI"/>
                  <a:ea typeface="Microsoft YaHei"/>
                  <a:cs typeface="Segoe UI"/>
                </a:rPr>
                <a:t>— 清 · 石涛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25000" y="5715000"/>
            <a:ext cx="952500" cy="1114425"/>
            <a:chOff x="9525000" y="5715000"/>
            <a:chExt cx="952500" cy="1114425"/>
          </a:xfrm>
        </p:grpSpPr>
        <p:sp>
          <p:nvSpPr>
            <p:cNvPr id="36" name="Rectangle 36"/>
            <p:cNvSpPr/>
            <p:nvPr/>
          </p:nvSpPr>
          <p:spPr>
            <a:xfrm>
              <a:off x="9525000" y="5715000"/>
              <a:ext cx="952500" cy="952500"/>
            </a:xfrm>
            <a:prstGeom prst="rect">
              <a:avLst/>
            </a:prstGeom>
            <a:solidFill>
              <a:srgbClr val="C41E3A">
                <a:alpha val="8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777936" y="5899785"/>
              <a:ext cx="44662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77936" y="6280785"/>
              <a:ext cx="44662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韵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0" name="TextBox 40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8B8B8B"/>
                  </a:solidFill>
                  <a:latin typeface="Times New Roman"/>
                  <a:ea typeface="Times New Roman"/>
                  <a:cs typeface="Times New Roman"/>
                </a:rPr>
                <a:t>08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8B8B8B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1" grpId="0"/>
      <p:bldP spid="35" grpId="0"/>
      <p:bldP spid="3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2026-06-24T01:52:07Z</dcterms:created>
  <dcterms:modified xsi:type="dcterms:W3CDTF">2026-06-24T01:52:07Z</dcterms:modified>
  <cp:category/>
  <cp:contentStatus/>
</cp:coreProperties>
</file>