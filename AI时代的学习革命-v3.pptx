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11" name="Picture 10" descr="bg_neu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 panose="020B0609020204030204"/>
              </a:defRPr>
            </a:pPr>
            <a:r>
              <a:t>AI 时代的学习革命 · LEARNING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onsolas" panose="020B0609020204030204"/>
              </a:defRPr>
            </a:pPr>
            <a:r>
              <a:t>SS · 2026.06.21 · 01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 panose="020B0609020204030204"/>
              </a:defRPr>
            </a:pPr>
            <a:r>
              <a:t>LEARNING REVOLUTION · 学习革命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AI 时代</a:t>
            </a:r>
            <a:br/>
            <a:r>
              <a:t>学习革命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029200"/>
            <a:ext cx="1005840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当 AI 成为你的学习伙伴，传统学习方式正在被重新定义。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Reasonix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→ swipe / arrow keys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36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350"/>
                      </p:stCondLst>
                      <p:childTnLst>
                        <p:par>
                          <p:cTn id="7" fill="hold">
                            <p:stCondLst>
                              <p:cond delay="3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70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050"/>
                      </p:stCondLst>
                      <p:childTnLst>
                        <p:par>
                          <p:cTn id="17" fill="hold">
                            <p:stCondLst>
                              <p:cond delay="10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400"/>
                      </p:stCondLst>
                      <p:childTnLst>
                        <p:par>
                          <p:cTn id="22" fill="hold">
                            <p:stCondLst>
                              <p:cond delay="14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750"/>
                      </p:stCondLst>
                      <p:childTnLst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2100"/>
                      </p:stCondLst>
                      <p:childTnLst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6" name="Picture 25" descr="data_viz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1100000"/>
            <a:ext cx="3300000" cy="130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数据洞察 · DATA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02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Consolas" panose="020B0609020204030204"/>
              </a:defRPr>
            </a:pPr>
            <a:r>
              <a:t>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225" y="1755775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正在改变学习的每一个维度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2148840"/>
            <a:ext cx="3017520" cy="5029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每一个维度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73%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846320"/>
            <a:ext cx="105156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学习效率提升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3.2×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使用 AI 工具的学生平均学习速度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846320"/>
            <a:ext cx="18288" cy="1828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79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知识留存率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79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间隔重复 + 主动回忆的组合效果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846320"/>
            <a:ext cx="18288" cy="1828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个性化覆盖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AI 可适配的学习场景比例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4846320"/>
            <a:ext cx="18288" cy="18288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时间节省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394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4.7h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5943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每周平均节省的学习时间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91" dur="indefinite" restart="never" nodeType="tmRoot">
          <p:childTnLst>
            <p:seq concurrent="1" nextAc="seek">
              <p:cTn id="92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200"/>
                      </p:stCondLst>
                      <p:childTnLst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400"/>
                      </p:stCondLst>
                      <p:childTnLst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800"/>
                      </p:stCondLst>
                      <p:childTnLst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000"/>
                      </p:stCondLst>
                      <p:childTnLst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1200"/>
                      </p:stCondLst>
                      <p:childTnLst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400"/>
                      </p:stCondLst>
                      <p:childTnLst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1600"/>
                      </p:stCondLst>
                      <p:childTnLst>
                        <p:par>
                          <p:cTn id="42" fill="hold">
                            <p:stCondLst>
                              <p:cond delay="16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800"/>
                      </p:stCondLst>
                      <p:childTnLst>
                        <p:par>
                          <p:cTn id="47" fill="hold">
                            <p:stCondLst>
                              <p:cond delay="180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000"/>
                      </p:stCondLst>
                      <p:childTnLst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200"/>
                      </p:stCondLst>
                      <p:childTnLst>
                        <p:par>
                          <p:cTn id="57" fill="hold">
                            <p:stCondLst>
                              <p:cond delay="2200"/>
                            </p:stCondLst>
                            <p:childTnLst>
                              <p:par>
                                <p:cTn id="5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2400"/>
                      </p:stCondLst>
                      <p:childTnLst>
                        <p:par>
                          <p:cTn id="62" fill="hold">
                            <p:stCondLst>
                              <p:cond delay="2400"/>
                            </p:stCondLst>
                            <p:childTnLst>
                              <p:par>
                                <p:cTn id="6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600"/>
                      </p:stCondLst>
                      <p:childTnLst>
                        <p:par>
                          <p:cTn id="67" fill="hold">
                            <p:stCondLst>
                              <p:cond delay="2600"/>
                            </p:stCondLst>
                            <p:childTnLst>
                              <p:par>
                                <p:cTn id="6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800"/>
                      </p:stCondLst>
                      <p:childTnLst>
                        <p:par>
                          <p:cTn id="72" fill="hold">
                            <p:stCondLst>
                              <p:cond delay="28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3000"/>
                      </p:stCondLst>
                      <p:childTnLst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3200"/>
                      </p:stCondLst>
                      <p:childTnLst>
                        <p:par>
                          <p:cTn id="82" fill="hold">
                            <p:stCondLst>
                              <p:cond delay="3200"/>
                            </p:stCondLst>
                            <p:childTnLst>
                              <p:par>
                                <p:cTn id="8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3400"/>
                      </p:stCondLst>
                      <p:childTnLst>
                        <p:par>
                          <p:cTn id="87" fill="hold">
                            <p:stCondLst>
                              <p:cond delay="3400"/>
                            </p:stCondLst>
                            <p:childTnLst>
                              <p:par>
                                <p:cTn id="8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32" name="Picture 31" descr="card_net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60320"/>
            <a:ext cx="5029200" cy="3840480"/>
          </a:xfrm>
          <a:prstGeom prst="rect">
            <a:avLst/>
          </a:prstGeom>
        </p:spPr>
      </p:pic>
      <p:pic>
        <p:nvPicPr>
          <p:cNvPr id="33" name="Picture 32" descr="trad_learn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00" y="6000000"/>
            <a:ext cx="4900000" cy="750000"/>
          </a:xfrm>
          <a:prstGeom prst="rect">
            <a:avLst/>
          </a:prstGeom>
        </p:spPr>
      </p:pic>
      <p:pic>
        <p:nvPicPr>
          <p:cNvPr id="34" name="Picture 33" descr="ai_learn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000" y="6000000"/>
            <a:ext cx="5200000" cy="75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范式对比 ·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03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OLD vs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两种学习范式的碰撞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4754880" cy="38404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传统学习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Linear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线性进度、统一教材、固定节奏，所有人走同一条路。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4663440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被动接收信息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5029200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考前突击记忆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5394959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反馈周期长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5760720"/>
            <a:ext cx="137160" cy="18288"/>
          </a:xfrm>
          <a:prstGeom prst="rect">
            <a:avLst/>
          </a:prstGeom>
          <a:solidFill>
            <a:srgbClr val="73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千人一面的教学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560320"/>
            <a:ext cx="5029200" cy="3840480"/>
          </a:xfrm>
          <a:prstGeom prst="rect">
            <a:avLst/>
          </a:prstGeom>
          <a:solidFill>
            <a:srgbClr val="002FA7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 panose="020B0609020204030204"/>
              </a:defRPr>
            </a:pPr>
            <a:r>
              <a:t>AI 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Adaptive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自适应路径、实时反馈、个性化节奏，每个人都有专属路线。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663440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4617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主动探索与创造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5029200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间隔重复巩固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5394959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5349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即时智能反馈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5760720"/>
            <a:ext cx="137160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5715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千人千面的体验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101" dur="indefinite" restart="never" nodeType="tmRoot">
          <p:childTnLst>
            <p:seq concurrent="1" nextAc="seek">
              <p:cTn id="102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150"/>
                      </p:stCondLst>
                      <p:childTnLst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300"/>
                      </p:stCondLst>
                      <p:childTnLst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450"/>
                      </p:stCondLst>
                      <p:childTnLst>
                        <p:par>
                          <p:cTn id="17" fill="hold">
                            <p:stCondLst>
                              <p:cond delay="4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600"/>
                      </p:stCondLst>
                      <p:childTnLst>
                        <p:par>
                          <p:cTn id="22" fill="hold">
                            <p:stCondLst>
                              <p:cond delay="6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750"/>
                      </p:stCondLst>
                      <p:childTnLst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900"/>
                      </p:stCondLst>
                      <p:childTnLst>
                        <p:par>
                          <p:cTn id="32" fill="hold">
                            <p:stCondLst>
                              <p:cond delay="9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050"/>
                      </p:stCondLst>
                      <p:childTnLst>
                        <p:par>
                          <p:cTn id="37" fill="hold">
                            <p:stCondLst>
                              <p:cond delay="10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1200"/>
                      </p:stCondLst>
                      <p:childTnLst>
                        <p:par>
                          <p:cTn id="42" fill="hold">
                            <p:stCondLst>
                              <p:cond delay="12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350"/>
                      </p:stCondLst>
                      <p:childTnLst>
                        <p:par>
                          <p:cTn id="47" fill="hold">
                            <p:stCondLst>
                              <p:cond delay="135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500"/>
                      </p:stCondLst>
                      <p:childTnLst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1650"/>
                      </p:stCondLst>
                      <p:childTnLst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2100"/>
                      </p:stCondLst>
                      <p:childTnLst>
                        <p:par>
                          <p:cTn id="62" fill="hold">
                            <p:stCondLst>
                              <p:cond delay="21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250"/>
                      </p:stCondLst>
                      <p:childTnLst>
                        <p:par>
                          <p:cTn id="67" fill="hold">
                            <p:stCondLst>
                              <p:cond delay="225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400"/>
                      </p:stCondLst>
                      <p:childTnLst>
                        <p:par>
                          <p:cTn id="72" fill="hold">
                            <p:stCondLst>
                              <p:cond delay="24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2550"/>
                      </p:stCondLst>
                      <p:childTnLst>
                        <p:par>
                          <p:cTn id="77" fill="hold">
                            <p:stCondLst>
                              <p:cond delay="255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2700"/>
                      </p:stCondLst>
                      <p:childTnLst>
                        <p:par>
                          <p:cTn id="82" fill="hold">
                            <p:stCondLst>
                              <p:cond delay="27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2850"/>
                      </p:stCondLst>
                      <p:childTnLst>
                        <p:par>
                          <p:cTn id="87" fill="hold">
                            <p:stCondLst>
                              <p:cond delay="285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3000"/>
                      </p:stCondLst>
                      <p:childTnLst>
                        <p:par>
                          <p:cTn id="92" fill="hold">
                            <p:stCondLst>
                              <p:cond delay="30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3150"/>
                      </p:stCondLst>
                      <p:childTnLst>
                        <p:par>
                          <p:cTn id="97" fill="hold">
                            <p:stCondLst>
                              <p:cond delay="315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33" name="Picture 32" descr="card_creat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754880"/>
            <a:ext cx="3291840" cy="1828800"/>
          </a:xfrm>
          <a:prstGeom prst="rect">
            <a:avLst/>
          </a:prstGeom>
        </p:spPr>
      </p:pic>
      <p:pic>
        <p:nvPicPr>
          <p:cNvPr id="34" name="Picture 33" descr="skill_ques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840" y="2803200"/>
            <a:ext cx="750000" cy="550000"/>
          </a:xfrm>
          <a:prstGeom prst="rect">
            <a:avLst/>
          </a:prstGeom>
        </p:spPr>
      </p:pic>
      <p:pic>
        <p:nvPicPr>
          <p:cNvPr id="35" name="Picture 34" descr="skill_fil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960" y="2803200"/>
            <a:ext cx="750000" cy="550000"/>
          </a:xfrm>
          <a:prstGeom prst="rect">
            <a:avLst/>
          </a:prstGeom>
        </p:spPr>
      </p:pic>
      <p:pic>
        <p:nvPicPr>
          <p:cNvPr id="36" name="Picture 35" descr="skill_connec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8560" y="2803200"/>
            <a:ext cx="750000" cy="550000"/>
          </a:xfrm>
          <a:prstGeom prst="rect">
            <a:avLst/>
          </a:prstGeom>
        </p:spPr>
      </p:pic>
      <p:pic>
        <p:nvPicPr>
          <p:cNvPr id="37" name="Picture 36" descr="skill_dialogu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3360" y="4814880"/>
            <a:ext cx="750000" cy="550000"/>
          </a:xfrm>
          <a:prstGeom prst="rect">
            <a:avLst/>
          </a:prstGeom>
        </p:spPr>
      </p:pic>
      <p:pic>
        <p:nvPicPr>
          <p:cNvPr id="38" name="Picture 37" descr="skill_jud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0960" y="4814880"/>
            <a:ext cx="750000" cy="550000"/>
          </a:xfrm>
          <a:prstGeom prst="rect">
            <a:avLst/>
          </a:prstGeom>
        </p:spPr>
      </p:pic>
      <p:pic>
        <p:nvPicPr>
          <p:cNvPr id="39" name="Picture 38" descr="skill_actio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8560" y="4814880"/>
            <a:ext cx="750000" cy="55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核心能力 · CORE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04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Consolas" panose="020B0609020204030204"/>
              </a:defRPr>
            </a:pPr>
            <a:r>
              <a:t>SIX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时代学习者的六大能力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提问力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学会向 AI 提出精准的问题，比答案更重要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74320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筛选力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29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在信息洪流中辨别真伪，提取核心价值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74320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834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63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整合力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跨学科连接知识碎片，构建自己的认知框架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对话力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与 AI 高效协作，把 AI 当作思维伙伴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754880"/>
            <a:ext cx="329184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判断力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保持独立思考，不被 AI 输出绑架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754880"/>
            <a:ext cx="3291840" cy="1828800"/>
          </a:xfrm>
          <a:prstGeom prst="rect">
            <a:avLst/>
          </a:prstGeom>
          <a:solidFill>
            <a:srgbClr val="002FA7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4846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行动力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学以致用，把知识转化为实际成果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074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行动力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40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学以致用，把知识转化为实际成果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21" dur="indefinite" restart="never" nodeType="tmRoot">
          <p:childTnLst>
            <p:seq concurrent="1" nextAc="seek">
              <p:cTn id="122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250"/>
                      </p:stCondLst>
                      <p:childTnLst>
                        <p:par>
                          <p:cTn id="7" fill="hold">
                            <p:stCondLst>
                              <p:cond delay="250"/>
                            </p:stCondLst>
                            <p:childTnLst>
                              <p:par>
                                <p:cTn id="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500"/>
                      </p:stCondLst>
                      <p:childTnLst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750"/>
                      </p:stCondLst>
                      <p:childTnLst>
                        <p:par>
                          <p:cTn id="17" fill="hold">
                            <p:stCondLst>
                              <p:cond delay="75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000"/>
                      </p:stCondLst>
                      <p:childTnLst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250"/>
                      </p:stCondLst>
                      <p:childTnLst>
                        <p:par>
                          <p:cTn id="27" fill="hold">
                            <p:stCondLst>
                              <p:cond delay="125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1500"/>
                      </p:stCondLst>
                      <p:childTnLst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750"/>
                      </p:stCondLst>
                      <p:childTnLst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2000"/>
                      </p:stCondLst>
                      <p:childTnLst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2250"/>
                      </p:stCondLst>
                      <p:childTnLst>
                        <p:par>
                          <p:cTn id="47" fill="hold">
                            <p:stCondLst>
                              <p:cond delay="2250"/>
                            </p:stCondLst>
                            <p:childTnLst>
                              <p:par>
                                <p:cTn id="4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2500"/>
                      </p:stCondLst>
                      <p:childTnLst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2750"/>
                      </p:stCondLst>
                      <p:childTnLst>
                        <p:par>
                          <p:cTn id="57" fill="hold">
                            <p:stCondLst>
                              <p:cond delay="2750"/>
                            </p:stCondLst>
                            <p:childTnLst>
                              <p:par>
                                <p:cTn id="5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3000"/>
                      </p:stCondLst>
                      <p:childTnLst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3250"/>
                      </p:stCondLst>
                      <p:childTnLst>
                        <p:par>
                          <p:cTn id="67" fill="hold">
                            <p:stCondLst>
                              <p:cond delay="325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3500"/>
                      </p:stCondLst>
                      <p:childTnLst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3750"/>
                      </p:stCondLst>
                      <p:childTnLst>
                        <p:par>
                          <p:cTn id="77" fill="hold">
                            <p:stCondLst>
                              <p:cond delay="3750"/>
                            </p:stCondLst>
                            <p:childTnLst>
                              <p:par>
                                <p:cTn id="7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4000"/>
                      </p:stCondLst>
                      <p:childTnLst>
                        <p:par>
                          <p:cTn id="82" fill="hold">
                            <p:stCondLst>
                              <p:cond delay="4000"/>
                            </p:stCondLst>
                            <p:childTnLst>
                              <p:par>
                                <p:cTn id="8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4250"/>
                      </p:stCondLst>
                      <p:childTnLst>
                        <p:par>
                          <p:cTn id="87" fill="hold">
                            <p:stCondLst>
                              <p:cond delay="4250"/>
                            </p:stCondLst>
                            <p:childTnLst>
                              <p:par>
                                <p:cTn id="8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4500"/>
                      </p:stCondLst>
                      <p:childTnLst>
                        <p:par>
                          <p:cTn id="92" fill="hold">
                            <p:stCondLst>
                              <p:cond delay="4500"/>
                            </p:stCondLst>
                            <p:childTnLst>
                              <p:par>
                                <p:cTn id="9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4750"/>
                      </p:stCondLst>
                      <p:childTnLst>
                        <p:par>
                          <p:cTn id="97" fill="hold">
                            <p:stCondLst>
                              <p:cond delay="4750"/>
                            </p:stCondLst>
                            <p:childTnLst>
                              <p:par>
                                <p:cTn id="9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5000"/>
                      </p:stCondLst>
                      <p:childTnLst>
                        <p:par>
                          <p:cTn id="102" fill="hold">
                            <p:stCondLst>
                              <p:cond delay="5000"/>
                            </p:stCondLst>
                            <p:childTnLst>
                              <p:par>
                                <p:cTn id="10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5250"/>
                      </p:stCondLst>
                      <p:childTnLst>
                        <p:par>
                          <p:cTn id="107" fill="hold">
                            <p:stCondLst>
                              <p:cond delay="5250"/>
                            </p:stCondLst>
                            <p:childTnLst>
                              <p:par>
                                <p:cTn id="10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5500"/>
                      </p:stCondLst>
                      <p:childTnLst>
                        <p:par>
                          <p:cTn id="112" fill="hold">
                            <p:stCondLst>
                              <p:cond delay="5500"/>
                            </p:stCondLst>
                            <p:childTnLst>
                              <p:par>
                                <p:cTn id="1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5750"/>
                      </p:stCondLst>
                      <p:childTnLst>
                        <p:par>
                          <p:cTn id="117" fill="hold">
                            <p:stCondLst>
                              <p:cond delay="5750"/>
                            </p:stCondLst>
                            <p:childTnLst>
                              <p:par>
                                <p:cTn id="1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34" name="Picture 33" descr="method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00" y="5120640"/>
            <a:ext cx="1500000" cy="10972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方法论 ·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05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THE 5-STEP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增强学习五步循环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定义目标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用 AI 拆解学习目标</a:t>
            </a:r>
            <a:br/>
            <a:r>
              <a:t>为可执行的小任务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主动探索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让 AI 生成学习路径</a:t>
            </a:r>
            <a:br/>
            <a:r>
              <a:t>和资源推荐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深度理解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用费曼学习法</a:t>
            </a:r>
            <a:br/>
            <a:r>
              <a:t>让 AI 扮演学生听你讲解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实践验证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在真实场景中应用</a:t>
            </a:r>
            <a:br/>
            <a:r>
              <a:t>用 AI 做即时反馈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560320"/>
            <a:ext cx="201168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4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Consolas" panose="020B0609020204030204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间隔复习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47472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AI 自动生成复习计划</a:t>
            </a:r>
            <a:br/>
            <a:r>
              <a:t>按遗忘曲线巩固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029200"/>
            <a:ext cx="10515600" cy="457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关键洞察：AI 不是替代你学习，而是放大你的学习能力。每个步骤中，AI 是工具，你才是主导。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push dir="r"/>
      </p:transition>
    </mc:Choice>
    <mc:Fallback>
      <p:transition>
        <p:push dir="r"/>
      </p:transition>
    </mc:Fallback>
  </mc:AlternateContent>
  <p:timing>
    <p:tnLst>
      <p:par>
        <p:cTn id="121" dur="indefinite" restart="never" nodeType="tmRoot">
          <p:childTnLst>
            <p:seq concurrent="1" nextAc="seek">
              <p:cTn id="122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200"/>
                      </p:stCondLst>
                      <p:childTnLst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400"/>
                      </p:stCondLst>
                      <p:childTnLst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800"/>
                      </p:stCondLst>
                      <p:childTnLst>
                        <p:par>
                          <p:cTn id="22" fill="hold">
                            <p:stCondLst>
                              <p:cond delay="8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000"/>
                      </p:stCondLst>
                      <p:childTnLst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1200"/>
                      </p:stCondLst>
                      <p:childTnLst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400"/>
                      </p:stCondLst>
                      <p:childTnLst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1600"/>
                      </p:stCondLst>
                      <p:childTnLst>
                        <p:par>
                          <p:cTn id="42" fill="hold">
                            <p:stCondLst>
                              <p:cond delay="1600"/>
                            </p:stCondLst>
                            <p:childTnLst>
                              <p:par>
                                <p:cTn id="4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700"/>
                      </p:stCondLst>
                      <p:childTnLst>
                        <p:par>
                          <p:cTn id="47" fill="hold">
                            <p:stCondLst>
                              <p:cond delay="1700"/>
                            </p:stCondLst>
                            <p:childTnLst>
                              <p:par>
                                <p:cTn id="4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800"/>
                      </p:stCondLst>
                      <p:childTnLst>
                        <p:par>
                          <p:cTn id="52" fill="hold">
                            <p:stCondLst>
                              <p:cond delay="1800"/>
                            </p:stCondLst>
                            <p:childTnLst>
                              <p:par>
                                <p:cTn id="5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1900"/>
                      </p:stCondLst>
                      <p:childTnLst>
                        <p:par>
                          <p:cTn id="57" fill="hold">
                            <p:stCondLst>
                              <p:cond delay="1900"/>
                            </p:stCondLst>
                            <p:childTnLst>
                              <p:par>
                                <p:cTn id="5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2000"/>
                      </p:stCondLst>
                      <p:childTnLst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100"/>
                      </p:stCondLst>
                      <p:childTnLst>
                        <p:par>
                          <p:cTn id="67" fill="hold">
                            <p:stCondLst>
                              <p:cond delay="2100"/>
                            </p:stCondLst>
                            <p:childTnLst>
                              <p:par>
                                <p:cTn id="6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200"/>
                      </p:stCondLst>
                      <p:childTnLst>
                        <p:par>
                          <p:cTn id="72" fill="hold">
                            <p:stCondLst>
                              <p:cond delay="2200"/>
                            </p:stCondLst>
                            <p:childTnLst>
                              <p:par>
                                <p:cTn id="7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2300"/>
                      </p:stCondLst>
                      <p:childTnLst>
                        <p:par>
                          <p:cTn id="77" fill="hold">
                            <p:stCondLst>
                              <p:cond delay="2300"/>
                            </p:stCondLst>
                            <p:childTnLst>
                              <p:par>
                                <p:cTn id="7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2400"/>
                      </p:stCondLst>
                      <p:childTnLst>
                        <p:par>
                          <p:cTn id="82" fill="hold">
                            <p:stCondLst>
                              <p:cond delay="2400"/>
                            </p:stCondLst>
                            <p:childTnLst>
                              <p:par>
                                <p:cTn id="8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2500"/>
                      </p:stCondLst>
                      <p:childTnLst>
                        <p:par>
                          <p:cTn id="87" fill="hold">
                            <p:stCondLst>
                              <p:cond delay="2500"/>
                            </p:stCondLst>
                            <p:childTnLst>
                              <p:par>
                                <p:cTn id="8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2600"/>
                      </p:stCondLst>
                      <p:childTnLst>
                        <p:par>
                          <p:cTn id="92" fill="hold">
                            <p:stCondLst>
                              <p:cond delay="2600"/>
                            </p:stCondLst>
                            <p:childTnLst>
                              <p:par>
                                <p:cTn id="9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2700"/>
                      </p:stCondLst>
                      <p:childTnLst>
                        <p:par>
                          <p:cTn id="97" fill="hold">
                            <p:stCondLst>
                              <p:cond delay="2700"/>
                            </p:stCondLst>
                            <p:childTnLst>
                              <p:par>
                                <p:cTn id="9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2800"/>
                      </p:stCondLst>
                      <p:childTnLst>
                        <p:par>
                          <p:cTn id="102" fill="hold">
                            <p:stCondLst>
                              <p:cond delay="2800"/>
                            </p:stCondLst>
                            <p:childTnLst>
                              <p:par>
                                <p:cTn id="10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2900"/>
                      </p:stCondLst>
                      <p:childTnLst>
                        <p:par>
                          <p:cTn id="107" fill="hold">
                            <p:stCondLst>
                              <p:cond delay="2900"/>
                            </p:stCondLst>
                            <p:childTnLst>
                              <p:par>
                                <p:cTn id="10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3000"/>
                      </p:stCondLst>
                      <p:childTnLst>
                        <p:par>
                          <p:cTn id="1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3100"/>
                      </p:stCondLst>
                      <p:childTnLst>
                        <p:par>
                          <p:cTn id="117" fill="hold">
                            <p:stCondLst>
                              <p:cond delay="3100"/>
                            </p:stCondLst>
                            <p:childTnLst>
                              <p:par>
                                <p:cTn id="1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工具效率 · TOOL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06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2FA7"/>
                </a:solidFill>
                <a:latin typeface="Consolas" panose="020B0609020204030204"/>
              </a:defRPr>
            </a:pPr>
            <a:r>
              <a:t>EFFICIENCY 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AI 学习工具效率提升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智能笔记整理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97180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0" y="2971800"/>
            <a:ext cx="5440680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926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个性化题目生成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0" y="361188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3611880"/>
            <a:ext cx="5888736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知识图谱构建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4251959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40480" y="4251959"/>
            <a:ext cx="4992624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78%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写作辅助优化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489204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0" y="4892040"/>
            <a:ext cx="5632704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0" y="4846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88%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多语言翻译学习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5532120"/>
            <a:ext cx="6400800" cy="274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0" y="5532120"/>
            <a:ext cx="6080760" cy="274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0" y="5486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95%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26480"/>
            <a:ext cx="10515600" cy="4572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数据来源：2026 年全球 AI 教育应用调研报告 · 覆盖 50 万+ 学习者样本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76" dur="indefinite" restart="never" nodeType="tmRoot">
          <p:childTnLst>
            <p:seq concurrent="1" nextAc="seek">
              <p:cTn id="77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200"/>
                      </p:stCondLst>
                      <p:childTnLst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400"/>
                      </p:stCondLst>
                      <p:childTnLst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600"/>
                      </p:stCondLst>
                      <p:childTnLst>
                        <p:par>
                          <p:cTn id="17" fill="hold">
                            <p:stCondLst>
                              <p:cond delay="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900"/>
                      </p:stCondLst>
                      <p:childTnLst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1050"/>
                      </p:stCondLst>
                      <p:childTnLst>
                        <p:par>
                          <p:cTn id="27" fill="hold">
                            <p:stCondLst>
                              <p:cond delay="10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1200"/>
                      </p:stCondLst>
                      <p:childTnLst>
                        <p:par>
                          <p:cTn id="32" fill="hold">
                            <p:stCondLst>
                              <p:cond delay="12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1350"/>
                      </p:stCondLst>
                      <p:childTnLst>
                        <p:par>
                          <p:cTn id="37" fill="hold">
                            <p:stCondLst>
                              <p:cond delay="135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1500"/>
                      </p:stCondLst>
                      <p:childTnLst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1650"/>
                      </p:stCondLst>
                      <p:childTnLst>
                        <p:par>
                          <p:cTn id="47" fill="hold">
                            <p:stCondLst>
                              <p:cond delay="165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1800"/>
                      </p:stCondLst>
                      <p:childTnLst>
                        <p:par>
                          <p:cTn id="52" fill="hold">
                            <p:stCondLst>
                              <p:cond delay="18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1950"/>
                      </p:stCondLst>
                      <p:childTnLst>
                        <p:par>
                          <p:cTn id="57" fill="hold">
                            <p:stCondLst>
                              <p:cond delay="195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2100"/>
                      </p:stCondLst>
                      <p:childTnLst>
                        <p:par>
                          <p:cTn id="62" fill="hold">
                            <p:stCondLst>
                              <p:cond delay="21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2250"/>
                      </p:stCondLst>
                      <p:childTnLst>
                        <p:par>
                          <p:cTn id="67" fill="hold">
                            <p:stCondLst>
                              <p:cond delay="225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2400"/>
                      </p:stCondLst>
                      <p:childTnLst>
                        <p:par>
                          <p:cTn id="72" fill="hold">
                            <p:stCondLst>
                              <p:cond delay="240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11" name="Picture 10" descr="bg_b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2" name="Picture 11" descr="manife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000" y="0"/>
            <a:ext cx="5691365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Consolas" panose="020B0609020204030204"/>
              </a:defRPr>
            </a:pPr>
            <a:r>
              <a:t>宣言 · MANIFESTO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 panose="020B0609020204030204"/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onsolas" panose="020B0609020204030204"/>
              </a:defRPr>
            </a:pPr>
            <a:r>
              <a:t>THE FUTURE IS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不要问 AI 能</a:t>
            </a:r>
            <a:br/>
            <a:r>
              <a:t>为你学什么</a:t>
            </a:r>
            <a:br/>
            <a:r>
              <a:t>要问你想成为谁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03520"/>
            <a:ext cx="1005840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AAAAA"/>
                </a:solidFill>
                <a:latin typeface="Microsoft YaHei UI" panose="020B0503020204020204" charset="-122"/>
              </a:defRPr>
            </a:pPr>
            <a:r>
              <a:t>AI 是镜子，映照出你的学习意愿。工具再强大，也替代不了你的好奇心和行动力。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Consolas" panose="020B0609020204030204"/>
              </a:defRPr>
            </a:pPr>
            <a:r>
              <a:t>Reasonix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17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Consolas" panose="020B0609020204030204"/>
              </a:defRPr>
            </a:pPr>
            <a:r>
              <a:t>MANIFESTO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600">
        <p:fade/>
      </p:transition>
    </mc:Choice>
    <mc:Fallback>
      <p:transition>
        <p:fade/>
      </p:transition>
    </mc:Fallback>
  </mc:AlternateContent>
  <p:timing>
    <p:tnLst>
      <p:par>
        <p:cTn id="36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500"/>
                      </p:stCondLst>
                      <p:childTnLst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1000"/>
                      </p:stCondLst>
                      <p:childTnLst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500"/>
                      </p:stCondLst>
                      <p:childTnLst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2000"/>
                      </p:stCondLst>
                      <p:childTnLst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500"/>
                      </p:stCondLst>
                      <p:childTnLst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3000"/>
                      </p:stCondLst>
                      <p:childTnLst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transition spd="med" advClick="1">
    <p:fade/>
  </p:transition>
  <p:cSld>
    <p:spTree>
      <p:nvGrpSpPr>
        <p:cNvPr id="1" name=""/>
        <p:cNvGrpSpPr/>
        <p:nvPr/>
      </p:nvGrpSpPr>
      <p:grpSpPr/>
      <p:pic>
        <p:nvPicPr>
          <p:cNvPr id="28" name="Picture 27" descr="bg_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6304" cy="6858000"/>
          </a:xfrm>
          <a:prstGeom prst="rect">
            <a:avLst/>
          </a:prstGeom>
        </p:spPr>
      </p:pic>
      <p:pic>
        <p:nvPicPr>
          <p:cNvPr id="29" name="Picture 28" descr="clos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000" y="0"/>
            <a:ext cx="6600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02FA7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08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 panose="020B0609020204030204"/>
              </a:defRPr>
            </a:pPr>
            <a:r>
              <a:t>MANIFESTO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 UI" panose="020B0503020204020204" charset="-122"/>
              </a:defRPr>
            </a:pPr>
            <a:r>
              <a:t>Start learning.</a:t>
            </a:r>
            <a:br/>
            <a:r>
              <a:t>Start now.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3110" y="5313045"/>
            <a:ext cx="4590415" cy="4476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300" b="0">
                <a:solidFill>
                  <a:srgbClr val="DDDDDD"/>
                </a:solidFill>
                <a:latin typeface="Microsoft YaHei UI" panose="020B0503020204020204" charset="-122"/>
              </a:defRPr>
            </a:pPr>
            <a:r>
              <a:t>从今天开始，让 AI 成为你的学习伙伴，而不是拐杖。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4572000" cy="18288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Reasonix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Consolas" panose="020B0609020204030204"/>
              </a:defRPr>
            </a:pPr>
            <a:r>
              <a:t>2026.06.21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304" y="0"/>
            <a:ext cx="6095390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  <a:latin typeface="Consolas" panose="020B0609020204030204"/>
              </a:defRPr>
            </a:pPr>
            <a:r>
              <a:t>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7315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03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645920"/>
            <a:ext cx="45720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1783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拥抱 AI，但保持独立思考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2402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AI 是工具不是答案，批判性思维永远是核心竞争力。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0" y="3200400"/>
            <a:ext cx="45720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  <a:latin typeface="Microsoft YaHei UI" panose="020B0503020204020204" charset="-122"/>
              </a:defRPr>
            </a:pPr>
            <a:r>
              <a:t>学以致用，知行合一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7947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知识只有在实践中才能真正内化为能力。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4754880"/>
            <a:ext cx="45720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 UI" panose="020B0503020204020204" charset="-122"/>
              </a:defRPr>
            </a:pPr>
            <a:r>
              <a:t>持续进化，终身学习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349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  <a:latin typeface="Microsoft YaHei UI" panose="020B0503020204020204" charset="-122"/>
              </a:defRPr>
            </a:pPr>
            <a:r>
              <a:t>在 AI 时代，唯一不变的就是变化本身。保持好奇心，永远在路上。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5943600"/>
            <a:ext cx="4572000" cy="36576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Consolas" panose="020B0609020204030204"/>
              </a:defRPr>
            </a:pPr>
            <a:r>
              <a:t>→ 完 · END OF DECK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wipe dir="r"/>
      </p:transition>
    </mc:Choice>
    <mc:Fallback>
      <p:transition>
        <p:wipe dir="r"/>
      </p:transition>
    </mc:Fallback>
  </mc:AlternateContent>
  <p:timing>
    <p:tnLst>
      <p:par>
        <p:cTn id="96" dur="indefinite" restart="never" nodeType="tmRoot">
          <p:childTnLst>
            <p:seq concurrent="1" nextAc="seek">
              <p:cTn id="97" dur="indefinite" nodeType="mainSeq">
                <p:childTnLst>
                  <p:par>
                    <p:cTn id="1" fill="hold">
                      <p:stCondLst>
                        <p:cond delay="0"/>
                      </p:stCondLst>
                      <p:childTnLst>
                        <p:par>
                          <p:cTn id="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400"/>
                      </p:stCondLst>
                      <p:childTnLst>
                        <p:par>
                          <p:cTn id="7" fill="hold">
                            <p:stCondLst>
                              <p:cond delay="40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800"/>
                      </p:stCondLst>
                      <p:childTnLst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1200"/>
                      </p:stCondLst>
                      <p:childTnLst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600"/>
                      </p:stCondLst>
                      <p:childTnLst>
                        <p:par>
                          <p:cTn id="22" fill="hold">
                            <p:stCondLst>
                              <p:cond delay="16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2000"/>
                      </p:stCondLst>
                      <p:childTnLst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2400"/>
                      </p:stCondLst>
                      <p:childTnLst>
                        <p:par>
                          <p:cTn id="32" fill="hold">
                            <p:stCondLst>
                              <p:cond delay="24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3100"/>
                      </p:stCondLst>
                      <p:childTnLst>
                        <p:par>
                          <p:cTn id="37" fill="hold">
                            <p:stCondLst>
                              <p:cond delay="31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3300"/>
                      </p:stCondLst>
                      <p:childTnLst>
                        <p:par>
                          <p:cTn id="42" fill="hold">
                            <p:stCondLst>
                              <p:cond delay="33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3500"/>
                      </p:stCondLst>
                      <p:childTnLst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3700"/>
                      </p:stCondLst>
                      <p:childTnLst>
                        <p:par>
                          <p:cTn id="52" fill="hold">
                            <p:stCondLst>
                              <p:cond delay="37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3900"/>
                      </p:stCondLst>
                      <p:childTnLst>
                        <p:par>
                          <p:cTn id="57" fill="hold">
                            <p:stCondLst>
                              <p:cond delay="39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4100"/>
                      </p:stCondLst>
                      <p:childTnLst>
                        <p:par>
                          <p:cTn id="62" fill="hold">
                            <p:stCondLst>
                              <p:cond delay="41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4300"/>
                      </p:stCondLst>
                      <p:childTnLst>
                        <p:par>
                          <p:cTn id="67" fill="hold">
                            <p:stCondLst>
                              <p:cond delay="43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4500"/>
                      </p:stCondLst>
                      <p:childTnLst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4700"/>
                      </p:stCondLst>
                      <p:childTnLst>
                        <p:par>
                          <p:cTn id="77" fill="hold">
                            <p:stCondLst>
                              <p:cond delay="47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4900"/>
                      </p:stCondLst>
                      <p:childTnLst>
                        <p:par>
                          <p:cTn id="82" fill="hold">
                            <p:stCondLst>
                              <p:cond delay="49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5100"/>
                      </p:stCondLst>
                      <p:childTnLst>
                        <p:par>
                          <p:cTn id="87" fill="hold">
                            <p:stCondLst>
                              <p:cond delay="51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5300"/>
                      </p:stCondLst>
                      <p:childTnLst>
                        <p:par>
                          <p:cTn id="92" fill="hold">
                            <p:stCondLst>
                              <p:cond delay="5300"/>
                            </p:stCondLst>
                            <p:childTnLst>
                              <p:par>
                                <p:cTn id="9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WPS 演示</Application>
  <PresentationFormat>On-screen Show (4:3)</PresentationFormat>
  <Paragraphs>268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宋体</vt:lpstr>
      <vt:lpstr>Wingdings</vt:lpstr>
      <vt:lpstr>Arial</vt:lpstr>
      <vt:lpstr>Consolas</vt:lpstr>
      <vt:lpstr>Microsoft YaHei UI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林文昊</cp:lastModifiedBy>
  <cp:revision>2</cp:revision>
  <dcterms:created xsi:type="dcterms:W3CDTF">2013-01-27T09:14:00Z</dcterms:created>
  <dcterms:modified xsi:type="dcterms:W3CDTF">2026-06-22T13:52:43Z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B6DC3DCFD5084299B19EA0AC4DA357BE_12</vt:lpwstr>
  </property>
  <property fmtid="{D5CDD505-2E9C-101B-9397-08002B2CF9AE}" pid="3" name="KSOProductBuildVer">
    <vt:lpwstr>2052-12.1.0.26895</vt:lpwstr>
  </property>
</Properties>
</file>