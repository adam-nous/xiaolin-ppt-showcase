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365D"/>
                </a:gs>
                <a:gs pos="100000">
                  <a:srgbClr val="0F1F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9618" y="1143000"/>
            <a:ext cx="1465020" cy="473869"/>
            <a:chOff x="749618" y="1143000"/>
            <a:chExt cx="1465020" cy="473869"/>
          </a:xfrm>
        </p:grpSpPr>
        <p:sp>
          <p:nvSpPr>
            <p:cNvPr id="10" name="Rectangle 10"/>
            <p:cNvSpPr/>
            <p:nvPr/>
          </p:nvSpPr>
          <p:spPr>
            <a:xfrm>
              <a:off x="762000" y="1143000"/>
              <a:ext cx="762000" cy="381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618" y="1418749"/>
              <a:ext cx="1465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TECHNICAL · BLUEPRINT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1040" y="2529840"/>
            <a:ext cx="4389653" cy="2385060"/>
            <a:chOff x="701040" y="2529840"/>
            <a:chExt cx="4389653" cy="2385060"/>
          </a:xfrm>
        </p:grpSpPr>
        <p:sp>
          <p:nvSpPr>
            <p:cNvPr id="13" name="TextBox 13"/>
            <p:cNvSpPr txBox="1"/>
            <p:nvPr/>
          </p:nvSpPr>
          <p:spPr>
            <a:xfrm>
              <a:off x="701040" y="2529840"/>
              <a:ext cx="247421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System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1040" y="3234690"/>
              <a:ext cx="4389653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Architecture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1040" y="3939540"/>
              <a:ext cx="217177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Design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4855" y="4857750"/>
            <a:ext cx="2014538" cy="671512"/>
            <a:chOff x="744855" y="4857750"/>
            <a:chExt cx="2014538" cy="671512"/>
          </a:xfrm>
        </p:grpSpPr>
        <p:sp>
          <p:nvSpPr>
            <p:cNvPr id="17" name="Line 17"/>
            <p:cNvSpPr/>
            <p:nvPr/>
          </p:nvSpPr>
          <p:spPr>
            <a:xfrm>
              <a:off x="762000" y="48577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4288">
              <a:solidFill>
                <a:srgbClr val="3182C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4855" y="49977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0C4E8"/>
                  </a:solidFill>
                  <a:latin typeface="Arial"/>
                  <a:ea typeface="Microsoft YaHei"/>
                  <a:cs typeface="Arial"/>
                </a:rPr>
                <a:t>技术架构设计与实现方案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531590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9CC0"/>
                  </a:solidFill>
                  <a:latin typeface="Arial"/>
                  <a:ea typeface="Microsoft YaHei"/>
                  <a:cs typeface="Arial"/>
                </a:rPr>
                <a:t>2026 年度技术评审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5715000"/>
            <a:ext cx="3268028" cy="585788"/>
            <a:chOff x="762000" y="5715000"/>
            <a:chExt cx="3268028" cy="585788"/>
          </a:xfrm>
        </p:grpSpPr>
        <p:sp>
          <p:nvSpPr>
            <p:cNvPr id="21" name="Rectangle 21"/>
            <p:cNvSpPr/>
            <p:nvPr/>
          </p:nvSpPr>
          <p:spPr>
            <a:xfrm>
              <a:off x="762000" y="5715000"/>
              <a:ext cx="57150" cy="5334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165" y="5811202"/>
              <a:ext cx="1033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KEY OBJECTIVE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5355" y="60264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构建高性能、可扩展的分布式系统架构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25" name="TextBox 25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5A7AA0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5A7AA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0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7FAFC"/>
                </a:gs>
                <a:gs pos="100000">
                  <a:srgbClr val="EDF2F7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50570" y="664845"/>
            <a:ext cx="1916430" cy="201930"/>
            <a:chOff x="750570" y="664845"/>
            <a:chExt cx="1916430" cy="201930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664845"/>
              <a:ext cx="1188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TABLE OF CONTENTS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857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3182CE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762000" y="1333500"/>
            <a:ext cx="2480310" cy="3807619"/>
            <a:chOff x="762000" y="1333500"/>
            <a:chExt cx="2480310" cy="3807619"/>
          </a:xfrm>
        </p:grpSpPr>
        <p:grpSp>
          <p:nvGrpSpPr>
            <p:cNvPr id="12" name="Group 12"/>
            <p:cNvGrpSpPr/>
            <p:nvPr/>
          </p:nvGrpSpPr>
          <p:grpSpPr>
            <a:xfrm>
              <a:off x="762000" y="1333500"/>
              <a:ext cx="2480310" cy="473869"/>
              <a:chOff x="762000" y="1333500"/>
              <a:chExt cx="2480310" cy="473869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333500"/>
                <a:ext cx="4572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829123" y="142494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90650" y="13620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背景与目标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97318" y="160924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项目背景、核心目标与关键指标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62000" y="2000250"/>
              <a:ext cx="2090262" cy="473869"/>
              <a:chOff x="762000" y="2000250"/>
              <a:chExt cx="2090262" cy="473869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000250"/>
                <a:ext cx="4572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2A4A7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29123" y="209169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390650" y="20288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系统架构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97318" y="227599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整体架构设计与组件关系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2667000"/>
              <a:ext cx="2090262" cy="473869"/>
              <a:chOff x="762000" y="2667000"/>
              <a:chExt cx="2090262" cy="473869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62000" y="2667000"/>
                <a:ext cx="4572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3A5A8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29123" y="275844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90650" y="26955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核心模块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397318" y="29427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关键模块设计与实现细节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2000" y="3333750"/>
              <a:ext cx="2090262" cy="473869"/>
              <a:chOff x="762000" y="3333750"/>
              <a:chExt cx="2090262" cy="473869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2000" y="3333750"/>
                <a:ext cx="4572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4A6A9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29123" y="342519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390650" y="33623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性能指标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97318" y="360949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关键性能数据与优化策略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62000" y="4000500"/>
              <a:ext cx="2090262" cy="473869"/>
              <a:chOff x="762000" y="4000500"/>
              <a:chExt cx="2090262" cy="473869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62000" y="4000500"/>
                <a:ext cx="4572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5A7AA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29123" y="409194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390650" y="40290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应用场景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397318" y="42762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典型应用场景与案例分析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62000" y="4667250"/>
              <a:ext cx="1830229" cy="473869"/>
              <a:chOff x="762000" y="4667250"/>
              <a:chExt cx="1830229" cy="473869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62000" y="4667250"/>
                <a:ext cx="4572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6A8AB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29123" y="475869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06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390650" y="46958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技术演进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97318" y="49429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技术路线与未来规划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9" name="TextBox 39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7FAFC"/>
                </a:gs>
                <a:gs pos="100000">
                  <a:srgbClr val="EDF2F7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27710" y="474345"/>
            <a:ext cx="3082290" cy="735330"/>
            <a:chOff x="727710" y="474345"/>
            <a:chExt cx="3082290" cy="735330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474345"/>
              <a:ext cx="7411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BACKGROUND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7710" y="661035"/>
              <a:ext cx="27149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65D"/>
                  </a:solidFill>
                  <a:latin typeface="Georgia"/>
                  <a:ea typeface="SimSun"/>
                  <a:cs typeface="Georgia"/>
                </a:rPr>
                <a:t>项目背景与目标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095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62000" y="1524000"/>
            <a:ext cx="4953000" cy="1905000"/>
            <a:chOff x="762000" y="1524000"/>
            <a:chExt cx="4953000" cy="1905000"/>
          </a:xfrm>
        </p:grpSpPr>
        <p:sp>
          <p:nvSpPr>
            <p:cNvPr id="9" name="Rectangle 9"/>
            <p:cNvSpPr/>
            <p:nvPr/>
          </p:nvSpPr>
          <p:spPr>
            <a:xfrm>
              <a:off x="762000" y="1524000"/>
              <a:ext cx="49530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524000"/>
              <a:ext cx="4953000" cy="57150"/>
            </a:xfrm>
            <a:prstGeom prst="roundRect">
              <a:avLst>
                <a:gd name="adj" fmla="val 50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3450" y="1743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Georgia"/>
                  <a:ea typeface="SimSun"/>
                  <a:cs typeface="Georgia"/>
                </a:rPr>
                <a:t>业务挑战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165" y="2077402"/>
              <a:ext cx="25399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现有系统性能瓶颈，响应时间 &gt; 500ms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2315528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单体架构难以扩展，部署周期长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165" y="25536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数据一致性问题频发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9165" y="2791778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运维成本持续上升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0" y="1524000"/>
            <a:ext cx="5334000" cy="1905000"/>
            <a:chOff x="6096000" y="1524000"/>
            <a:chExt cx="5334000" cy="1905000"/>
          </a:xfrm>
        </p:grpSpPr>
        <p:sp>
          <p:nvSpPr>
            <p:cNvPr id="17" name="Rectangle 17"/>
            <p:cNvSpPr/>
            <p:nvPr/>
          </p:nvSpPr>
          <p:spPr>
            <a:xfrm>
              <a:off x="6096000" y="1524000"/>
              <a:ext cx="53340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0" y="152400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67450" y="1743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Georgia"/>
                  <a:ea typeface="SimSun"/>
                  <a:cs typeface="Georgia"/>
                </a:rPr>
                <a:t>核心目标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3165" y="2077402"/>
              <a:ext cx="16998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响应时间降低至 &lt; 100ms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3165" y="2315528"/>
              <a:ext cx="1300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支持 10x 流量增长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73165" y="255365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实现零停机部署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73165" y="27917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运维成本降低 40%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3810000"/>
            <a:ext cx="10668000" cy="1143000"/>
            <a:chOff x="762000" y="3810000"/>
            <a:chExt cx="10668000" cy="1143000"/>
          </a:xfrm>
        </p:grpSpPr>
        <p:sp>
          <p:nvSpPr>
            <p:cNvPr id="25" name="Rectangle 25"/>
            <p:cNvSpPr/>
            <p:nvPr/>
          </p:nvSpPr>
          <p:spPr>
            <a:xfrm>
              <a:off x="762000" y="3810000"/>
              <a:ext cx="2476500" cy="1143000"/>
            </a:xfrm>
            <a:prstGeom prst="roundRect">
              <a:avLst>
                <a:gd name="adj" fmla="val 6667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11037" y="3897630"/>
              <a:ext cx="157842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500ms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6862" y="45539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C4E8"/>
                  </a:solidFill>
                  <a:latin typeface="Arial"/>
                  <a:ea typeface="Microsoft YaHei"/>
                  <a:cs typeface="Arial"/>
                </a:rPr>
                <a:t>当前响应时间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3810000"/>
              <a:ext cx="2476500" cy="1143000"/>
            </a:xfrm>
            <a:prstGeom prst="roundRect">
              <a:avLst>
                <a:gd name="adj" fmla="val 6667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29920" y="3897630"/>
              <a:ext cx="18556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&lt;100ms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4362" y="45539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C4E8"/>
                  </a:solidFill>
                  <a:latin typeface="Arial"/>
                  <a:ea typeface="Microsoft YaHei"/>
                  <a:cs typeface="Arial"/>
                </a:rPr>
                <a:t>目标响应时间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3810000"/>
              <a:ext cx="2476500" cy="1143000"/>
            </a:xfrm>
            <a:prstGeom prst="roundRect">
              <a:avLst>
                <a:gd name="adj" fmla="val 6667"/>
              </a:avLst>
            </a:prstGeom>
            <a:solidFill>
              <a:srgbClr val="2A4A7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53678" y="3897630"/>
              <a:ext cx="9231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10x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81862" y="45539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C4E8"/>
                  </a:solidFill>
                  <a:latin typeface="Arial"/>
                  <a:ea typeface="Microsoft YaHei"/>
                  <a:cs typeface="Arial"/>
                </a:rPr>
                <a:t>流量扩展能力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334500" y="3810000"/>
              <a:ext cx="2095500" cy="1143000"/>
            </a:xfrm>
            <a:prstGeom prst="roundRect">
              <a:avLst>
                <a:gd name="adj" fmla="val 6667"/>
              </a:avLst>
            </a:prstGeom>
            <a:solidFill>
              <a:srgbClr val="4A6A9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70272" y="3897630"/>
              <a:ext cx="102395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40%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88880" y="45539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C4E8"/>
                  </a:solidFill>
                  <a:latin typeface="Arial"/>
                  <a:ea typeface="Microsoft YaHei"/>
                  <a:cs typeface="Arial"/>
                </a:rPr>
                <a:t>成本降低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532245"/>
            <a:chOff x="0" y="0"/>
            <a:chExt cx="12192000" cy="653224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365D"/>
                </a:gs>
                <a:gs pos="100000">
                  <a:srgbClr val="0F1F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27710" y="474345"/>
            <a:ext cx="2606040" cy="735330"/>
            <a:chOff x="727710" y="474345"/>
            <a:chExt cx="2606040" cy="735330"/>
          </a:xfrm>
        </p:grpSpPr>
        <p:sp>
          <p:nvSpPr>
            <p:cNvPr id="7" name="TextBox 7"/>
            <p:cNvSpPr txBox="1"/>
            <p:nvPr/>
          </p:nvSpPr>
          <p:spPr>
            <a:xfrm>
              <a:off x="750570" y="474345"/>
              <a:ext cx="823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ARCHITECTURE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7710" y="6610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系统架构设计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095375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52500" y="1524000"/>
            <a:ext cx="9334500" cy="2857500"/>
            <a:chOff x="952500" y="1524000"/>
            <a:chExt cx="9334500" cy="2857500"/>
          </a:xfrm>
        </p:grpSpPr>
        <p:sp>
          <p:nvSpPr>
            <p:cNvPr id="11" name="Rectangle 11"/>
            <p:cNvSpPr/>
            <p:nvPr/>
          </p:nvSpPr>
          <p:spPr>
            <a:xfrm>
              <a:off x="4191000" y="1524000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35412" y="1711642"/>
              <a:ext cx="1121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API Gateway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52500" y="2667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2A4A7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43259" y="2887028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User Service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29000" y="2667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2A4A7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64627" y="2887028"/>
              <a:ext cx="1033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Order Service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2667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2A4A7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4969" y="2887028"/>
              <a:ext cx="11660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Product Service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0" y="2667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2A4A7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36767" y="2887028"/>
              <a:ext cx="11954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Payment Service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905000" y="2095500"/>
              <a:ext cx="3238500" cy="571500"/>
            </a:xfrm>
            <a:custGeom>
              <a:avLst/>
              <a:gdLst/>
              <a:ahLst/>
              <a:cxnLst/>
              <a:rect l="l" t="t" r="r" b="b"/>
              <a:pathLst>
                <a:path w="3238500" h="571500">
                  <a:moveTo>
                    <a:pt x="323850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381500" y="209550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133350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477000" y="2095500"/>
              <a:ext cx="381000" cy="571500"/>
            </a:xfrm>
            <a:custGeom>
              <a:avLst/>
              <a:gdLst/>
              <a:ahLst/>
              <a:cxnLst/>
              <a:rect l="l" t="t" r="r" b="b"/>
              <a:pathLst>
                <a:path w="381000" h="571500">
                  <a:moveTo>
                    <a:pt x="0" y="0"/>
                  </a:moveTo>
                  <a:lnTo>
                    <a:pt x="381000" y="57150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048500" y="2095500"/>
              <a:ext cx="2286000" cy="571500"/>
            </a:xfrm>
            <a:custGeom>
              <a:avLst/>
              <a:gdLst/>
              <a:ahLst/>
              <a:cxnLst/>
              <a:rect l="l" t="t" r="r" b="b"/>
              <a:pathLst>
                <a:path w="2286000" h="571500">
                  <a:moveTo>
                    <a:pt x="0" y="0"/>
                  </a:moveTo>
                  <a:lnTo>
                    <a:pt x="2286000" y="57150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52500" y="3810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4A6A9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72663" y="4030028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PostgreSQL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429000" y="3810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4A6A9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70453" y="4030028"/>
              <a:ext cx="622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MongoDB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905500" y="3810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4A6A9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0892" y="4030028"/>
              <a:ext cx="394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Redis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3810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4A6A9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19015" y="4030028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Kafka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905000" y="3238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3182CE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381500" y="3238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3182CE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858000" y="3238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3182CE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9334500" y="3238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3182CE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62000" y="4953000"/>
            <a:ext cx="10668000" cy="1235869"/>
            <a:chOff x="762000" y="4953000"/>
            <a:chExt cx="10668000" cy="1235869"/>
          </a:xfrm>
        </p:grpSpPr>
        <p:sp>
          <p:nvSpPr>
            <p:cNvPr id="38" name="Rectangle 38"/>
            <p:cNvSpPr/>
            <p:nvPr/>
          </p:nvSpPr>
          <p:spPr>
            <a:xfrm>
              <a:off x="762000" y="4953000"/>
              <a:ext cx="10668000" cy="1143000"/>
            </a:xfrm>
            <a:prstGeom prst="roundRect">
              <a:avLst>
                <a:gd name="adj" fmla="val 6667"/>
              </a:avLst>
            </a:prstGeom>
            <a:solidFill>
              <a:srgbClr val="0F1F3D"/>
            </a:solidFill>
            <a:ln w="9525">
              <a:solidFill>
                <a:srgbClr val="2A4A7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9165" y="5220652"/>
              <a:ext cx="12101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KEY COMPONENTS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0118" y="5514499"/>
              <a:ext cx="28136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C4E8"/>
                  </a:solidFill>
                  <a:latin typeface="Arial"/>
                  <a:ea typeface="Microsoft YaHei"/>
                  <a:cs typeface="Arial"/>
                </a:rPr>
                <a:t>• API Gateway: 请求路由、负载均衡、认证授权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0118" y="5752624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C4E8"/>
                  </a:solidFill>
                  <a:latin typeface="Arial"/>
                  <a:ea typeface="Microsoft YaHei"/>
                  <a:cs typeface="Arial"/>
                </a:rPr>
                <a:t>• Microservices: 业务逻辑处理、数据存储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0118" y="5990749"/>
              <a:ext cx="2618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C4E8"/>
                  </a:solidFill>
                  <a:latin typeface="Arial"/>
                  <a:ea typeface="Microsoft YaHei"/>
                  <a:cs typeface="Arial"/>
                </a:rPr>
                <a:t>• Data Layer: 持久化存储、缓存、消息队列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4" name="TextBox 44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5A7AA0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5A7AA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7FAFC"/>
                </a:gs>
                <a:gs pos="100000">
                  <a:srgbClr val="EDF2F7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27710" y="474345"/>
            <a:ext cx="2606040" cy="735330"/>
            <a:chOff x="727710" y="474345"/>
            <a:chExt cx="2606040" cy="735330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474345"/>
              <a:ext cx="8986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CORE MODULES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7710" y="6610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65D"/>
                  </a:solidFill>
                  <a:latin typeface="Georgia"/>
                  <a:ea typeface="SimSun"/>
                  <a:cs typeface="Georgia"/>
                </a:rPr>
                <a:t>核心模块设计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095375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1428750"/>
            <a:ext cx="10668000" cy="1714500"/>
            <a:chOff x="762000" y="1428750"/>
            <a:chExt cx="10668000" cy="1714500"/>
          </a:xfrm>
        </p:grpSpPr>
        <p:grpSp>
          <p:nvGrpSpPr>
            <p:cNvPr id="16" name="Group 16"/>
            <p:cNvGrpSpPr/>
            <p:nvPr/>
          </p:nvGrpSpPr>
          <p:grpSpPr>
            <a:xfrm>
              <a:off x="762000" y="1428750"/>
              <a:ext cx="3429000" cy="1714500"/>
              <a:chOff x="762000" y="1428750"/>
              <a:chExt cx="3429000" cy="1714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428750"/>
                <a:ext cx="34290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4287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37260" y="168021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Consolas"/>
                    <a:ea typeface="Microsoft YaHei"/>
                    <a:cs typeface="Consolas"/>
                  </a:rPr>
                  <a:t>认证授权模块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0118" y="1990249"/>
                <a:ext cx="10713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JWT Token 管理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0118" y="2228374"/>
                <a:ext cx="10713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OAuth 2.0 集成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0118" y="2466499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RBAC 权限控制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0118" y="2704624"/>
                <a:ext cx="1045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多因素认证支持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81500" y="1428750"/>
              <a:ext cx="3429000" cy="1714500"/>
              <a:chOff x="4381500" y="1428750"/>
              <a:chExt cx="3429000" cy="1714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381500" y="1428750"/>
                <a:ext cx="34290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381500" y="14287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556760" y="168021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Consolas"/>
                    <a:ea typeface="Microsoft YaHei"/>
                    <a:cs typeface="Consolas"/>
                  </a:rPr>
                  <a:t>数据处理模块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59618" y="1990249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流式数据处理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59618" y="222837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批量任务调度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59618" y="2466499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数据清洗转换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59618" y="270462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实时数据同步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001000" y="1428750"/>
              <a:ext cx="3429000" cy="1714500"/>
              <a:chOff x="8001000" y="1428750"/>
              <a:chExt cx="3429000" cy="1714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8001000" y="1428750"/>
                <a:ext cx="34290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8001000" y="14287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A4A7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76260" y="168021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Consolas"/>
                    <a:ea typeface="Microsoft YaHei"/>
                    <a:cs typeface="Consolas"/>
                  </a:rPr>
                  <a:t>监控告警模块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79118" y="1990249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实时性能监控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79118" y="222837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异常自动检测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179118" y="2466499"/>
                <a:ext cx="1045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多渠道告警通知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79118" y="270462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日志聚合分析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762000" y="3524250"/>
            <a:ext cx="10668000" cy="1905000"/>
            <a:chOff x="762000" y="3524250"/>
            <a:chExt cx="10668000" cy="1905000"/>
          </a:xfrm>
        </p:grpSpPr>
        <p:sp>
          <p:nvSpPr>
            <p:cNvPr id="34" name="Rectangle 34"/>
            <p:cNvSpPr/>
            <p:nvPr/>
          </p:nvSpPr>
          <p:spPr>
            <a:xfrm>
              <a:off x="762000" y="3524250"/>
              <a:ext cx="10668000" cy="1905000"/>
            </a:xfrm>
            <a:prstGeom prst="roundRect">
              <a:avLst>
                <a:gd name="adj" fmla="val 4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165" y="3791902"/>
              <a:ext cx="1342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TECHNOLOGY STACK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52500" y="4000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3182C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0118" y="4180999"/>
              <a:ext cx="5903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A0C4E8"/>
                  </a:solidFill>
                  <a:latin typeface="Consolas"/>
                  <a:ea typeface="Consolas"/>
                  <a:cs typeface="Consolas"/>
                </a:rPr>
                <a:t>Runtime: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92618" y="4180999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Node.js 20 LTS / Go 1.22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0118" y="4466749"/>
              <a:ext cx="6683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A0C4E8"/>
                  </a:solidFill>
                  <a:latin typeface="Consolas"/>
                  <a:ea typeface="Consolas"/>
                  <a:cs typeface="Consolas"/>
                </a:rPr>
                <a:t>Database: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92618" y="446674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PostgreSQL 16 / Redis 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0118" y="4752499"/>
              <a:ext cx="4798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A0C4E8"/>
                  </a:solidFill>
                  <a:latin typeface="Consolas"/>
                  <a:ea typeface="Consolas"/>
                  <a:cs typeface="Consolas"/>
                </a:rPr>
                <a:t>Queue: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92618" y="475249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Apache Kafka 3.7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0118" y="5038249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A0C4E8"/>
                  </a:solidFill>
                  <a:latin typeface="Consolas"/>
                  <a:ea typeface="Consolas"/>
                  <a:cs typeface="Consolas"/>
                </a:rPr>
                <a:t>Container: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92618" y="5038249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Docker + Kubernetes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6" name="TextBox 46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7FAFC"/>
                </a:gs>
                <a:gs pos="100000">
                  <a:srgbClr val="EDF2F7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27710" y="474345"/>
            <a:ext cx="2891790" cy="735330"/>
            <a:chOff x="727710" y="474345"/>
            <a:chExt cx="2891790" cy="735330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474345"/>
              <a:ext cx="8356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PERFORMANCE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7710" y="661035"/>
              <a:ext cx="27149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65D"/>
                  </a:solidFill>
                  <a:latin typeface="Georgia"/>
                  <a:ea typeface="SimSun"/>
                  <a:cs typeface="Georgia"/>
                </a:rPr>
                <a:t>性能指标与优化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09537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62000" y="1428750"/>
            <a:ext cx="10668000" cy="1333500"/>
            <a:chOff x="762000" y="1428750"/>
            <a:chExt cx="10668000" cy="1333500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428750"/>
              <a:ext cx="2476500" cy="1333500"/>
              <a:chOff x="762000" y="1428750"/>
              <a:chExt cx="2476500" cy="1333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428750"/>
                <a:ext cx="24765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11037" y="1516380"/>
                <a:ext cx="1578426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3182CE"/>
                    </a:solidFill>
                    <a:latin typeface="Georgia"/>
                    <a:ea typeface="Georgia"/>
                    <a:cs typeface="Georgia"/>
                  </a:rPr>
                  <a:t>99.9%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59387" y="2077402"/>
                <a:ext cx="481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</a:rPr>
                  <a:t>UPTIME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62827" y="23712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系统可用性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619500" y="1428750"/>
              <a:ext cx="2476500" cy="1333500"/>
              <a:chOff x="3619500" y="1428750"/>
              <a:chExt cx="24765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619500" y="1428750"/>
                <a:ext cx="24765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207154" y="1516380"/>
                <a:ext cx="1301191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1A365D"/>
                    </a:solidFill>
                    <a:latin typeface="Georgia"/>
                    <a:ea typeface="Georgia"/>
                    <a:cs typeface="Georgia"/>
                  </a:rPr>
                  <a:t>45ms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38364" y="2077402"/>
                <a:ext cx="838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</a:rPr>
                  <a:t>P95 LATENCY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585335" y="2371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响应延迟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477000" y="1428750"/>
              <a:ext cx="2476500" cy="1333500"/>
              <a:chOff x="6477000" y="1428750"/>
              <a:chExt cx="2476500" cy="1333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477000" y="1428750"/>
                <a:ext cx="24765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253678" y="1516380"/>
                <a:ext cx="923144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A4A7F"/>
                    </a:solidFill>
                    <a:latin typeface="Georgia"/>
                    <a:ea typeface="Georgia"/>
                    <a:cs typeface="Georgia"/>
                  </a:rPr>
                  <a:t>10K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72399" y="2077402"/>
                <a:ext cx="285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</a:rPr>
                  <a:t>QPS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12819" y="23712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每秒请求处理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334500" y="1428750"/>
              <a:ext cx="2095500" cy="1333500"/>
              <a:chOff x="9334500" y="1428750"/>
              <a:chExt cx="2095500" cy="1333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9334500" y="1428750"/>
                <a:ext cx="20955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059295" y="151638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4A6A9F"/>
                    </a:solidFill>
                    <a:latin typeface="Georgia"/>
                    <a:ea typeface="Georgia"/>
                    <a:cs typeface="Georgia"/>
                  </a:rPr>
                  <a:t>3x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69865" y="2077402"/>
                <a:ext cx="8247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</a:rPr>
                  <a:t>THROUGHPUT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044827" y="23712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吞吐量提升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762000" y="3143250"/>
            <a:ext cx="10668000" cy="2381250"/>
            <a:chOff x="762000" y="3143250"/>
            <a:chExt cx="10668000" cy="2381250"/>
          </a:xfrm>
        </p:grpSpPr>
        <p:sp>
          <p:nvSpPr>
            <p:cNvPr id="30" name="Rectangle 30"/>
            <p:cNvSpPr/>
            <p:nvPr/>
          </p:nvSpPr>
          <p:spPr>
            <a:xfrm>
              <a:off x="762000" y="3143250"/>
              <a:ext cx="10668000" cy="2381250"/>
            </a:xfrm>
            <a:prstGeom prst="roundRect">
              <a:avLst>
                <a:gd name="adj" fmla="val 32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165" y="3410902"/>
              <a:ext cx="17908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OPTIMIZATION STRATEGIES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52500" y="36195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3182C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52500" y="3810000"/>
              <a:ext cx="3048000" cy="571500"/>
              <a:chOff x="952500" y="3810000"/>
              <a:chExt cx="3048000" cy="5715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952500" y="3810000"/>
                <a:ext cx="304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0F1F3D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129665" y="39824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缓存优化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131570" y="418909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C4E8"/>
                    </a:solidFill>
                    <a:latin typeface="Arial"/>
                    <a:ea typeface="Microsoft YaHei"/>
                    <a:cs typeface="Arial"/>
                  </a:rPr>
                  <a:t>多级缓存策略，命中率 &gt; 95%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191000" y="3810000"/>
              <a:ext cx="3048000" cy="571500"/>
              <a:chOff x="4191000" y="3810000"/>
              <a:chExt cx="3048000" cy="5715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191000" y="3810000"/>
                <a:ext cx="304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0F1F3D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368165" y="3982402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数据库优化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370070" y="418909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C4E8"/>
                    </a:solidFill>
                    <a:latin typeface="Arial"/>
                    <a:ea typeface="Microsoft YaHei"/>
                    <a:cs typeface="Arial"/>
                  </a:rPr>
                  <a:t>索引优化 + 查询重写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429500" y="3810000"/>
              <a:ext cx="3048000" cy="571500"/>
              <a:chOff x="7429500" y="3810000"/>
              <a:chExt cx="3048000" cy="5715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429500" y="3810000"/>
                <a:ext cx="304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0F1F3D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06665" y="39824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异步处理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608570" y="418909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C4E8"/>
                    </a:solidFill>
                    <a:latin typeface="Arial"/>
                    <a:ea typeface="Microsoft YaHei"/>
                    <a:cs typeface="Arial"/>
                  </a:rPr>
                  <a:t>消息队列 + 事件驱动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952500" y="4572000"/>
              <a:ext cx="3048000" cy="571500"/>
              <a:chOff x="952500" y="4572000"/>
              <a:chExt cx="3048000" cy="5715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52500" y="4572000"/>
                <a:ext cx="304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0F1F3D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129665" y="4744402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连接池管理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131570" y="49510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C4E8"/>
                    </a:solidFill>
                    <a:latin typeface="Arial"/>
                    <a:ea typeface="Microsoft YaHei"/>
                    <a:cs typeface="Arial"/>
                  </a:rPr>
                  <a:t>动态连接池，自动扩缩容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191000" y="4572000"/>
              <a:ext cx="3048000" cy="571500"/>
              <a:chOff x="4191000" y="4572000"/>
              <a:chExt cx="3048000" cy="5715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4191000" y="4572000"/>
                <a:ext cx="304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0F1F3D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368165" y="47444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负载均衡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370070" y="495109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C4E8"/>
                    </a:solidFill>
                    <a:latin typeface="Arial"/>
                    <a:ea typeface="Microsoft YaHei"/>
                    <a:cs typeface="Arial"/>
                  </a:rPr>
                  <a:t>智能路由 + 健康检查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7429500" y="4572000"/>
              <a:ext cx="3048000" cy="571500"/>
              <a:chOff x="7429500" y="4572000"/>
              <a:chExt cx="3048000" cy="571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429500" y="4572000"/>
                <a:ext cx="304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0F1F3D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606665" y="47444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资源调度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608570" y="4951095"/>
                <a:ext cx="9709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C4E8"/>
                    </a:solidFill>
                    <a:latin typeface="Arial"/>
                    <a:ea typeface="Microsoft YaHei"/>
                    <a:cs typeface="Arial"/>
                  </a:rPr>
                  <a:t>K8s HPA 自动扩缩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58" name="TextBox 58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7FAFC"/>
                </a:gs>
                <a:gs pos="100000">
                  <a:srgbClr val="EDF2F7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27710" y="474345"/>
            <a:ext cx="2891790" cy="735330"/>
            <a:chOff x="727710" y="474345"/>
            <a:chExt cx="2891790" cy="735330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474345"/>
              <a:ext cx="6151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USE CASES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7710" y="661035"/>
              <a:ext cx="27149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65D"/>
                  </a:solidFill>
                  <a:latin typeface="Georgia"/>
                  <a:ea typeface="SimSun"/>
                  <a:cs typeface="Georgia"/>
                </a:rPr>
                <a:t>应用场景与案例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09537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62000" y="1428750"/>
            <a:ext cx="10668000" cy="3714750"/>
            <a:chOff x="762000" y="1428750"/>
            <a:chExt cx="10668000" cy="3714750"/>
          </a:xfrm>
        </p:grpSpPr>
        <p:grpSp>
          <p:nvGrpSpPr>
            <p:cNvPr id="16" name="Group 16"/>
            <p:cNvGrpSpPr/>
            <p:nvPr/>
          </p:nvGrpSpPr>
          <p:grpSpPr>
            <a:xfrm>
              <a:off x="762000" y="1428750"/>
              <a:ext cx="5334000" cy="1714500"/>
              <a:chOff x="762000" y="1428750"/>
              <a:chExt cx="5334000" cy="1714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428750"/>
                <a:ext cx="53340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428750"/>
                <a:ext cx="76200" cy="1714500"/>
              </a:xfrm>
              <a:prstGeom prst="roundRect">
                <a:avLst>
                  <a:gd name="adj" fmla="val 50000"/>
                </a:avLst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28700" y="164782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电商交易平台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34415" y="1982152"/>
                <a:ext cx="17138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日均订单处理量：100万+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4415" y="2220278"/>
                <a:ext cx="1328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峰值 QPS：50,000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4415" y="2458402"/>
                <a:ext cx="23439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业务价值：订单处理效率提升 300%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6320" y="2760345"/>
                <a:ext cx="23631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3182CE"/>
                    </a:solidFill>
                    <a:latin typeface="Consolas"/>
                    <a:ea typeface="Consolas"/>
                    <a:cs typeface="Consolas"/>
                  </a:rPr>
                  <a:t>[Microservices] [Event-Driven] [CQRS]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096000" y="1428750"/>
              <a:ext cx="5334000" cy="1714500"/>
              <a:chOff x="6096000" y="1428750"/>
              <a:chExt cx="5334000" cy="1714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096000" y="1428750"/>
                <a:ext cx="53340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096000" y="1428750"/>
                <a:ext cx="76200" cy="1714500"/>
              </a:xfrm>
              <a:prstGeom prst="roundRect">
                <a:avLst>
                  <a:gd name="adj" fmla="val 50000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62700" y="164782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金融风控系统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68415" y="1982152"/>
                <a:ext cx="18258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实时交易风控：毫秒级响应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68415" y="2220278"/>
                <a:ext cx="16788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风险识别准确率：99.5%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68415" y="24584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业务价值：欺诈损失降低 80%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70320" y="2760345"/>
                <a:ext cx="203911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3182CE"/>
                    </a:solidFill>
                    <a:latin typeface="Consolas"/>
                    <a:ea typeface="Consolas"/>
                    <a:cs typeface="Consolas"/>
                  </a:rPr>
                  <a:t>[Stream Processing] [ML Pipeline]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62000" y="3429000"/>
              <a:ext cx="5334000" cy="1714500"/>
              <a:chOff x="762000" y="3429000"/>
              <a:chExt cx="5334000" cy="1714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62000" y="3429000"/>
                <a:ext cx="53340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762000" y="3429000"/>
                <a:ext cx="76200" cy="1714500"/>
              </a:xfrm>
              <a:prstGeom prst="roundRect">
                <a:avLst>
                  <a:gd name="adj" fmla="val 50000"/>
                </a:avLst>
              </a:prstGeom>
              <a:solidFill>
                <a:srgbClr val="2A4A7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28700" y="36480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物联网数据平台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34415" y="3982402"/>
                <a:ext cx="1573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设备接入数量：100万+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34415" y="4220528"/>
                <a:ext cx="1405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数据采集频率：秒级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34415" y="445865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业务价值：设备运维成本降低 60%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36320" y="4760595"/>
                <a:ext cx="25491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3182CE"/>
                    </a:solidFill>
                    <a:latin typeface="Consolas"/>
                    <a:ea typeface="Consolas"/>
                    <a:cs typeface="Consolas"/>
                  </a:rPr>
                  <a:t>[MQTT] [Time-Series DB] [Edge Computing]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096000" y="3429000"/>
              <a:ext cx="5334000" cy="1714500"/>
              <a:chOff x="6096000" y="3429000"/>
              <a:chExt cx="5334000" cy="17145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096000" y="3429000"/>
                <a:ext cx="53340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096000" y="3429000"/>
                <a:ext cx="76200" cy="1714500"/>
              </a:xfrm>
              <a:prstGeom prst="roundRect">
                <a:avLst>
                  <a:gd name="adj" fmla="val 50000"/>
                </a:avLst>
              </a:prstGeom>
              <a:solidFill>
                <a:srgbClr val="4A6A9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362700" y="364807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Georgia"/>
                    <a:ea typeface="SimSun"/>
                    <a:cs typeface="Georgia"/>
                  </a:rPr>
                  <a:t>内容分发网络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368415" y="3982402"/>
                <a:ext cx="13568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全球节点覆盖：50+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368415" y="4220528"/>
                <a:ext cx="15808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内容分发延迟：&lt; 50ms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368415" y="4458652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• 业务价值：用户访问速度提升 5x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370320" y="4760595"/>
                <a:ext cx="242316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3182CE"/>
                    </a:solidFill>
                    <a:latin typeface="Consolas"/>
                    <a:ea typeface="Consolas"/>
                    <a:cs typeface="Consolas"/>
                  </a:rPr>
                  <a:t>[CDN] [Edge Cache] [Global Load Balance]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532245"/>
            <a:chOff x="0" y="0"/>
            <a:chExt cx="12192000" cy="653224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A365D"/>
                </a:gs>
                <a:gs pos="100000">
                  <a:srgbClr val="0F1F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A4A7F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16280" y="664845"/>
            <a:ext cx="2617470" cy="916305"/>
            <a:chOff x="716280" y="664845"/>
            <a:chExt cx="2617470" cy="916305"/>
          </a:xfrm>
        </p:grpSpPr>
        <p:sp>
          <p:nvSpPr>
            <p:cNvPr id="7" name="TextBox 7"/>
            <p:cNvSpPr txBox="1"/>
            <p:nvPr/>
          </p:nvSpPr>
          <p:spPr>
            <a:xfrm>
              <a:off x="750570" y="664845"/>
              <a:ext cx="5584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SUMMARY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6280" y="849630"/>
              <a:ext cx="261175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总结与展望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381125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19050">
              <a:solidFill>
                <a:srgbClr val="3182CE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62000" y="1905000"/>
            <a:ext cx="2465118" cy="2667000"/>
            <a:chOff x="762000" y="1905000"/>
            <a:chExt cx="2465118" cy="2667000"/>
          </a:xfrm>
        </p:grpSpPr>
        <p:grpSp>
          <p:nvGrpSpPr>
            <p:cNvPr id="14" name="Group 14"/>
            <p:cNvGrpSpPr/>
            <p:nvPr/>
          </p:nvGrpSpPr>
          <p:grpSpPr>
            <a:xfrm>
              <a:off x="762000" y="1905000"/>
              <a:ext cx="2304097" cy="762000"/>
              <a:chOff x="762000" y="1905000"/>
              <a:chExt cx="2304097" cy="762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" y="1905000"/>
                <a:ext cx="57150" cy="762000"/>
              </a:xfrm>
              <a:prstGeom prst="rect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33450" y="20288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架构升级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9165" y="23631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0C4E8"/>
                    </a:solidFill>
                    <a:latin typeface="Arial"/>
                    <a:ea typeface="Microsoft YaHei"/>
                    <a:cs typeface="Arial"/>
                  </a:rPr>
                  <a:t>从单体架构成功迁移至微服务架构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62000" y="2857500"/>
              <a:ext cx="2381107" cy="762000"/>
              <a:chOff x="762000" y="2857500"/>
              <a:chExt cx="2381107" cy="762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62000" y="2857500"/>
                <a:ext cx="57150" cy="762000"/>
              </a:xfrm>
              <a:prstGeom prst="rect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33450" y="29813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性能提升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9165" y="3315652"/>
                <a:ext cx="22039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0C4E8"/>
                    </a:solidFill>
                    <a:latin typeface="Arial"/>
                    <a:ea typeface="Microsoft YaHei"/>
                    <a:cs typeface="Arial"/>
                  </a:rPr>
                  <a:t>响应时间降低 80%，吞吐量提升 3x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3810000"/>
              <a:ext cx="2465118" cy="762000"/>
              <a:chOff x="762000" y="3810000"/>
              <a:chExt cx="2465118" cy="762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3810000"/>
                <a:ext cx="57150" cy="762000"/>
              </a:xfrm>
              <a:prstGeom prst="rect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33450" y="39338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成本优化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9165" y="4268152"/>
                <a:ext cx="22879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0C4E8"/>
                    </a:solidFill>
                    <a:latin typeface="Arial"/>
                    <a:ea typeface="Microsoft YaHei"/>
                    <a:cs typeface="Arial"/>
                  </a:rPr>
                  <a:t>运维成本降低 40%，资源利用率提升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6096000" y="1905000"/>
            <a:ext cx="5334000" cy="2667000"/>
            <a:chOff x="6096000" y="1905000"/>
            <a:chExt cx="5334000" cy="2667000"/>
          </a:xfrm>
        </p:grpSpPr>
        <p:sp>
          <p:nvSpPr>
            <p:cNvPr id="24" name="Rectangle 24"/>
            <p:cNvSpPr/>
            <p:nvPr/>
          </p:nvSpPr>
          <p:spPr>
            <a:xfrm>
              <a:off x="6096000" y="1905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0F1F3D"/>
            </a:solidFill>
            <a:ln w="9525">
              <a:solidFill>
                <a:srgbClr val="2A4A7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73165" y="2172652"/>
              <a:ext cx="798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182CE"/>
                  </a:solidFill>
                  <a:latin typeface="Consolas"/>
                  <a:ea typeface="Consolas"/>
                  <a:cs typeface="Consolas"/>
                </a:rPr>
                <a:t>NEXT STEPS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286500" y="2381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3182C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3165" y="2553652"/>
              <a:ext cx="1342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 完成剩余服务迁移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3165" y="2839402"/>
              <a:ext cx="1573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2. 引入服务网格 (Istio)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3165" y="31251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3. 建立全链路监控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73165" y="34109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4. 实现自动化运维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73165" y="3696652"/>
              <a:ext cx="1062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5. 持续性能优化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5143500"/>
            <a:ext cx="10668000" cy="952500"/>
            <a:chOff x="762000" y="5143500"/>
            <a:chExt cx="10668000" cy="952500"/>
          </a:xfrm>
        </p:grpSpPr>
        <p:sp>
          <p:nvSpPr>
            <p:cNvPr id="33" name="Rectangle 33"/>
            <p:cNvSpPr/>
            <p:nvPr/>
          </p:nvSpPr>
          <p:spPr>
            <a:xfrm>
              <a:off x="762000" y="5143500"/>
              <a:ext cx="10668000" cy="952500"/>
            </a:xfrm>
            <a:prstGeom prst="roundRect">
              <a:avLst>
                <a:gd name="adj" fmla="val 8000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60951" y="5330190"/>
              <a:ext cx="30700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开始构建下一代分布式系统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60520" y="5775960"/>
              <a:ext cx="3870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A0C4E8"/>
                  </a:solidFill>
                  <a:latin typeface="Consolas"/>
                  <a:ea typeface="Consolas"/>
                  <a:cs typeface="Consolas"/>
                </a:rPr>
                <a:t>contact@tech-team.com | github.com/tech-team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7" name="TextBox 37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5A7AA0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5A7AA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  <p:bldP spid="3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2026-06-24T01:52:05Z</dcterms:created>
  <dcterms:modified xsi:type="dcterms:W3CDTF">2026-06-24T01:52:05Z</dcterms:modified>
  <cp:category/>
  <cp:contentStatus/>
</cp:coreProperties>
</file>