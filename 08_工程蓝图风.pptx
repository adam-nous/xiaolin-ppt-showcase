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9618" y="1143000"/>
            <a:ext cx="1506950" cy="473869"/>
            <a:chOff x="749618" y="1143000"/>
            <a:chExt cx="1506950" cy="473869"/>
          </a:xfrm>
        </p:grpSpPr>
        <p:sp>
          <p:nvSpPr>
            <p:cNvPr id="12" name="Rectangle 12"/>
            <p:cNvSpPr/>
            <p:nvPr/>
          </p:nvSpPr>
          <p:spPr>
            <a:xfrm>
              <a:off x="762000" y="1143000"/>
              <a:ext cx="5715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618" y="1418749"/>
              <a:ext cx="15069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ENGINEERING · BLUEPRINT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1040" y="2339340"/>
            <a:ext cx="1466088" cy="2689860"/>
            <a:chOff x="701040" y="2339340"/>
            <a:chExt cx="1466088" cy="2689860"/>
          </a:xfrm>
        </p:grpSpPr>
        <p:sp>
          <p:nvSpPr>
            <p:cNvPr id="15" name="TextBox 15"/>
            <p:cNvSpPr txBox="1"/>
            <p:nvPr/>
          </p:nvSpPr>
          <p:spPr>
            <a:xfrm>
              <a:off x="701040" y="2339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工程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1040" y="319659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蓝图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1040" y="40538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设计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4855" y="4953000"/>
            <a:ext cx="2014538" cy="671512"/>
            <a:chOff x="744855" y="4953000"/>
            <a:chExt cx="2014538" cy="671512"/>
          </a:xfrm>
        </p:grpSpPr>
        <p:sp>
          <p:nvSpPr>
            <p:cNvPr id="19" name="Line 19"/>
            <p:cNvSpPr/>
            <p:nvPr/>
          </p:nvSpPr>
          <p:spPr>
            <a:xfrm>
              <a:off x="762000" y="4953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4A90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4855" y="50930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A9CC6"/>
                  </a:solidFill>
                  <a:latin typeface="Arial"/>
                  <a:ea typeface="Microsoft YaHei"/>
                  <a:cs typeface="Arial"/>
                </a:rPr>
                <a:t>系统架构与工程设计规范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541115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7AAB"/>
                  </a:solidFill>
                  <a:latin typeface="Arial"/>
                  <a:ea typeface="Microsoft YaHei"/>
                  <a:cs typeface="Arial"/>
                </a:rPr>
                <a:t>2026 年度技术文档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0" y="1905000"/>
            <a:ext cx="3810000" cy="3810000"/>
            <a:chOff x="7620000" y="1905000"/>
            <a:chExt cx="3810000" cy="3810000"/>
          </a:xfrm>
        </p:grpSpPr>
        <p:sp>
          <p:nvSpPr>
            <p:cNvPr id="23" name="Rectangle 23"/>
            <p:cNvSpPr/>
            <p:nvPr/>
          </p:nvSpPr>
          <p:spPr>
            <a:xfrm>
              <a:off x="7620000" y="1905000"/>
              <a:ext cx="3810000" cy="3810000"/>
            </a:xfrm>
            <a:prstGeom prst="rect">
              <a:avLst/>
            </a:prstGeom>
            <a:noFill/>
            <a:ln w="9525">
              <a:solidFill>
                <a:srgbClr val="4A90D9">
                  <a:alpha val="2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620000" y="2857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4A90D9">
                  <a:alpha val="1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3810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4A90D9">
                  <a:alpha val="1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620000" y="4762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4A90D9">
                  <a:alpha val="1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572500" y="1905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4A90D9">
                  <a:alpha val="1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525000" y="1905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4A90D9">
                  <a:alpha val="1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0477500" y="1905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4A90D9">
                  <a:alpha val="150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1" name="TextBox 31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2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50570" y="664845"/>
            <a:ext cx="1916430" cy="201930"/>
            <a:chOff x="750570" y="664845"/>
            <a:chExt cx="1916430" cy="2019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6648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TABLE OF CONTENTS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85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27710" y="1232535"/>
            <a:ext cx="5939790" cy="4391977"/>
            <a:chOff x="727710" y="1232535"/>
            <a:chExt cx="5939790" cy="4391977"/>
          </a:xfrm>
        </p:grpSpPr>
        <p:grpSp>
          <p:nvGrpSpPr>
            <p:cNvPr id="19" name="Group 19"/>
            <p:cNvGrpSpPr/>
            <p:nvPr/>
          </p:nvGrpSpPr>
          <p:grpSpPr>
            <a:xfrm>
              <a:off x="727710" y="1232535"/>
              <a:ext cx="5939790" cy="681990"/>
              <a:chOff x="727710" y="1232535"/>
              <a:chExt cx="5939790" cy="68199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27710" y="1232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4A90D9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85950" y="126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系统概述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91665" y="16011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7AAB"/>
                    </a:solidFill>
                    <a:latin typeface="Arial"/>
                    <a:ea typeface="Microsoft YaHei"/>
                    <a:cs typeface="Arial"/>
                  </a:rPr>
                  <a:t>系统目标、架构原则、技术选型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762000" y="1905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4A90D9">
                    <a:alpha val="30000"/>
                  </a:srgbClr>
                </a:solidFill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727710" y="2185035"/>
              <a:ext cx="5939790" cy="681990"/>
              <a:chOff x="727710" y="2185035"/>
              <a:chExt cx="5939790" cy="68199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27710" y="21850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4A90D9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85950" y="2219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架构设计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91665" y="25536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7AAB"/>
                    </a:solidFill>
                    <a:latin typeface="Arial"/>
                    <a:ea typeface="Microsoft YaHei"/>
                    <a:cs typeface="Arial"/>
                  </a:rPr>
                  <a:t>整体架构、模块划分、接口设计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762000" y="2857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4A90D9">
                    <a:alpha val="30000"/>
                  </a:srgbClr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27710" y="3137535"/>
              <a:ext cx="5939790" cy="681990"/>
              <a:chOff x="727710" y="3137535"/>
              <a:chExt cx="5939790" cy="68199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727710" y="3137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4A90D9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85950" y="3171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详细设计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91665" y="35061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7AAB"/>
                    </a:solidFill>
                    <a:latin typeface="Arial"/>
                    <a:ea typeface="Microsoft YaHei"/>
                    <a:cs typeface="Arial"/>
                  </a:rPr>
                  <a:t>数据模型、算法设计、流程图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762000" y="3810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4A90D9">
                    <a:alpha val="30000"/>
                  </a:srgbClr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727710" y="4090035"/>
              <a:ext cx="5939790" cy="681990"/>
              <a:chOff x="727710" y="4090035"/>
              <a:chExt cx="5939790" cy="68199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727710" y="40900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4A90D9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885950" y="4124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技术规范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91665" y="44586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7AAB"/>
                    </a:solidFill>
                    <a:latin typeface="Arial"/>
                    <a:ea typeface="Microsoft YaHei"/>
                    <a:cs typeface="Arial"/>
                  </a:rPr>
                  <a:t>编码规范、测试策略、部署方案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762000" y="4762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4A90D9">
                    <a:alpha val="30000"/>
                  </a:srgbClr>
                </a:solidFill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727710" y="5042535"/>
              <a:ext cx="3010853" cy="581977"/>
              <a:chOff x="727710" y="5042535"/>
              <a:chExt cx="3010853" cy="581977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727710" y="5042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4A90D9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885950" y="507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实施计划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891665" y="54111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7AAB"/>
                    </a:solidFill>
                    <a:latin typeface="Arial"/>
                    <a:ea typeface="Microsoft YaHei"/>
                    <a:cs typeface="Arial"/>
                  </a:rPr>
                  <a:t>开发计划、里程碑、风险管理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620000" y="1143000"/>
            <a:ext cx="3810000" cy="4762500"/>
            <a:chOff x="7620000" y="1143000"/>
            <a:chExt cx="3810000" cy="4762500"/>
          </a:xfrm>
        </p:grpSpPr>
        <p:sp>
          <p:nvSpPr>
            <p:cNvPr id="40" name="Rectangle 40"/>
            <p:cNvSpPr/>
            <p:nvPr/>
          </p:nvSpPr>
          <p:spPr>
            <a:xfrm>
              <a:off x="7620000" y="1143000"/>
              <a:ext cx="3810000" cy="476250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50618" y="1885950"/>
              <a:ext cx="154876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dirty="0">
                  <a:solidFill>
                    <a:srgbClr val="4A90D9">
                      <a:alphaMod val="10000"/>
                    </a:srgbClr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3708" y="3489960"/>
              <a:ext cx="862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A9CC6"/>
                  </a:solidFill>
                  <a:latin typeface="Arial"/>
                  <a:ea typeface="Arial"/>
                  <a:cs typeface="Arial"/>
                </a:rPr>
                <a:t>5 SECTIONS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096250" y="3810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59634" y="407765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4A7AAB"/>
                  </a:solidFill>
                  <a:latin typeface="Arial"/>
                  <a:ea typeface="Arial"/>
                  <a:cs typeface="Arial"/>
                </a:rPr>
                <a:t>8 PAGES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6" name="TextBox 46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474345"/>
              <a:ext cx="1024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SYSTEM OVERVIEW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系统概述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62000" y="1428750"/>
            <a:ext cx="5334000" cy="1905000"/>
            <a:chOff x="762000" y="1428750"/>
            <a:chExt cx="5334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762000" y="1428750"/>
              <a:ext cx="5334000" cy="190500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系统目标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20774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高性能：响应时间 &lt; 100ms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236315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高可用：99.99% SLA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2648902"/>
              <a:ext cx="18608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可扩展：支持 10x 流量增长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29346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可维护：模块化、低耦合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428750"/>
            <a:ext cx="5143500" cy="1905000"/>
            <a:chOff x="6286500" y="1428750"/>
            <a:chExt cx="514350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286500" y="1428750"/>
              <a:ext cx="5143500" cy="190500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598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架构原则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4770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3665" y="207740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微服务架构：独立部署、独立扩展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3665" y="236315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事件驱动：异步解耦、最终一致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3665" y="2648902"/>
              <a:ext cx="22459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领域驱动：业务建模、限界上下文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293465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云原生：容器化、服务网格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3619500"/>
            <a:ext cx="10668000" cy="1905000"/>
            <a:chOff x="762000" y="3619500"/>
            <a:chExt cx="106680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762000" y="3619500"/>
              <a:ext cx="10668000" cy="190500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5355" y="38547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技术选型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2500" y="4095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165" y="4268152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A9CC6"/>
                  </a:solidFill>
                  <a:latin typeface="Consolas"/>
                  <a:ea typeface="Consolas"/>
                  <a:cs typeface="Consolas"/>
                </a:rPr>
                <a:t>Runtime: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67915" y="4268152"/>
              <a:ext cx="2133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Node.js 20 LTS / Go 1.22 / Rust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9165" y="4553902"/>
              <a:ext cx="719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A9CC6"/>
                  </a:solidFill>
                  <a:latin typeface="Consolas"/>
                  <a:ea typeface="Consolas"/>
                  <a:cs typeface="Consolas"/>
                </a:rPr>
                <a:t>Database: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67915" y="4553902"/>
              <a:ext cx="25119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PostgreSQL 16 / Redis 7 / ClickHouse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9165" y="4839652"/>
              <a:ext cx="516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A9CC6"/>
                  </a:solidFill>
                  <a:latin typeface="Consolas"/>
                  <a:ea typeface="Consolas"/>
                  <a:cs typeface="Consolas"/>
                </a:rPr>
                <a:t>Queue: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67915" y="48396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Apache Kafka 3.7 / RabbitMQ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165" y="5125402"/>
              <a:ext cx="453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A9CC6"/>
                  </a:solidFill>
                  <a:latin typeface="Consolas"/>
                  <a:ea typeface="Consolas"/>
                  <a:cs typeface="Consolas"/>
                </a:rPr>
                <a:t>Infra: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67915" y="5125402"/>
              <a:ext cx="27220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Kubernetes / Docker / Terraform / AWS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474345"/>
              <a:ext cx="784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ARCHITECTURE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架构设计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62000" y="1428750"/>
            <a:ext cx="10668000" cy="3619500"/>
            <a:chOff x="762000" y="1428750"/>
            <a:chExt cx="10668000" cy="361950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428750"/>
              <a:ext cx="10668000" cy="571500"/>
              <a:chOff x="762000" y="1428750"/>
              <a:chExt cx="1066800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1428750"/>
                <a:ext cx="10668000" cy="571500"/>
              </a:xfrm>
              <a:prstGeom prst="rect">
                <a:avLst/>
              </a:prstGeom>
              <a:solidFill>
                <a:srgbClr val="4A90D9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845701" y="1664018"/>
                <a:ext cx="25005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客户端层 · Web / Mobile / API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2190750"/>
              <a:ext cx="10668000" cy="571500"/>
              <a:chOff x="762000" y="2190750"/>
              <a:chExt cx="10668000" cy="571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190750"/>
                <a:ext cx="10668000" cy="571500"/>
              </a:xfrm>
              <a:prstGeom prst="rect">
                <a:avLst/>
              </a:prstGeom>
              <a:solidFill>
                <a:srgbClr val="4A90D9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84118" y="2426018"/>
                <a:ext cx="38237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网关层 · API Gateway / Load Balancer / Auth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62000" y="2952750"/>
              <a:ext cx="10668000" cy="571500"/>
              <a:chOff x="762000" y="2952750"/>
              <a:chExt cx="10668000" cy="571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2952750"/>
                <a:ext cx="10668000" cy="571500"/>
              </a:xfrm>
              <a:prstGeom prst="rect">
                <a:avLst/>
              </a:prstGeom>
              <a:solidFill>
                <a:srgbClr val="4A90D9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220123" y="3188018"/>
                <a:ext cx="37517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服务层 · User / Order / Product / Payment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3714750"/>
              <a:ext cx="10668000" cy="571500"/>
              <a:chOff x="762000" y="3714750"/>
              <a:chExt cx="10668000" cy="571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" y="3714750"/>
                <a:ext cx="10668000" cy="571500"/>
              </a:xfrm>
              <a:prstGeom prst="rect">
                <a:avLst/>
              </a:prstGeom>
              <a:solidFill>
                <a:srgbClr val="4A90D9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310134" y="3950018"/>
                <a:ext cx="3571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数据层 · PostgreSQL / Redis / Kafka / S3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62000" y="4476750"/>
              <a:ext cx="10668000" cy="571500"/>
              <a:chOff x="762000" y="4476750"/>
              <a:chExt cx="10668000" cy="571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62000" y="4476750"/>
                <a:ext cx="10668000" cy="571500"/>
              </a:xfrm>
              <a:prstGeom prst="rect">
                <a:avLst/>
              </a:prstGeom>
              <a:solidFill>
                <a:srgbClr val="4A90D9">
                  <a:alpha val="5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062603" y="4712018"/>
                <a:ext cx="406679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基础设施层 · Kubernetes / Docker / Terraform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096000" y="2000250"/>
            <a:ext cx="9525" cy="2476500"/>
            <a:chOff x="6096000" y="2000250"/>
            <a:chExt cx="9525" cy="2476500"/>
          </a:xfrm>
        </p:grpSpPr>
        <p:sp>
          <p:nvSpPr>
            <p:cNvPr id="32" name="Line 32"/>
            <p:cNvSpPr/>
            <p:nvPr/>
          </p:nvSpPr>
          <p:spPr>
            <a:xfrm>
              <a:off x="6096000" y="2000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096000" y="2762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096000" y="3524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286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7" name="TextBox 37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474345"/>
              <a:ext cx="922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DETAILED DESIGN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详细设计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428750"/>
            <a:ext cx="5334000" cy="2381250"/>
            <a:chOff x="762000" y="1428750"/>
            <a:chExt cx="5334000" cy="2381250"/>
          </a:xfrm>
        </p:grpSpPr>
        <p:sp>
          <p:nvSpPr>
            <p:cNvPr id="16" name="Rectangle 16"/>
            <p:cNvSpPr/>
            <p:nvPr/>
          </p:nvSpPr>
          <p:spPr>
            <a:xfrm>
              <a:off x="762000" y="1428750"/>
              <a:ext cx="5334000" cy="238125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数据模型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2500" y="2095500"/>
              <a:ext cx="2286000" cy="5715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32121" y="23155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User Table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19500" y="2095500"/>
              <a:ext cx="2286000" cy="5715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46615" y="2315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Order Table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2857500"/>
              <a:ext cx="2286000" cy="5715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16607" y="3077528"/>
              <a:ext cx="957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Product Table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19500" y="2857500"/>
              <a:ext cx="2286000" cy="5715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69605" y="3077528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Payment Table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095500" y="2667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762500" y="2667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238500" y="2381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286500" y="1428750"/>
            <a:ext cx="5143500" cy="2381250"/>
            <a:chOff x="6286500" y="1428750"/>
            <a:chExt cx="5143500" cy="2381250"/>
          </a:xfrm>
        </p:grpSpPr>
        <p:sp>
          <p:nvSpPr>
            <p:cNvPr id="31" name="Rectangle 31"/>
            <p:cNvSpPr/>
            <p:nvPr/>
          </p:nvSpPr>
          <p:spPr>
            <a:xfrm>
              <a:off x="6286500" y="1428750"/>
              <a:ext cx="5143500" cy="238125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98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算法设计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4770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63665" y="20774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• 推荐算法：协同过滤 + 深度学习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3665" y="2363152"/>
              <a:ext cx="22739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• 搜索算法：Elasticsearch + BM25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3665" y="26489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• 排序算法：多因子加权排序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3665" y="2934652"/>
              <a:ext cx="19099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• 缓存策略：LRU + TTL + 预热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3665" y="32204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• 限流算法：令牌桶 + 滑动窗口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4095750"/>
            <a:ext cx="10668000" cy="1428750"/>
            <a:chOff x="762000" y="4095750"/>
            <a:chExt cx="10668000" cy="1428750"/>
          </a:xfrm>
        </p:grpSpPr>
        <p:sp>
          <p:nvSpPr>
            <p:cNvPr id="40" name="Rectangle 40"/>
            <p:cNvSpPr/>
            <p:nvPr/>
          </p:nvSpPr>
          <p:spPr>
            <a:xfrm>
              <a:off x="762000" y="4095750"/>
              <a:ext cx="10668000" cy="142875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5355" y="4331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核心流程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52500" y="4572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428750" y="4762500"/>
              <a:ext cx="1143000" cy="3810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48790" y="490347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接收请求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048000" y="4762500"/>
              <a:ext cx="1143000" cy="3810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68040" y="490347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参数校验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67250" y="4762500"/>
              <a:ext cx="1143000" cy="3810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87290" y="490347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业务处理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86500" y="4762500"/>
              <a:ext cx="1143000" cy="3810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6532" y="490347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数据持久化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905750" y="4762500"/>
              <a:ext cx="1143000" cy="381000"/>
            </a:xfrm>
            <a:prstGeom prst="rect">
              <a:avLst/>
            </a:prstGeom>
            <a:solidFill>
              <a:srgbClr val="0A1628"/>
            </a:solidFill>
            <a:ln w="9525">
              <a:solidFill>
                <a:srgbClr val="4A90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25790" y="490347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返回结果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2571750" y="4953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4191000" y="4953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810250" y="4953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7429500" y="4953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9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474345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SPECIFICATIONS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技术规范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1428750"/>
            <a:ext cx="3429000" cy="2381250"/>
            <a:chOff x="762000" y="1428750"/>
            <a:chExt cx="3429000" cy="2381250"/>
          </a:xfrm>
        </p:grpSpPr>
        <p:sp>
          <p:nvSpPr>
            <p:cNvPr id="16" name="Rectangle 16"/>
            <p:cNvSpPr/>
            <p:nvPr/>
          </p:nvSpPr>
          <p:spPr>
            <a:xfrm>
              <a:off x="762000" y="1428750"/>
              <a:ext cx="3429000" cy="238125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编码规范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207740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TypeScript 严格模式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23631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• ESLint + Prettier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26489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• Git Conventional Commits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2934652"/>
              <a:ext cx="1272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Code Review 必须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32204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单元测试覆盖率 &gt; 80%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81500" y="1428750"/>
            <a:ext cx="3429000" cy="2381250"/>
            <a:chOff x="4381500" y="1428750"/>
            <a:chExt cx="34290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4381500" y="1428750"/>
              <a:ext cx="3429000" cy="238125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48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测试策略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58665" y="2077402"/>
              <a:ext cx="1741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单元测试：Jest / Vitest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8665" y="2363152"/>
              <a:ext cx="15388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集成测试：Supertest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8665" y="26489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E2E 测试：Playwright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8665" y="29346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性能测试：k6 / Artillery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58665" y="3220402"/>
              <a:ext cx="1559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安全测试：OWASP ZAP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01000" y="1428750"/>
            <a:ext cx="3429000" cy="2381250"/>
            <a:chOff x="8001000" y="1428750"/>
            <a:chExt cx="3429000" cy="2381250"/>
          </a:xfrm>
        </p:grpSpPr>
        <p:sp>
          <p:nvSpPr>
            <p:cNvPr id="34" name="Rectangle 34"/>
            <p:cNvSpPr/>
            <p:nvPr/>
          </p:nvSpPr>
          <p:spPr>
            <a:xfrm>
              <a:off x="8001000" y="1428750"/>
              <a:ext cx="3429000" cy="238125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4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部署方案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191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78165" y="20774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CI/CD：GitHub Actions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78165" y="2363152"/>
              <a:ext cx="1559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容器化：Docker + K8s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165" y="264890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服务网格：Istio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8165" y="2934652"/>
              <a:ext cx="2063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监控：Prometheus + Grafana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78165" y="322040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日志：ELK Stack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4095750"/>
            <a:ext cx="10668000" cy="1433512"/>
            <a:chOff x="762000" y="4095750"/>
            <a:chExt cx="10668000" cy="1433512"/>
          </a:xfrm>
        </p:grpSpPr>
        <p:sp>
          <p:nvSpPr>
            <p:cNvPr id="43" name="Rectangle 43"/>
            <p:cNvSpPr/>
            <p:nvPr/>
          </p:nvSpPr>
          <p:spPr>
            <a:xfrm>
              <a:off x="762000" y="4095750"/>
              <a:ext cx="10668000" cy="142875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5355" y="4331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安全规范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52500" y="4572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165" y="4744402"/>
              <a:ext cx="29950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认证：JWT + OAuth 2.0 | 授权：RBAC + ABAC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9165" y="5030152"/>
              <a:ext cx="3226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数据加密：AES-256 + TLS 1.3 | 密钥管理：Vault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9165" y="5315902"/>
              <a:ext cx="3422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安全扫描：Snyk + SonarQube | 渗透测试：季度执行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2" grpId="0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47434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IMPLEMENTATION PLAN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实施计划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62000" y="1428750"/>
            <a:ext cx="10668000" cy="1905000"/>
            <a:chOff x="762000" y="1428750"/>
            <a:chExt cx="10668000" cy="1905000"/>
          </a:xfrm>
        </p:grpSpPr>
        <p:grpSp>
          <p:nvGrpSpPr>
            <p:cNvPr id="23" name="Group 23"/>
            <p:cNvGrpSpPr/>
            <p:nvPr/>
          </p:nvGrpSpPr>
          <p:grpSpPr>
            <a:xfrm>
              <a:off x="762000" y="1428750"/>
              <a:ext cx="2667000" cy="1905000"/>
              <a:chOff x="762000" y="1428750"/>
              <a:chExt cx="2667000" cy="1905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1428750"/>
                <a:ext cx="2667000" cy="1905000"/>
              </a:xfrm>
              <a:prstGeom prst="rect">
                <a:avLst/>
              </a:prstGeom>
              <a:solidFill>
                <a:srgbClr val="4A90D9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718310" y="16640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4A90D9"/>
                    </a:solidFill>
                    <a:latin typeface="Consolas"/>
                    <a:ea typeface="Microsoft YaHei"/>
                    <a:cs typeface="Consolas"/>
                  </a:rPr>
                  <a:t>第一阶段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98581" y="1901190"/>
                <a:ext cx="99383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0-3 个月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23085" y="2275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基础架构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1070" y="25698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技术选型确认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41070" y="27603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开发环境搭建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1070" y="2950845"/>
                <a:ext cx="8209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CI/CD 流水线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619500" y="1428750"/>
              <a:ext cx="2667000" cy="1905000"/>
              <a:chOff x="3619500" y="1428750"/>
              <a:chExt cx="2667000" cy="1905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619500" y="1428750"/>
                <a:ext cx="2667000" cy="1905000"/>
              </a:xfrm>
              <a:prstGeom prst="rect">
                <a:avLst/>
              </a:prstGeom>
              <a:solidFill>
                <a:srgbClr val="4A90D9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575810" y="16640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4A90D9"/>
                    </a:solidFill>
                    <a:latin typeface="Consolas"/>
                    <a:ea typeface="Microsoft YaHei"/>
                    <a:cs typeface="Consolas"/>
                  </a:rPr>
                  <a:t>第二阶段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56081" y="1901190"/>
                <a:ext cx="99383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3-6 个月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80585" y="2275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核心开发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798570" y="25698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核心服务开发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98570" y="2760345"/>
                <a:ext cx="7249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数据库设计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798570" y="2950845"/>
                <a:ext cx="808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API 接口开发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477000" y="1428750"/>
              <a:ext cx="2667000" cy="1905000"/>
              <a:chOff x="6477000" y="1428750"/>
              <a:chExt cx="2667000" cy="1905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477000" y="1428750"/>
                <a:ext cx="2667000" cy="1905000"/>
              </a:xfrm>
              <a:prstGeom prst="rect">
                <a:avLst/>
              </a:prstGeom>
              <a:solidFill>
                <a:srgbClr val="4A90D9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433310" y="16640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4A90D9"/>
                    </a:solidFill>
                    <a:latin typeface="Consolas"/>
                    <a:ea typeface="Microsoft YaHei"/>
                    <a:cs typeface="Consolas"/>
                  </a:rPr>
                  <a:t>第三阶段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13581" y="1901190"/>
                <a:ext cx="99383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6-9 个月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38085" y="2275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集成测试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56070" y="25698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系统集成测试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56070" y="27603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性能优化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56070" y="29508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安全审计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334500" y="1428750"/>
              <a:ext cx="2095500" cy="1905000"/>
              <a:chOff x="9334500" y="1428750"/>
              <a:chExt cx="2095500" cy="1905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334500" y="1428750"/>
                <a:ext cx="2095500" cy="1905000"/>
              </a:xfrm>
              <a:prstGeom prst="rect">
                <a:avLst/>
              </a:prstGeom>
              <a:solidFill>
                <a:srgbClr val="4A90D9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915049" y="166401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4A90D9"/>
                    </a:solidFill>
                    <a:latin typeface="Consolas"/>
                    <a:ea typeface="Microsoft YaHei"/>
                    <a:cs typeface="Consolas"/>
                  </a:rPr>
                  <a:t>关键里程碑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970068" y="199024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M1: 架构评审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918061" y="2275999"/>
                <a:ext cx="9283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M3: Alpha 版本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937563" y="2561749"/>
                <a:ext cx="8893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M6: Beta 版本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970068" y="284749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A9CC6"/>
                    </a:solidFill>
                    <a:latin typeface="Arial"/>
                    <a:ea typeface="Microsoft YaHei"/>
                    <a:cs typeface="Arial"/>
                  </a:rPr>
                  <a:t>M9: 正式发布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762000" y="3619500"/>
            <a:ext cx="10668000" cy="1433512"/>
            <a:chOff x="762000" y="3619500"/>
            <a:chExt cx="10668000" cy="1433512"/>
          </a:xfrm>
        </p:grpSpPr>
        <p:sp>
          <p:nvSpPr>
            <p:cNvPr id="48" name="Rectangle 48"/>
            <p:cNvSpPr/>
            <p:nvPr/>
          </p:nvSpPr>
          <p:spPr>
            <a:xfrm>
              <a:off x="762000" y="3619500"/>
              <a:ext cx="10668000" cy="142875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5355" y="38547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资源配置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52500" y="4095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9165" y="4268152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人力资源：10 名工程师 + 2 名架构师 + 1 名 PM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9165" y="4553902"/>
              <a:ext cx="28830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基础设施：AWS / GCP / Azure（多云策略）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9165" y="4839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预算：$2M（人力 $1.5M + 基础设施 $0.5M）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55" name="TextBox 55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0D1B2A"/>
                </a:gs>
                <a:gs pos="100000">
                  <a:srgbClr val="0A16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829425"/>
              <a:ext cx="12192000" cy="28575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27710" y="474345"/>
            <a:ext cx="2228850" cy="735330"/>
            <a:chOff x="727710" y="474345"/>
            <a:chExt cx="2228850" cy="735330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474345"/>
              <a:ext cx="5329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90D9"/>
                  </a:solidFill>
                  <a:latin typeface="Consolas"/>
                  <a:ea typeface="Consolas"/>
                  <a:cs typeface="Consolas"/>
                </a:rPr>
                <a:t>SUMMARY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7710" y="661035"/>
              <a:ext cx="22288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总结与下一步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4A90D9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62000" y="1428750"/>
            <a:ext cx="5334000" cy="2857500"/>
            <a:chOff x="762000" y="1428750"/>
            <a:chExt cx="5334000" cy="2857500"/>
          </a:xfrm>
        </p:grpSpPr>
        <p:sp>
          <p:nvSpPr>
            <p:cNvPr id="16" name="Rectangle 16"/>
            <p:cNvSpPr/>
            <p:nvPr/>
          </p:nvSpPr>
          <p:spPr>
            <a:xfrm>
              <a:off x="762000" y="1428750"/>
              <a:ext cx="5334000" cy="2857500"/>
            </a:xfrm>
            <a:prstGeom prst="rect">
              <a:avLst/>
            </a:pr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关键要点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20774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微服务架构确保系统可扩展性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23631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事件驱动实现服务间解耦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26489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云原生技术栈保障高可用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29346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完善的测试策略确保质量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3220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自动化部署提升效率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3506152"/>
              <a:ext cx="16648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9 个月完成从设计到上线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1428750"/>
            <a:ext cx="5143500" cy="2857500"/>
            <a:chOff x="6286500" y="1428750"/>
            <a:chExt cx="5143500" cy="2857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428750"/>
              <a:ext cx="5143500" cy="2857500"/>
            </a:xfrm>
            <a:prstGeom prst="rect">
              <a:avLst/>
            </a:prstGeom>
            <a:solidFill>
              <a:srgbClr val="4A90D9">
                <a:alpha val="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9855" y="16640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D9"/>
                  </a:solidFill>
                  <a:latin typeface="Consolas"/>
                  <a:ea typeface="Microsoft YaHei"/>
                  <a:cs typeface="Consolas"/>
                </a:rPr>
                <a:t>下一步行动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477000" y="19050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4A90D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3665" y="20774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 成立技术委员会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236315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2. 完成详细设计文档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3665" y="2648902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 搭建开发环境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3665" y="293465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4. 启动第一阶段开发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3665" y="322040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5. 建立代码审查机制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3665" y="3506152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6. 制定发布计划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72000"/>
            <a:ext cx="10668000" cy="952500"/>
            <a:chOff x="762000" y="4572000"/>
            <a:chExt cx="10668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762000" y="4572000"/>
              <a:ext cx="10668000" cy="952500"/>
            </a:xfrm>
            <a:prstGeom prst="rect">
              <a:avLst/>
            </a:prstGeom>
            <a:solidFill>
              <a:srgbClr val="4A90D9">
                <a:alpha val="1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52975" y="4853940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开始构建下一代工程系统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76497" y="5204460"/>
              <a:ext cx="42390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A9CC6"/>
                  </a:solidFill>
                  <a:latin typeface="Arial"/>
                  <a:ea typeface="Arial"/>
                  <a:cs typeface="Arial"/>
                </a:rPr>
                <a:t>engineering@team.com | github.com/engineering-team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4A7AAB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4A7AAB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2026-06-24T01:52:09Z</dcterms:created>
  <dcterms:modified xsi:type="dcterms:W3CDTF">2026-06-24T01:52:09Z</dcterms:modified>
  <cp:category/>
  <cp:contentStatus/>
</cp:coreProperties>
</file>